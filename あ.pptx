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sldIdLst>
    <p:sldId id="256" r:id="rId5"/>
    <p:sldId id="258" r:id="rId6"/>
    <p:sldId id="257" r:id="rId7"/>
    <p:sldId id="259" r:id="rId8"/>
    <p:sldId id="260" r:id="rId9"/>
    <p:sldId id="261" r:id="rId10"/>
    <p:sldId id="262" r:id="rId11"/>
    <p:sldId id="263"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1645750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ＭＳ Ｐゴシック" panose="020B0600070205080204" pitchFamily="50" charset="-128"/>
                <a:ea typeface="ＭＳ Ｐゴシック" panose="020B0600070205080204" pitchFamily="50" charset="-128"/>
              </a:defRPr>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lvl1pPr>
              <a:defRPr>
                <a:latin typeface="ＭＳ Ｐゴシック" panose="020B0600070205080204" pitchFamily="50" charset="-128"/>
                <a:ea typeface="ＭＳ Ｐゴシック" panose="020B0600070205080204" pitchFamily="50" charset="-128"/>
              </a:defRPr>
            </a:lvl1pPr>
            <a:lvl2pPr>
              <a:defRPr>
                <a:latin typeface="ＭＳ Ｐゴシック" panose="020B0600070205080204" pitchFamily="50" charset="-128"/>
                <a:ea typeface="ＭＳ Ｐゴシック" panose="020B0600070205080204" pitchFamily="50" charset="-128"/>
              </a:defRPr>
            </a:lvl2pPr>
            <a:lvl3pPr>
              <a:defRPr>
                <a:latin typeface="ＭＳ Ｐゴシック" panose="020B0600070205080204" pitchFamily="50" charset="-128"/>
                <a:ea typeface="ＭＳ Ｐゴシック" panose="020B0600070205080204" pitchFamily="50" charset="-128"/>
              </a:defRPr>
            </a:lvl3pPr>
            <a:lvl4pPr>
              <a:defRPr>
                <a:latin typeface="ＭＳ Ｐゴシック" panose="020B0600070205080204" pitchFamily="50" charset="-128"/>
                <a:ea typeface="ＭＳ Ｐゴシック" panose="020B0600070205080204" pitchFamily="50" charset="-128"/>
              </a:defRPr>
            </a:lvl4pPr>
            <a:lvl5pPr>
              <a:defRPr>
                <a:latin typeface="ＭＳ Ｐゴシック" panose="020B0600070205080204" pitchFamily="50" charset="-128"/>
                <a:ea typeface="ＭＳ Ｐゴシック" panose="020B0600070205080204"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1075311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3777519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1790294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341569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1941363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1059048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314242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220474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3778649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F61913B-2BA1-4684-8BD8-CD396C4DBC34}" type="datetimeFigureOut">
              <a:rPr kumimoji="1" lang="ja-JP" altLang="en-US" smtClean="0"/>
              <a:t>2025/10/8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303326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61913B-2BA1-4684-8BD8-CD396C4DBC34}" type="datetimeFigureOut">
              <a:rPr kumimoji="1" lang="ja-JP" altLang="en-US" smtClean="0"/>
              <a:t>2025/10/8</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40D7BC-E75C-463C-8373-2A1ABAA51429}" type="slidenum">
              <a:rPr kumimoji="1" lang="ja-JP" altLang="en-US" smtClean="0"/>
              <a:t>‹#›</a:t>
            </a:fld>
            <a:endParaRPr kumimoji="1" lang="ja-JP" altLang="en-US"/>
          </a:p>
        </p:txBody>
      </p:sp>
    </p:spTree>
    <p:extLst>
      <p:ext uri="{BB962C8B-B14F-4D97-AF65-F5344CB8AC3E}">
        <p14:creationId xmlns:p14="http://schemas.microsoft.com/office/powerpoint/2010/main" val="5710281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ai.google.dev/edge/mediapipe/solutions/vision/hand_landmarker?hl=j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979362-EA02-EE22-B114-FA26715A4ED5}"/>
              </a:ext>
            </a:extLst>
          </p:cNvPr>
          <p:cNvSpPr>
            <a:spLocks noGrp="1"/>
          </p:cNvSpPr>
          <p:nvPr>
            <p:ph type="ctrTitle"/>
          </p:nvPr>
        </p:nvSpPr>
        <p:spPr/>
        <p:txBody>
          <a:bodyPr>
            <a:normAutofit/>
          </a:bodyPr>
          <a:lstStyle/>
          <a:p>
            <a:r>
              <a:rPr lang="ja-JP" altLang="en-US" sz="4800" dirty="0">
                <a:latin typeface="ＭＳ Ｐゴシック" panose="020B0600070205080204" pitchFamily="50" charset="-128"/>
                <a:ea typeface="ＭＳ Ｐゴシック" panose="020B0600070205080204" pitchFamily="50" charset="-128"/>
              </a:rPr>
              <a:t>両眼カメラによる</a:t>
            </a:r>
            <a:r>
              <a:rPr lang="en-US" altLang="ja-JP" sz="4800" dirty="0" err="1">
                <a:latin typeface="ＭＳ Ｐゴシック" panose="020B0600070205080204" pitchFamily="50" charset="-128"/>
                <a:ea typeface="ＭＳ Ｐゴシック" panose="020B0600070205080204" pitchFamily="50" charset="-128"/>
              </a:rPr>
              <a:t>MediaPipe</a:t>
            </a:r>
            <a:r>
              <a:rPr lang="en-US" altLang="ja-JP" sz="4800" dirty="0">
                <a:latin typeface="ＭＳ Ｐゴシック" panose="020B0600070205080204" pitchFamily="50" charset="-128"/>
                <a:ea typeface="ＭＳ Ｐゴシック" panose="020B0600070205080204" pitchFamily="50" charset="-128"/>
              </a:rPr>
              <a:t> Hand </a:t>
            </a:r>
            <a:r>
              <a:rPr lang="en-US" altLang="ja-JP" sz="4800" dirty="0" err="1">
                <a:latin typeface="ＭＳ Ｐゴシック" panose="020B0600070205080204" pitchFamily="50" charset="-128"/>
                <a:ea typeface="ＭＳ Ｐゴシック" panose="020B0600070205080204" pitchFamily="50" charset="-128"/>
              </a:rPr>
              <a:t>Landmarker</a:t>
            </a:r>
            <a:r>
              <a:rPr lang="ja-JP" altLang="en-US" sz="4800" dirty="0">
                <a:latin typeface="ＭＳ Ｐゴシック" panose="020B0600070205080204" pitchFamily="50" charset="-128"/>
                <a:ea typeface="ＭＳ Ｐゴシック" panose="020B0600070205080204" pitchFamily="50" charset="-128"/>
              </a:rPr>
              <a:t>タスクの精度向上</a:t>
            </a:r>
            <a:endParaRPr kumimoji="1" lang="ja-JP" altLang="en-US" sz="4800" dirty="0">
              <a:latin typeface="ＭＳ Ｐゴシック" panose="020B0600070205080204" pitchFamily="50" charset="-128"/>
              <a:ea typeface="ＭＳ Ｐゴシック" panose="020B0600070205080204" pitchFamily="50" charset="-128"/>
            </a:endParaRPr>
          </a:p>
        </p:txBody>
      </p:sp>
      <p:sp>
        <p:nvSpPr>
          <p:cNvPr id="3" name="字幕 2">
            <a:extLst>
              <a:ext uri="{FF2B5EF4-FFF2-40B4-BE49-F238E27FC236}">
                <a16:creationId xmlns:a16="http://schemas.microsoft.com/office/drawing/2014/main" id="{0A39E14F-82AF-EC2D-C69A-A3F0C1E06D5F}"/>
              </a:ext>
            </a:extLst>
          </p:cNvPr>
          <p:cNvSpPr>
            <a:spLocks noGrp="1"/>
          </p:cNvSpPr>
          <p:nvPr>
            <p:ph type="subTitle" idx="1"/>
          </p:nvPr>
        </p:nvSpPr>
        <p:spPr>
          <a:xfrm>
            <a:off x="1524000" y="3838012"/>
            <a:ext cx="9144000" cy="1655762"/>
          </a:xfrm>
        </p:spPr>
        <p:txBody>
          <a:bodyPr>
            <a:normAutofit/>
          </a:bodyPr>
          <a:lstStyle/>
          <a:p>
            <a:r>
              <a:rPr kumimoji="1" lang="ja-JP" altLang="en-US" sz="3200" dirty="0">
                <a:latin typeface="ＭＳ Ｐゴシック" panose="020B0600070205080204" pitchFamily="50" charset="-128"/>
                <a:ea typeface="ＭＳ Ｐゴシック" panose="020B0600070205080204" pitchFamily="50" charset="-128"/>
              </a:rPr>
              <a:t>箕浦研究室　</a:t>
            </a:r>
            <a:r>
              <a:rPr kumimoji="1" lang="en-US" altLang="ja-JP" sz="3200" dirty="0">
                <a:latin typeface="ＭＳ Ｐゴシック" panose="020B0600070205080204" pitchFamily="50" charset="-128"/>
                <a:ea typeface="ＭＳ Ｐゴシック" panose="020B0600070205080204" pitchFamily="50" charset="-128"/>
              </a:rPr>
              <a:t>5I25 </a:t>
            </a:r>
            <a:r>
              <a:rPr kumimoji="1" lang="ja-JP" altLang="en-US" sz="3200" dirty="0">
                <a:latin typeface="ＭＳ Ｐゴシック" panose="020B0600070205080204" pitchFamily="50" charset="-128"/>
                <a:ea typeface="ＭＳ Ｐゴシック" panose="020B0600070205080204" pitchFamily="50" charset="-128"/>
              </a:rPr>
              <a:t>萩 郁人</a:t>
            </a:r>
          </a:p>
        </p:txBody>
      </p:sp>
    </p:spTree>
    <p:extLst>
      <p:ext uri="{BB962C8B-B14F-4D97-AF65-F5344CB8AC3E}">
        <p14:creationId xmlns:p14="http://schemas.microsoft.com/office/powerpoint/2010/main" val="6412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665B76-F6A6-0FD5-09E8-C334398D427C}"/>
              </a:ext>
            </a:extLst>
          </p:cNvPr>
          <p:cNvSpPr>
            <a:spLocks noGrp="1"/>
          </p:cNvSpPr>
          <p:nvPr>
            <p:ph type="title"/>
          </p:nvPr>
        </p:nvSpPr>
        <p:spPr/>
        <p:txBody>
          <a:bodyPr/>
          <a:lstStyle/>
          <a:p>
            <a:r>
              <a:rPr kumimoji="1" lang="en-US" altLang="ja-JP" dirty="0"/>
              <a:t> Media Pipe</a:t>
            </a:r>
            <a:r>
              <a:rPr lang="ja-JP" altLang="en-US" dirty="0"/>
              <a:t> </a:t>
            </a:r>
            <a:r>
              <a:rPr lang="en-US" altLang="ja-JP" dirty="0"/>
              <a:t>Hand</a:t>
            </a:r>
            <a:r>
              <a:rPr kumimoji="1" lang="ja-JP" altLang="en-US" dirty="0">
                <a:latin typeface="ＭＳ Ｐゴシック" panose="020B0600070205080204" pitchFamily="50" charset="-128"/>
                <a:ea typeface="ＭＳ Ｐゴシック" panose="020B0600070205080204" pitchFamily="50" charset="-128"/>
              </a:rPr>
              <a:t>について</a:t>
            </a:r>
          </a:p>
        </p:txBody>
      </p:sp>
      <p:sp>
        <p:nvSpPr>
          <p:cNvPr id="3" name="コンテンツ プレースホルダー 2">
            <a:extLst>
              <a:ext uri="{FF2B5EF4-FFF2-40B4-BE49-F238E27FC236}">
                <a16:creationId xmlns:a16="http://schemas.microsoft.com/office/drawing/2014/main" id="{B8A9472F-CFF3-9C81-7898-66AE285F97C5}"/>
              </a:ext>
            </a:extLst>
          </p:cNvPr>
          <p:cNvSpPr>
            <a:spLocks noGrp="1"/>
          </p:cNvSpPr>
          <p:nvPr>
            <p:ph idx="1"/>
          </p:nvPr>
        </p:nvSpPr>
        <p:spPr>
          <a:xfrm>
            <a:off x="838200" y="1855122"/>
            <a:ext cx="10515600" cy="4351338"/>
          </a:xfrm>
        </p:spPr>
        <p:txBody>
          <a:bodyPr>
            <a:normAutofit/>
          </a:bodyPr>
          <a:lstStyle/>
          <a:p>
            <a:r>
              <a:rPr lang="en-US" altLang="ja-JP" sz="3200" dirty="0">
                <a:latin typeface="ＭＳ Ｐゴシック" panose="020B0600070205080204" pitchFamily="50" charset="-128"/>
                <a:ea typeface="ＭＳ Ｐゴシック" panose="020B0600070205080204" pitchFamily="50" charset="-128"/>
              </a:rPr>
              <a:t>Media Pipe</a:t>
            </a:r>
            <a:r>
              <a:rPr lang="ja-JP" altLang="en-US" sz="3200" dirty="0">
                <a:latin typeface="ＭＳ Ｐゴシック" panose="020B0600070205080204" pitchFamily="50" charset="-128"/>
                <a:ea typeface="ＭＳ Ｐゴシック" panose="020B0600070205080204" pitchFamily="50" charset="-128"/>
              </a:rPr>
              <a:t>とは、</a:t>
            </a:r>
            <a:r>
              <a:rPr lang="en-US" altLang="ja-JP" sz="3200" dirty="0">
                <a:latin typeface="ＭＳ Ｐゴシック" panose="020B0600070205080204" pitchFamily="50" charset="-128"/>
                <a:ea typeface="ＭＳ Ｐゴシック" panose="020B0600070205080204" pitchFamily="50" charset="-128"/>
              </a:rPr>
              <a:t>Google</a:t>
            </a:r>
            <a:r>
              <a:rPr lang="ja-JP" altLang="en-US" sz="3200" dirty="0">
                <a:latin typeface="ＭＳ Ｐゴシック" panose="020B0600070205080204" pitchFamily="50" charset="-128"/>
                <a:ea typeface="ＭＳ Ｐゴシック" panose="020B0600070205080204" pitchFamily="50" charset="-128"/>
              </a:rPr>
              <a:t>社が提供するライブメディア処理のためのオープンソース機械学習ソリューション</a:t>
            </a:r>
            <a:endParaRPr lang="en-US" altLang="ja-JP" sz="3200" dirty="0">
              <a:latin typeface="ＭＳ Ｐゴシック" panose="020B0600070205080204" pitchFamily="50" charset="-128"/>
              <a:ea typeface="ＭＳ Ｐゴシック" panose="020B0600070205080204" pitchFamily="50" charset="-128"/>
            </a:endParaRPr>
          </a:p>
          <a:p>
            <a:r>
              <a:rPr kumimoji="1" lang="en-US" altLang="ja-JP" sz="3200" dirty="0">
                <a:latin typeface="ＭＳ Ｐゴシック" panose="020B0600070205080204" pitchFamily="50" charset="-128"/>
                <a:ea typeface="ＭＳ Ｐゴシック" panose="020B0600070205080204" pitchFamily="50" charset="-128"/>
              </a:rPr>
              <a:t>Hand</a:t>
            </a:r>
            <a:r>
              <a:rPr kumimoji="1" lang="ja-JP" altLang="en-US" sz="3200" dirty="0">
                <a:latin typeface="ＭＳ Ｐゴシック" panose="020B0600070205080204" pitchFamily="50" charset="-128"/>
                <a:ea typeface="ＭＳ Ｐゴシック" panose="020B0600070205080204" pitchFamily="50" charset="-128"/>
              </a:rPr>
              <a:t>は</a:t>
            </a:r>
            <a:r>
              <a:rPr lang="ja-JP" altLang="en-US" sz="3200" dirty="0">
                <a:latin typeface="ＭＳ Ｐゴシック" panose="020B0600070205080204" pitchFamily="50" charset="-128"/>
                <a:ea typeface="ＭＳ Ｐゴシック" panose="020B0600070205080204" pitchFamily="50" charset="-128"/>
              </a:rPr>
              <a:t>手の位置と</a:t>
            </a:r>
            <a:r>
              <a:rPr lang="en-US" altLang="ja-JP" sz="3200" dirty="0">
                <a:latin typeface="ＭＳ Ｐゴシック" panose="020B0600070205080204" pitchFamily="50" charset="-128"/>
                <a:ea typeface="ＭＳ Ｐゴシック" panose="020B0600070205080204" pitchFamily="50" charset="-128"/>
              </a:rPr>
              <a:t>21</a:t>
            </a:r>
            <a:r>
              <a:rPr lang="ja-JP" altLang="en-US" sz="3200" dirty="0">
                <a:latin typeface="ＭＳ Ｐゴシック" panose="020B0600070205080204" pitchFamily="50" charset="-128"/>
                <a:ea typeface="ＭＳ Ｐゴシック" panose="020B0600070205080204" pitchFamily="50" charset="-128"/>
              </a:rPr>
              <a:t>個のランドマーク</a:t>
            </a:r>
            <a:r>
              <a:rPr lang="en-US" altLang="ja-JP" sz="3200" dirty="0">
                <a:latin typeface="ＭＳ Ｐゴシック" panose="020B0600070205080204" pitchFamily="50" charset="-128"/>
                <a:ea typeface="ＭＳ Ｐゴシック" panose="020B0600070205080204" pitchFamily="50" charset="-128"/>
              </a:rPr>
              <a:t>(</a:t>
            </a:r>
            <a:r>
              <a:rPr lang="ja-JP" altLang="en-US" sz="3200" dirty="0">
                <a:latin typeface="ＭＳ Ｐゴシック" panose="020B0600070205080204" pitchFamily="50" charset="-128"/>
                <a:ea typeface="ＭＳ Ｐゴシック" panose="020B0600070205080204" pitchFamily="50" charset="-128"/>
              </a:rPr>
              <a:t>関節点</a:t>
            </a:r>
            <a:r>
              <a:rPr lang="en-US" altLang="ja-JP" sz="3200" dirty="0">
                <a:latin typeface="ＭＳ Ｐゴシック" panose="020B0600070205080204" pitchFamily="50" charset="-128"/>
                <a:ea typeface="ＭＳ Ｐゴシック" panose="020B0600070205080204" pitchFamily="50" charset="-128"/>
              </a:rPr>
              <a:t>)</a:t>
            </a:r>
            <a:r>
              <a:rPr lang="ja-JP" altLang="en-US" sz="3200" dirty="0">
                <a:latin typeface="ＭＳ Ｐゴシック" panose="020B0600070205080204" pitchFamily="50" charset="-128"/>
                <a:ea typeface="ＭＳ Ｐゴシック" panose="020B0600070205080204" pitchFamily="50" charset="-128"/>
              </a:rPr>
              <a:t>をリアルタイムに検出</a:t>
            </a:r>
            <a:endParaRPr kumimoji="1" lang="ja-JP" altLang="en-US" sz="3200" dirty="0">
              <a:latin typeface="ＭＳ Ｐゴシック" panose="020B0600070205080204" pitchFamily="50" charset="-128"/>
              <a:ea typeface="ＭＳ Ｐゴシック" panose="020B0600070205080204" pitchFamily="50" charset="-128"/>
            </a:endParaRPr>
          </a:p>
        </p:txBody>
      </p:sp>
      <p:pic>
        <p:nvPicPr>
          <p:cNvPr id="9" name="図 8" descr="歯ブラシを持っている手&#10;&#10;AI 生成コンテンツは誤りを含む可能性があります。">
            <a:extLst>
              <a:ext uri="{FF2B5EF4-FFF2-40B4-BE49-F238E27FC236}">
                <a16:creationId xmlns:a16="http://schemas.microsoft.com/office/drawing/2014/main" id="{04A19D05-DB42-91FE-8D62-50D013F114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2916" y="3734838"/>
            <a:ext cx="3982064" cy="2232134"/>
          </a:xfrm>
          <a:prstGeom prst="rect">
            <a:avLst/>
          </a:prstGeom>
        </p:spPr>
      </p:pic>
      <p:pic>
        <p:nvPicPr>
          <p:cNvPr id="11" name="図 10" descr="グラフ&#10;&#10;AI 生成コンテンツは誤りを含む可能性があります。">
            <a:extLst>
              <a:ext uri="{FF2B5EF4-FFF2-40B4-BE49-F238E27FC236}">
                <a16:creationId xmlns:a16="http://schemas.microsoft.com/office/drawing/2014/main" id="{9E96E120-4921-B1D8-452F-70C53D4442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4551" y="3713017"/>
            <a:ext cx="2651449" cy="2275775"/>
          </a:xfrm>
          <a:prstGeom prst="rect">
            <a:avLst/>
          </a:prstGeom>
        </p:spPr>
      </p:pic>
      <p:sp>
        <p:nvSpPr>
          <p:cNvPr id="12" name="テキスト ボックス 11">
            <a:extLst>
              <a:ext uri="{FF2B5EF4-FFF2-40B4-BE49-F238E27FC236}">
                <a16:creationId xmlns:a16="http://schemas.microsoft.com/office/drawing/2014/main" id="{ADACA818-99C8-A8E1-7DE2-3ED019C39269}"/>
              </a:ext>
            </a:extLst>
          </p:cNvPr>
          <p:cNvSpPr txBox="1"/>
          <p:nvPr/>
        </p:nvSpPr>
        <p:spPr>
          <a:xfrm>
            <a:off x="2133600" y="6206460"/>
            <a:ext cx="5673212" cy="369332"/>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画像出典：</a:t>
            </a:r>
            <a:r>
              <a:rPr kumimoji="1" lang="ja-JP" altLang="en-US" dirty="0">
                <a:latin typeface="ＭＳ Ｐゴシック" panose="020B0600070205080204" pitchFamily="50" charset="-128"/>
                <a:ea typeface="ＭＳ Ｐゴシック" panose="020B0600070205080204" pitchFamily="50" charset="-128"/>
                <a:hlinkClick r:id="rId4"/>
              </a:rPr>
              <a:t>手のランドマーク検出ガイド </a:t>
            </a:r>
            <a:r>
              <a:rPr kumimoji="1" lang="en-US" altLang="ja-JP" dirty="0">
                <a:latin typeface="ＭＳ Ｐゴシック" panose="020B0600070205080204" pitchFamily="50" charset="-128"/>
                <a:ea typeface="ＭＳ Ｐゴシック" panose="020B0600070205080204" pitchFamily="50" charset="-128"/>
                <a:hlinkClick r:id="rId4"/>
              </a:rPr>
              <a:t>| Google AI Edge</a:t>
            </a:r>
            <a:endParaRPr kumimoji="1" lang="ja-JP" altLang="en-US"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711750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DE0377-1B04-D22E-906A-1BAB3EDC57D6}"/>
              </a:ext>
            </a:extLst>
          </p:cNvPr>
          <p:cNvSpPr>
            <a:spLocks noGrp="1"/>
          </p:cNvSpPr>
          <p:nvPr>
            <p:ph type="title"/>
          </p:nvPr>
        </p:nvSpPr>
        <p:spPr/>
        <p:txBody>
          <a:bodyPr/>
          <a:lstStyle/>
          <a:p>
            <a:r>
              <a:rPr lang="ja-JP" altLang="en-US" dirty="0">
                <a:latin typeface="ＭＳ Ｐゴシック" panose="020B0600070205080204" pitchFamily="50" charset="-128"/>
                <a:ea typeface="ＭＳ Ｐゴシック" panose="020B0600070205080204" pitchFamily="50" charset="-128"/>
              </a:rPr>
              <a:t>先行研究の</a:t>
            </a:r>
            <a:r>
              <a:rPr kumimoji="1" lang="ja-JP" altLang="en-US" dirty="0">
                <a:latin typeface="ＭＳ Ｐゴシック" panose="020B0600070205080204" pitchFamily="50" charset="-128"/>
                <a:ea typeface="ＭＳ Ｐゴシック" panose="020B0600070205080204" pitchFamily="50" charset="-128"/>
              </a:rPr>
              <a:t>課題</a:t>
            </a:r>
          </a:p>
        </p:txBody>
      </p:sp>
      <p:sp>
        <p:nvSpPr>
          <p:cNvPr id="3" name="コンテンツ プレースホルダー 2">
            <a:extLst>
              <a:ext uri="{FF2B5EF4-FFF2-40B4-BE49-F238E27FC236}">
                <a16:creationId xmlns:a16="http://schemas.microsoft.com/office/drawing/2014/main" id="{BF24DFFA-0F60-9E42-F1EA-432B2B46C0CB}"/>
              </a:ext>
            </a:extLst>
          </p:cNvPr>
          <p:cNvSpPr>
            <a:spLocks noGrp="1"/>
          </p:cNvSpPr>
          <p:nvPr>
            <p:ph idx="1"/>
          </p:nvPr>
        </p:nvSpPr>
        <p:spPr/>
        <p:txBody>
          <a:bodyPr/>
          <a:lstStyle/>
          <a:p>
            <a:pPr marL="0" indent="0">
              <a:buNone/>
            </a:pPr>
            <a:r>
              <a:rPr kumimoji="1" lang="ja-JP" altLang="en-US" sz="3200" dirty="0"/>
              <a:t>・</a:t>
            </a:r>
            <a:r>
              <a:rPr kumimoji="1" lang="en-US" altLang="ja-JP" sz="3200" dirty="0">
                <a:latin typeface="ＭＳ Ｐゴシック" panose="020B0600070205080204" pitchFamily="50" charset="-128"/>
                <a:ea typeface="ＭＳ Ｐゴシック" panose="020B0600070205080204" pitchFamily="50" charset="-128"/>
              </a:rPr>
              <a:t>Media Pipe Hand</a:t>
            </a:r>
            <a:r>
              <a:rPr lang="ja-JP" altLang="en-US" sz="3200" dirty="0">
                <a:latin typeface="ＭＳ Ｐゴシック" panose="020B0600070205080204" pitchFamily="50" charset="-128"/>
                <a:ea typeface="ＭＳ Ｐゴシック" panose="020B0600070205080204" pitchFamily="50" charset="-128"/>
              </a:rPr>
              <a:t>単体でも三次元座標の推定は可能</a:t>
            </a:r>
            <a:endParaRPr lang="en-US" altLang="ja-JP" sz="3200" dirty="0">
              <a:latin typeface="ＭＳ Ｐゴシック" panose="020B0600070205080204" pitchFamily="50" charset="-128"/>
              <a:ea typeface="ＭＳ Ｐゴシック" panose="020B0600070205080204" pitchFamily="50" charset="-128"/>
            </a:endParaRPr>
          </a:p>
          <a:p>
            <a:pPr marL="0" indent="0">
              <a:buNone/>
            </a:pPr>
            <a:r>
              <a:rPr lang="ja-JP" altLang="en-US" sz="3200" dirty="0">
                <a:latin typeface="ＭＳ Ｐゴシック" panose="020B0600070205080204" pitchFamily="50" charset="-128"/>
                <a:ea typeface="ＭＳ Ｐゴシック" panose="020B0600070205080204" pitchFamily="50" charset="-128"/>
              </a:rPr>
              <a:t>（ここに先行研究）</a:t>
            </a:r>
            <a:endParaRPr lang="en-US" altLang="ja-JP" sz="3200" dirty="0">
              <a:latin typeface="ＭＳ Ｐゴシック" panose="020B0600070205080204" pitchFamily="50" charset="-128"/>
              <a:ea typeface="ＭＳ Ｐゴシック" panose="020B0600070205080204" pitchFamily="50" charset="-128"/>
            </a:endParaRPr>
          </a:p>
          <a:p>
            <a:pPr marL="0" indent="0">
              <a:buNone/>
            </a:pPr>
            <a:endParaRPr lang="en-US" altLang="ja-JP" sz="3200" dirty="0">
              <a:latin typeface="ＭＳ Ｐゴシック" panose="020B0600070205080204" pitchFamily="50" charset="-128"/>
              <a:ea typeface="ＭＳ Ｐゴシック" panose="020B0600070205080204" pitchFamily="50" charset="-128"/>
            </a:endParaRPr>
          </a:p>
          <a:p>
            <a:pPr marL="0" indent="0">
              <a:buNone/>
            </a:pPr>
            <a:r>
              <a:rPr lang="ja-JP" altLang="en-US" sz="3200" dirty="0">
                <a:latin typeface="ＭＳ Ｐゴシック" panose="020B0600070205080204" pitchFamily="50" charset="-128"/>
                <a:ea typeface="ＭＳ Ｐゴシック" panose="020B0600070205080204" pitchFamily="50" charset="-128"/>
              </a:rPr>
              <a:t>→奥行方向の精度が非常に悪い</a:t>
            </a:r>
            <a:endParaRPr lang="en-US" altLang="ja-JP" sz="3200" dirty="0">
              <a:latin typeface="ＭＳ Ｐゴシック" panose="020B0600070205080204" pitchFamily="50" charset="-128"/>
              <a:ea typeface="ＭＳ Ｐゴシック" panose="020B0600070205080204" pitchFamily="50" charset="-128"/>
            </a:endParaRPr>
          </a:p>
          <a:p>
            <a:pPr marL="0" indent="0">
              <a:buNone/>
            </a:pPr>
            <a:endParaRPr lang="en-US" altLang="ja-JP"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424779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224F3F-83DA-6829-7BD3-28B550FCFF9A}"/>
              </a:ext>
            </a:extLst>
          </p:cNvPr>
          <p:cNvSpPr>
            <a:spLocks noGrp="1"/>
          </p:cNvSpPr>
          <p:nvPr>
            <p:ph type="title"/>
          </p:nvPr>
        </p:nvSpPr>
        <p:spPr/>
        <p:txBody>
          <a:bodyPr/>
          <a:lstStyle/>
          <a:p>
            <a:r>
              <a:rPr kumimoji="1" lang="ja-JP" altLang="en-US" dirty="0"/>
              <a:t>目的</a:t>
            </a:r>
          </a:p>
        </p:txBody>
      </p:sp>
      <p:sp>
        <p:nvSpPr>
          <p:cNvPr id="3" name="コンテンツ プレースホルダー 2">
            <a:extLst>
              <a:ext uri="{FF2B5EF4-FFF2-40B4-BE49-F238E27FC236}">
                <a16:creationId xmlns:a16="http://schemas.microsoft.com/office/drawing/2014/main" id="{164AED8C-330F-3A85-EF5C-5AA6953DCF91}"/>
              </a:ext>
            </a:extLst>
          </p:cNvPr>
          <p:cNvSpPr>
            <a:spLocks noGrp="1"/>
          </p:cNvSpPr>
          <p:nvPr>
            <p:ph idx="1"/>
          </p:nvPr>
        </p:nvSpPr>
        <p:spPr/>
        <p:txBody>
          <a:bodyPr>
            <a:normAutofit/>
          </a:bodyPr>
          <a:lstStyle/>
          <a:p>
            <a:r>
              <a:rPr lang="ja-JP" altLang="en-US" sz="3200" dirty="0"/>
              <a:t>キーボードの各キーと手指の座標をリアルタイムで推定し、キーの打鍵時に正しい方法で入力されているかを判定するシステムを開発する。</a:t>
            </a:r>
            <a:endParaRPr lang="en-US" altLang="ja-JP" sz="3200" dirty="0"/>
          </a:p>
          <a:p>
            <a:endParaRPr lang="en-US" altLang="ja-JP" sz="3200" dirty="0"/>
          </a:p>
          <a:p>
            <a:r>
              <a:rPr lang="ja-JP" altLang="en-US" sz="3200" dirty="0"/>
              <a:t>両眼カメラによる三角推量を用いて座標推定の精度改善を図り、結果を評価する。</a:t>
            </a:r>
            <a:endParaRPr lang="en-US" altLang="ja-JP" sz="3200" dirty="0"/>
          </a:p>
        </p:txBody>
      </p:sp>
    </p:spTree>
    <p:extLst>
      <p:ext uri="{BB962C8B-B14F-4D97-AF65-F5344CB8AC3E}">
        <p14:creationId xmlns:p14="http://schemas.microsoft.com/office/powerpoint/2010/main" val="829408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C9F324-7DCA-8F6E-065E-6BB84C72EFA0}"/>
              </a:ext>
            </a:extLst>
          </p:cNvPr>
          <p:cNvSpPr>
            <a:spLocks noGrp="1"/>
          </p:cNvSpPr>
          <p:nvPr>
            <p:ph type="title"/>
          </p:nvPr>
        </p:nvSpPr>
        <p:spPr/>
        <p:txBody>
          <a:bodyPr/>
          <a:lstStyle/>
          <a:p>
            <a:r>
              <a:rPr kumimoji="1" lang="ja-JP" altLang="en-US" dirty="0"/>
              <a:t>概要</a:t>
            </a:r>
          </a:p>
        </p:txBody>
      </p:sp>
      <p:sp>
        <p:nvSpPr>
          <p:cNvPr id="3" name="コンテンツ プレースホルダー 2">
            <a:extLst>
              <a:ext uri="{FF2B5EF4-FFF2-40B4-BE49-F238E27FC236}">
                <a16:creationId xmlns:a16="http://schemas.microsoft.com/office/drawing/2014/main" id="{8C1782B3-D22D-46DE-1C5E-198B7295D1B2}"/>
              </a:ext>
            </a:extLst>
          </p:cNvPr>
          <p:cNvSpPr>
            <a:spLocks noGrp="1"/>
          </p:cNvSpPr>
          <p:nvPr>
            <p:ph idx="1"/>
          </p:nvPr>
        </p:nvSpPr>
        <p:spPr/>
        <p:txBody>
          <a:bodyPr>
            <a:normAutofit/>
          </a:bodyPr>
          <a:lstStyle/>
          <a:p>
            <a:pPr marL="0" indent="0">
              <a:buNone/>
            </a:pPr>
            <a:r>
              <a:rPr kumimoji="1" lang="ja-JP" altLang="en-US" sz="3200" dirty="0"/>
              <a:t>①</a:t>
            </a:r>
            <a:r>
              <a:rPr kumimoji="1" lang="en-US" altLang="ja-JP" sz="3200" dirty="0"/>
              <a:t>2</a:t>
            </a:r>
            <a:r>
              <a:rPr kumimoji="1" lang="ja-JP" altLang="en-US" sz="3200" dirty="0"/>
              <a:t>台の</a:t>
            </a:r>
            <a:r>
              <a:rPr kumimoji="1" lang="en-US" altLang="ja-JP" sz="3200" dirty="0"/>
              <a:t>Web</a:t>
            </a:r>
            <a:r>
              <a:rPr kumimoji="1" lang="ja-JP" altLang="en-US" sz="3200" dirty="0"/>
              <a:t>カメラから映像を取得</a:t>
            </a:r>
            <a:endParaRPr kumimoji="1" lang="en-US" altLang="ja-JP" sz="3200" dirty="0"/>
          </a:p>
          <a:p>
            <a:pPr marL="0" indent="0">
              <a:buNone/>
            </a:pPr>
            <a:endParaRPr kumimoji="1" lang="en-US" altLang="ja-JP" sz="3200" dirty="0"/>
          </a:p>
          <a:p>
            <a:pPr marL="0" indent="0">
              <a:buNone/>
            </a:pPr>
            <a:r>
              <a:rPr kumimoji="1" lang="ja-JP" altLang="en-US" sz="3200" dirty="0"/>
              <a:t>②</a:t>
            </a:r>
            <a:r>
              <a:rPr kumimoji="1" lang="en-US" altLang="ja-JP" sz="3200" dirty="0" err="1"/>
              <a:t>MediaPipe</a:t>
            </a:r>
            <a:r>
              <a:rPr kumimoji="1" lang="en-US" altLang="ja-JP" sz="3200" dirty="0"/>
              <a:t> Hand </a:t>
            </a:r>
            <a:r>
              <a:rPr kumimoji="1" lang="en-US" altLang="ja-JP" sz="3200" dirty="0" err="1"/>
              <a:t>Landmarker</a:t>
            </a:r>
            <a:r>
              <a:rPr lang="ja-JP" altLang="en-US" sz="3200" dirty="0"/>
              <a:t>に</a:t>
            </a:r>
            <a:r>
              <a:rPr kumimoji="1" lang="ja-JP" altLang="en-US" sz="3200" dirty="0"/>
              <a:t>よりそれぞれの２次元座標を検出</a:t>
            </a:r>
            <a:endParaRPr kumimoji="1" lang="en-US" altLang="ja-JP" sz="3200" dirty="0"/>
          </a:p>
          <a:p>
            <a:pPr marL="0" indent="0">
              <a:buNone/>
            </a:pPr>
            <a:endParaRPr kumimoji="1" lang="en-US" altLang="ja-JP" sz="3200" dirty="0"/>
          </a:p>
          <a:p>
            <a:pPr marL="0" indent="0">
              <a:buNone/>
            </a:pPr>
            <a:r>
              <a:rPr lang="ja-JP" altLang="en-US" sz="3200" dirty="0"/>
              <a:t>③</a:t>
            </a:r>
            <a:r>
              <a:rPr lang="en-US" altLang="ja-JP" sz="3200" dirty="0"/>
              <a:t>OpenCV</a:t>
            </a:r>
            <a:r>
              <a:rPr lang="ja-JP" altLang="en-US" sz="3200" dirty="0"/>
              <a:t>の関数を用いて三角推量を行い３次元座標を推定する</a:t>
            </a:r>
            <a:endParaRPr kumimoji="1" lang="ja-JP" altLang="en-US" sz="3200" dirty="0"/>
          </a:p>
        </p:txBody>
      </p:sp>
    </p:spTree>
    <p:extLst>
      <p:ext uri="{BB962C8B-B14F-4D97-AF65-F5344CB8AC3E}">
        <p14:creationId xmlns:p14="http://schemas.microsoft.com/office/powerpoint/2010/main" val="130548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E9940-1EAA-5B25-A278-548887C03C97}"/>
              </a:ext>
            </a:extLst>
          </p:cNvPr>
          <p:cNvSpPr>
            <a:spLocks noGrp="1"/>
          </p:cNvSpPr>
          <p:nvPr>
            <p:ph type="title"/>
          </p:nvPr>
        </p:nvSpPr>
        <p:spPr/>
        <p:txBody>
          <a:bodyPr/>
          <a:lstStyle/>
          <a:p>
            <a:r>
              <a:rPr lang="ja-JP" altLang="en-US" dirty="0"/>
              <a:t>三角推量について</a:t>
            </a:r>
            <a:endParaRPr kumimoji="1" lang="ja-JP" altLang="en-US" dirty="0"/>
          </a:p>
        </p:txBody>
      </p:sp>
      <p:sp>
        <p:nvSpPr>
          <p:cNvPr id="3" name="コンテンツ プレースホルダー 2">
            <a:extLst>
              <a:ext uri="{FF2B5EF4-FFF2-40B4-BE49-F238E27FC236}">
                <a16:creationId xmlns:a16="http://schemas.microsoft.com/office/drawing/2014/main" id="{2AFE3192-F486-BC67-D330-3DDF3E745589}"/>
              </a:ext>
            </a:extLst>
          </p:cNvPr>
          <p:cNvSpPr>
            <a:spLocks noGrp="1"/>
          </p:cNvSpPr>
          <p:nvPr>
            <p:ph idx="1"/>
          </p:nvPr>
        </p:nvSpPr>
        <p:spPr/>
        <p:txBody>
          <a:bodyPr/>
          <a:lstStyle/>
          <a:p>
            <a:r>
              <a:rPr kumimoji="1" lang="ja-JP" altLang="en-US" dirty="0"/>
              <a:t>三角推量には対応する座標と両カメラの投影行列が必要</a:t>
            </a:r>
            <a:endParaRPr kumimoji="1" lang="en-US" altLang="ja-JP" dirty="0"/>
          </a:p>
          <a:p>
            <a:r>
              <a:rPr lang="ja-JP" altLang="en-US" dirty="0"/>
              <a:t>ここに投影行列の説明</a:t>
            </a:r>
            <a:endParaRPr kumimoji="1" lang="ja-JP" altLang="en-US" dirty="0"/>
          </a:p>
        </p:txBody>
      </p:sp>
    </p:spTree>
    <p:extLst>
      <p:ext uri="{BB962C8B-B14F-4D97-AF65-F5344CB8AC3E}">
        <p14:creationId xmlns:p14="http://schemas.microsoft.com/office/powerpoint/2010/main" val="363050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6A439E-803F-8E8C-8658-F873E2B97B36}"/>
              </a:ext>
            </a:extLst>
          </p:cNvPr>
          <p:cNvSpPr>
            <a:spLocks noGrp="1"/>
          </p:cNvSpPr>
          <p:nvPr>
            <p:ph type="title"/>
          </p:nvPr>
        </p:nvSpPr>
        <p:spPr/>
        <p:txBody>
          <a:bodyPr/>
          <a:lstStyle/>
          <a:p>
            <a:r>
              <a:rPr kumimoji="1" lang="ja-JP" altLang="en-US" dirty="0"/>
              <a:t>ステレオキャリブレーション</a:t>
            </a:r>
          </a:p>
        </p:txBody>
      </p:sp>
      <p:sp>
        <p:nvSpPr>
          <p:cNvPr id="3" name="コンテンツ プレースホルダー 2">
            <a:extLst>
              <a:ext uri="{FF2B5EF4-FFF2-40B4-BE49-F238E27FC236}">
                <a16:creationId xmlns:a16="http://schemas.microsoft.com/office/drawing/2014/main" id="{B0E5B456-21B4-7011-0ECB-1E780088358F}"/>
              </a:ext>
            </a:extLst>
          </p:cNvPr>
          <p:cNvSpPr>
            <a:spLocks noGrp="1"/>
          </p:cNvSpPr>
          <p:nvPr>
            <p:ph idx="1"/>
          </p:nvPr>
        </p:nvSpPr>
        <p:spPr/>
        <p:txBody>
          <a:bodyPr/>
          <a:lstStyle/>
          <a:p>
            <a:r>
              <a:rPr kumimoji="1" lang="en-US" altLang="ja-JP" dirty="0"/>
              <a:t>Zhang</a:t>
            </a:r>
            <a:r>
              <a:rPr kumimoji="1" lang="ja-JP" altLang="en-US" dirty="0"/>
              <a:t>の手法</a:t>
            </a:r>
          </a:p>
        </p:txBody>
      </p:sp>
    </p:spTree>
    <p:extLst>
      <p:ext uri="{BB962C8B-B14F-4D97-AF65-F5344CB8AC3E}">
        <p14:creationId xmlns:p14="http://schemas.microsoft.com/office/powerpoint/2010/main" val="3080448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DA3DE4-3331-7984-DC54-8F9D71D35F19}"/>
              </a:ext>
            </a:extLst>
          </p:cNvPr>
          <p:cNvSpPr>
            <a:spLocks noGrp="1"/>
          </p:cNvSpPr>
          <p:nvPr>
            <p:ph type="title"/>
          </p:nvPr>
        </p:nvSpPr>
        <p:spPr/>
        <p:txBody>
          <a:bodyPr/>
          <a:lstStyle/>
          <a:p>
            <a:r>
              <a:rPr kumimoji="1" lang="ja-JP" altLang="en-US" dirty="0"/>
              <a:t>研究の現状</a:t>
            </a:r>
          </a:p>
        </p:txBody>
      </p:sp>
      <p:sp>
        <p:nvSpPr>
          <p:cNvPr id="3" name="コンテンツ プレースホルダー 2">
            <a:extLst>
              <a:ext uri="{FF2B5EF4-FFF2-40B4-BE49-F238E27FC236}">
                <a16:creationId xmlns:a16="http://schemas.microsoft.com/office/drawing/2014/main" id="{FF3230D4-2061-CD25-BE63-78CFB6D94F70}"/>
              </a:ext>
            </a:extLst>
          </p:cNvPr>
          <p:cNvSpPr>
            <a:spLocks noGrp="1"/>
          </p:cNvSpPr>
          <p:nvPr>
            <p:ph idx="1"/>
          </p:nvPr>
        </p:nvSpPr>
        <p:spPr/>
        <p:txBody>
          <a:bodyPr/>
          <a:lstStyle/>
          <a:p>
            <a:r>
              <a:rPr lang="ja-JP" altLang="en-US" dirty="0"/>
              <a:t>リアルタイムでの三次元座標推定は実現できた</a:t>
            </a:r>
            <a:endParaRPr kumimoji="1" lang="ja-JP" altLang="en-US" dirty="0"/>
          </a:p>
        </p:txBody>
      </p:sp>
      <p:pic>
        <p:nvPicPr>
          <p:cNvPr id="5" name="図 4" descr="グラフ&#10;&#10;AI 生成コンテンツは誤りを含む可能性があります。">
            <a:extLst>
              <a:ext uri="{FF2B5EF4-FFF2-40B4-BE49-F238E27FC236}">
                <a16:creationId xmlns:a16="http://schemas.microsoft.com/office/drawing/2014/main" id="{DF5AAB7A-FB32-908C-D517-3926076C0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6422" y="2407477"/>
            <a:ext cx="3987378" cy="4262370"/>
          </a:xfrm>
          <a:prstGeom prst="rect">
            <a:avLst/>
          </a:prstGeom>
        </p:spPr>
      </p:pic>
      <p:pic>
        <p:nvPicPr>
          <p:cNvPr id="7" name="図 6" descr="キーボードとマウス&#10;&#10;AI 生成コンテンツは誤りを含む可能性があります。">
            <a:extLst>
              <a:ext uri="{FF2B5EF4-FFF2-40B4-BE49-F238E27FC236}">
                <a16:creationId xmlns:a16="http://schemas.microsoft.com/office/drawing/2014/main" id="{4D0B2635-38A5-8459-0856-686D7008D1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74" y="2979021"/>
            <a:ext cx="4159044" cy="3119283"/>
          </a:xfrm>
          <a:prstGeom prst="rect">
            <a:avLst/>
          </a:prstGeom>
        </p:spPr>
      </p:pic>
      <p:cxnSp>
        <p:nvCxnSpPr>
          <p:cNvPr id="9" name="直線矢印コネクタ 8">
            <a:extLst>
              <a:ext uri="{FF2B5EF4-FFF2-40B4-BE49-F238E27FC236}">
                <a16:creationId xmlns:a16="http://schemas.microsoft.com/office/drawing/2014/main" id="{C2587877-BC87-2FC2-CA1D-F93F439D460C}"/>
              </a:ext>
            </a:extLst>
          </p:cNvPr>
          <p:cNvCxnSpPr>
            <a:cxnSpLocks/>
          </p:cNvCxnSpPr>
          <p:nvPr/>
        </p:nvCxnSpPr>
        <p:spPr>
          <a:xfrm>
            <a:off x="5382131" y="4326194"/>
            <a:ext cx="16637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8822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8C8A71-EC94-C735-28E5-8DABF4914BE0}"/>
              </a:ext>
            </a:extLst>
          </p:cNvPr>
          <p:cNvSpPr>
            <a:spLocks noGrp="1"/>
          </p:cNvSpPr>
          <p:nvPr>
            <p:ph type="title"/>
          </p:nvPr>
        </p:nvSpPr>
        <p:spPr/>
        <p:txBody>
          <a:bodyPr/>
          <a:lstStyle/>
          <a:p>
            <a:r>
              <a:rPr kumimoji="1" lang="ja-JP" altLang="en-US" dirty="0"/>
              <a:t>今後の方針・課題</a:t>
            </a:r>
          </a:p>
        </p:txBody>
      </p:sp>
      <p:sp>
        <p:nvSpPr>
          <p:cNvPr id="3" name="コンテンツ プレースホルダー 2">
            <a:extLst>
              <a:ext uri="{FF2B5EF4-FFF2-40B4-BE49-F238E27FC236}">
                <a16:creationId xmlns:a16="http://schemas.microsoft.com/office/drawing/2014/main" id="{8FF909B4-8B91-E3EC-DC8D-52232FB4EAAB}"/>
              </a:ext>
            </a:extLst>
          </p:cNvPr>
          <p:cNvSpPr>
            <a:spLocks noGrp="1"/>
          </p:cNvSpPr>
          <p:nvPr>
            <p:ph idx="1"/>
          </p:nvPr>
        </p:nvSpPr>
        <p:spPr/>
        <p:txBody>
          <a:bodyPr/>
          <a:lstStyle/>
          <a:p>
            <a:r>
              <a:rPr kumimoji="1" lang="ja-JP" altLang="en-US" dirty="0"/>
              <a:t>座標推定の遅延、誤差を評価</a:t>
            </a:r>
            <a:endParaRPr kumimoji="1" lang="en-US" altLang="ja-JP" dirty="0"/>
          </a:p>
          <a:p>
            <a:pPr marL="0" indent="0">
              <a:buNone/>
            </a:pPr>
            <a:r>
              <a:rPr lang="ja-JP" altLang="en-US" dirty="0"/>
              <a:t>→ステレオキャリブレーション手法、カメラ間隔の調整等</a:t>
            </a:r>
            <a:endParaRPr lang="en-US" altLang="ja-JP" dirty="0"/>
          </a:p>
          <a:p>
            <a:pPr marL="0" indent="0">
              <a:buNone/>
            </a:pPr>
            <a:endParaRPr kumimoji="1" lang="en-US" altLang="ja-JP" dirty="0"/>
          </a:p>
          <a:p>
            <a:pPr marL="0" indent="0">
              <a:buNone/>
            </a:pPr>
            <a:r>
              <a:rPr lang="ja-JP" altLang="en-US" dirty="0"/>
              <a:t>・カメラを基準としたカメラ座標系からキーボードを基準とした世界座標系への変換</a:t>
            </a:r>
            <a:endParaRPr lang="en-US" altLang="ja-JP" dirty="0"/>
          </a:p>
          <a:p>
            <a:pPr marL="0" indent="0">
              <a:buNone/>
            </a:pPr>
            <a:endParaRPr kumimoji="1" lang="en-US" altLang="ja-JP" dirty="0"/>
          </a:p>
          <a:p>
            <a:pPr marL="0" indent="0">
              <a:buNone/>
            </a:pPr>
            <a:r>
              <a:rPr lang="ja-JP" altLang="en-US" dirty="0"/>
              <a:t>・共同研究との統合</a:t>
            </a:r>
            <a:endParaRPr kumimoji="1" lang="ja-JP" altLang="en-US" dirty="0"/>
          </a:p>
        </p:txBody>
      </p:sp>
    </p:spTree>
    <p:extLst>
      <p:ext uri="{BB962C8B-B14F-4D97-AF65-F5344CB8AC3E}">
        <p14:creationId xmlns:p14="http://schemas.microsoft.com/office/powerpoint/2010/main" val="1554501742"/>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3F66480A09F15D42854004C53E6862D1" ma:contentTypeVersion="15" ma:contentTypeDescription="新しいドキュメントを作成します。" ma:contentTypeScope="" ma:versionID="e61f323a2c047c2690454b1ed58a7ba1">
  <xsd:schema xmlns:xsd="http://www.w3.org/2001/XMLSchema" xmlns:xs="http://www.w3.org/2001/XMLSchema" xmlns:p="http://schemas.microsoft.com/office/2006/metadata/properties" xmlns:ns3="a74b49c0-3f90-4248-83ff-bda692a839e4" xmlns:ns4="73686522-9bd9-429d-bc6f-208ab26c3eb4" targetNamespace="http://schemas.microsoft.com/office/2006/metadata/properties" ma:root="true" ma:fieldsID="d062914c09a7576b9517a1b31a8dceff" ns3:_="" ns4:_="">
    <xsd:import namespace="a74b49c0-3f90-4248-83ff-bda692a839e4"/>
    <xsd:import namespace="73686522-9bd9-429d-bc6f-208ab26c3eb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_activity" minOccurs="0"/>
                <xsd:element ref="ns4:MediaServiceObjectDetectorVersions" minOccurs="0"/>
                <xsd:element ref="ns4:MediaServiceOCR" minOccurs="0"/>
                <xsd:element ref="ns4:MediaServiceSystemTags" minOccurs="0"/>
                <xsd:element ref="ns4:MediaServiceSearchPropertie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4b49c0-3f90-4248-83ff-bda692a839e4"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共有相手の詳細情報" ma:internalName="SharedWithDetails" ma:readOnly="true">
      <xsd:simpleType>
        <xsd:restriction base="dms:Note">
          <xsd:maxLength value="255"/>
        </xsd:restriction>
      </xsd:simpleType>
    </xsd:element>
    <xsd:element name="SharingHintHash" ma:index="10" nillable="true" ma:displayName="共有のヒントのハッシュ"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686522-9bd9-429d-bc6f-208ab26c3eb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3686522-9bd9-429d-bc6f-208ab26c3eb4" xsi:nil="true"/>
  </documentManagement>
</p:properties>
</file>

<file path=customXml/itemProps1.xml><?xml version="1.0" encoding="utf-8"?>
<ds:datastoreItem xmlns:ds="http://schemas.openxmlformats.org/officeDocument/2006/customXml" ds:itemID="{3F7EBA02-31BA-4D85-AD49-C8167C525D41}">
  <ds:schemaRefs>
    <ds:schemaRef ds:uri="http://schemas.microsoft.com/sharepoint/v3/contenttype/forms"/>
  </ds:schemaRefs>
</ds:datastoreItem>
</file>

<file path=customXml/itemProps2.xml><?xml version="1.0" encoding="utf-8"?>
<ds:datastoreItem xmlns:ds="http://schemas.openxmlformats.org/officeDocument/2006/customXml" ds:itemID="{B9731B60-4F71-433D-A506-1644F20350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4b49c0-3f90-4248-83ff-bda692a839e4"/>
    <ds:schemaRef ds:uri="73686522-9bd9-429d-bc6f-208ab26c3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E1775-31F1-4A8C-83F9-03240A0EB5CD}">
  <ds:schemaRefs>
    <ds:schemaRef ds:uri="http://schemas.openxmlformats.org/package/2006/metadata/core-properties"/>
    <ds:schemaRef ds:uri="http://purl.org/dc/elements/1.1/"/>
    <ds:schemaRef ds:uri="http://schemas.microsoft.com/office/2006/documentManagement/types"/>
    <ds:schemaRef ds:uri="http://schemas.microsoft.com/office/2006/metadata/properties"/>
    <ds:schemaRef ds:uri="73686522-9bd9-429d-bc6f-208ab26c3eb4"/>
    <ds:schemaRef ds:uri="http://purl.org/dc/dcmitype/"/>
    <ds:schemaRef ds:uri="http://schemas.microsoft.com/office/infopath/2007/PartnerControls"/>
    <ds:schemaRef ds:uri="http://purl.org/dc/terms/"/>
    <ds:schemaRef ds:uri="a74b49c0-3f90-4248-83ff-bda692a839e4"/>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415</TotalTime>
  <Words>282</Words>
  <Application>Microsoft Office PowerPoint</Application>
  <PresentationFormat>ワイド画面</PresentationFormat>
  <Paragraphs>35</Paragraphs>
  <Slides>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ＭＳ Ｐゴシック</vt:lpstr>
      <vt:lpstr>Aptos</vt:lpstr>
      <vt:lpstr>Aptos Display</vt:lpstr>
      <vt:lpstr>Arial</vt:lpstr>
      <vt:lpstr>Office Theme</vt:lpstr>
      <vt:lpstr>両眼カメラによるMediaPipe Hand Landmarkerタスクの精度向上</vt:lpstr>
      <vt:lpstr> Media Pipe Handについて</vt:lpstr>
      <vt:lpstr>先行研究の課題</vt:lpstr>
      <vt:lpstr>目的</vt:lpstr>
      <vt:lpstr>概要</vt:lpstr>
      <vt:lpstr>三角推量について</vt:lpstr>
      <vt:lpstr>ステレオキャリブレーション</vt:lpstr>
      <vt:lpstr>研究の現状</vt:lpstr>
      <vt:lpstr>今後の方針・課題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5I25 萩 郁人【鈴鹿】</dc:creator>
  <cp:lastModifiedBy>5I25 萩 郁人【鈴鹿】</cp:lastModifiedBy>
  <cp:revision>1</cp:revision>
  <dcterms:created xsi:type="dcterms:W3CDTF">2025-10-07T12:17:36Z</dcterms:created>
  <dcterms:modified xsi:type="dcterms:W3CDTF">2025-10-07T19:14:25Z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0x0101003F66480A09F15D42854004C53E6862D1</vt:lpwstr>
  </property>
</Properties>
</file>