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15.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21.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0.png" ContentType="image/png"/>
  <Override PartName="/ppt/media/image6.jpeg" ContentType="image/jpeg"/>
  <Override PartName="/ppt/media/image1.png" ContentType="image/png"/>
  <Override PartName="/ppt/media/image9.wmf" ContentType="image/x-wmf"/>
  <Override PartName="/ppt/media/image15.png" ContentType="image/png"/>
  <Override PartName="/ppt/media/image14.png" ContentType="image/png"/>
  <Override PartName="/ppt/media/image5.png" ContentType="image/png"/>
  <Override PartName="/ppt/media/image4.png" ContentType="image/png"/>
  <Override PartName="/ppt/media/image13.png" ContentType="image/png"/>
  <Override PartName="/ppt/media/image16.png" ContentType="image/png"/>
  <Override PartName="/ppt/media/image7.png" ContentType="image/png"/>
  <Override PartName="/ppt/media/image11.png" ContentType="image/png"/>
  <Override PartName="/ppt/media/image2.png" ContentType="image/png"/>
  <Override PartName="/ppt/media/image17.png" ContentType="image/png"/>
  <Override PartName="/ppt/media/image8.png" ContentType="image/png"/>
  <Override PartName="/ppt/media/image12.png" ContentType="image/png"/>
  <Override PartName="/ppt/media/image3.png" ContentType="image/png"/>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3" r:id="rId9"/>
    <p:sldMasterId id="2147483665" r:id="rId10"/>
    <p:sldMasterId id="2147483667" r:id="rId11"/>
    <p:sldMasterId id="2147483669" r:id="rId12"/>
    <p:sldMasterId id="2147483672" r:id="rId13"/>
    <p:sldMasterId id="2147483674"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Master" Target="slideMasters/slideMaster12.xml"/><Relationship Id="rId13" Type="http://schemas.openxmlformats.org/officeDocument/2006/relationships/slideMaster" Target="slideMasters/slideMaster14.xml"/><Relationship Id="rId14" Type="http://schemas.openxmlformats.org/officeDocument/2006/relationships/slideMaster" Target="slideMasters/slideMaster15.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ja-JP" sz="4400" strike="noStrike" u="none">
                <a:solidFill>
                  <a:srgbClr val="000000"/>
                </a:solidFill>
                <a:effectLst/>
                <a:uFillTx/>
                <a:latin typeface="Arial"/>
              </a:rPr>
              <a:t>クリックしてスライドを移動</a:t>
            </a:r>
            <a:endParaRPr b="0" lang="en-US" sz="4400" strike="noStrike" u="none">
              <a:solidFill>
                <a:srgbClr val="000000"/>
              </a:solidFill>
              <a:effectLst/>
              <a:uFillTx/>
              <a:latin typeface="Arial"/>
            </a:endParaRPr>
          </a:p>
        </p:txBody>
      </p:sp>
      <p:sp>
        <p:nvSpPr>
          <p:cNvPr id="12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ja-JP" sz="2000" strike="noStrike" u="none">
                <a:solidFill>
                  <a:srgbClr val="000000"/>
                </a:solidFill>
                <a:effectLst/>
                <a:uFillTx/>
                <a:latin typeface="Arial"/>
              </a:rPr>
              <a:t>クリックしてノートの書式を編集</a:t>
            </a:r>
            <a:endParaRPr b="0" lang="en-US" sz="2000" strike="noStrike" u="none">
              <a:solidFill>
                <a:srgbClr val="000000"/>
              </a:solidFill>
              <a:effectLst/>
              <a:uFillTx/>
              <a:latin typeface="Arial"/>
            </a:endParaRPr>
          </a:p>
        </p:txBody>
      </p:sp>
      <p:sp>
        <p:nvSpPr>
          <p:cNvPr id="12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Noto Serif CJK JP"/>
              </a:rPr>
              <a:t>&lt;ヘッダー&gt;</a:t>
            </a:r>
            <a:endParaRPr b="0" lang="en-US" sz="1400" strike="noStrike" u="none">
              <a:solidFill>
                <a:srgbClr val="000000"/>
              </a:solidFill>
              <a:effectLst/>
              <a:uFillTx/>
              <a:latin typeface="Noto Serif CJK JP"/>
            </a:endParaRPr>
          </a:p>
        </p:txBody>
      </p:sp>
      <p:sp>
        <p:nvSpPr>
          <p:cNvPr id="128" name="PlaceHolder 4"/>
          <p:cNvSpPr>
            <a:spLocks noGrp="1"/>
          </p:cNvSpPr>
          <p:nvPr>
            <p:ph type="dt" idx="6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Noto Serif CJK JP"/>
              </a:defRPr>
            </a:lvl1pPr>
          </a:lstStyle>
          <a:p>
            <a:pPr indent="0" algn="r">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
        <p:nvSpPr>
          <p:cNvPr id="129" name="PlaceHolder 5"/>
          <p:cNvSpPr>
            <a:spLocks noGrp="1"/>
          </p:cNvSpPr>
          <p:nvPr>
            <p:ph type="ftr" idx="65"/>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130" name="PlaceHolder 6"/>
          <p:cNvSpPr>
            <a:spLocks noGrp="1"/>
          </p:cNvSpPr>
          <p:nvPr>
            <p:ph type="sldNum" idx="6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Noto Serif CJK JP"/>
              </a:defRPr>
            </a:lvl1pPr>
          </a:lstStyle>
          <a:p>
            <a:pPr indent="0" algn="r">
              <a:buNone/>
            </a:pPr>
            <a:fld id="{9222F443-5A97-4903-B281-DBAC8F099F60}" type="slidenum">
              <a:rPr b="0" lang="en-US" sz="1400" strike="noStrike" u="none">
                <a:solidFill>
                  <a:srgbClr val="000000"/>
                </a:solidFill>
                <a:effectLst/>
                <a:uFillTx/>
                <a:latin typeface="Noto Serif CJK JP"/>
              </a:rPr>
              <a:t>&lt;番号&gt;</a:t>
            </a:fld>
            <a:endParaRPr b="0" lang="en-US" sz="1400" strike="noStrike" u="none">
              <a:solidFill>
                <a:srgbClr val="000000"/>
              </a:solidFill>
              <a:effectLst/>
              <a:uFillTx/>
              <a:latin typeface="Noto Serif CJK JP"/>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0" y="812520"/>
            <a:ext cx="0" cy="0"/>
          </a:xfrm>
          <a:prstGeom prst="rect">
            <a:avLst/>
          </a:prstGeom>
          <a:ln w="0">
            <a:noFill/>
          </a:ln>
        </p:spPr>
      </p:sp>
      <p:sp>
        <p:nvSpPr>
          <p:cNvPr id="192"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193" name="PlaceHolder 3"/>
          <p:cNvSpPr>
            <a:spLocks noGrp="1"/>
          </p:cNvSpPr>
          <p:nvPr>
            <p:ph type="sldNum" idx="67"/>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839635FE-4721-4659-9E7C-C02A86EE3107}"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360" y="812520"/>
            <a:ext cx="0" cy="0"/>
          </a:xfrm>
          <a:prstGeom prst="rect">
            <a:avLst/>
          </a:prstGeom>
          <a:ln w="0">
            <a:noFill/>
          </a:ln>
        </p:spPr>
      </p:sp>
      <p:sp>
        <p:nvSpPr>
          <p:cNvPr id="195"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defTabSz="914400">
              <a:lnSpc>
                <a:spcPct val="90000"/>
              </a:lnSpc>
              <a:spcBef>
                <a:spcPts val="1001"/>
              </a:spcBef>
              <a:buNone/>
              <a:tabLst>
                <a:tab algn="l" pos="0"/>
              </a:tabLst>
            </a:pPr>
            <a:endParaRPr b="0" lang="en-US" sz="1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1200" strike="noStrike" u="none">
              <a:solidFill>
                <a:srgbClr val="000000"/>
              </a:solidFill>
              <a:effectLst/>
              <a:uFillTx/>
              <a:latin typeface="Arial"/>
            </a:endParaRPr>
          </a:p>
          <a:p>
            <a:pPr indent="0" defTabSz="914400">
              <a:lnSpc>
                <a:spcPct val="90000"/>
              </a:lnSpc>
              <a:spcBef>
                <a:spcPts val="1001"/>
              </a:spcBef>
              <a:buNone/>
              <a:tabLst>
                <a:tab algn="l" pos="0"/>
              </a:tabLst>
            </a:pPr>
            <a:r>
              <a:rPr b="0" lang="ja-JP" sz="1200" strike="noStrike" u="none">
                <a:solidFill>
                  <a:schemeClr val="dk1"/>
                </a:solidFill>
                <a:effectLst/>
                <a:uFillTx/>
                <a:latin typeface="Aptos"/>
              </a:rPr>
              <a:t>背景については、先程村田さんに説明してもらった通りです。現在のタイピング練習ソフトではホームポジションに則った入力ができているか判定できないため、入力を行う手やキーボードを</a:t>
            </a:r>
            <a:r>
              <a:rPr b="0" lang="en-US" sz="1200" strike="noStrike" u="none">
                <a:solidFill>
                  <a:schemeClr val="dk1"/>
                </a:solidFill>
                <a:effectLst/>
                <a:uFillTx/>
                <a:latin typeface="Aptos"/>
              </a:rPr>
              <a:t>web</a:t>
            </a:r>
            <a:r>
              <a:rPr b="0" lang="ja-JP" sz="1200" strike="noStrike" u="none">
                <a:solidFill>
                  <a:schemeClr val="dk1"/>
                </a:solidFill>
                <a:effectLst/>
                <a:uFillTx/>
                <a:latin typeface="Aptos"/>
              </a:rPr>
              <a:t>カメラで撮影し、その結果から正しい入力方法かどうかを含めて判定するシステムを開発します。</a:t>
            </a:r>
            <a:endParaRPr b="0" lang="en-US" sz="1200" strike="noStrike" u="none">
              <a:solidFill>
                <a:srgbClr val="000000"/>
              </a:solidFill>
              <a:effectLst/>
              <a:uFillTx/>
              <a:latin typeface="Arial"/>
            </a:endParaRPr>
          </a:p>
        </p:txBody>
      </p:sp>
      <p:sp>
        <p:nvSpPr>
          <p:cNvPr id="196" name="PlaceHolder 3"/>
          <p:cNvSpPr>
            <a:spLocks noGrp="1"/>
          </p:cNvSpPr>
          <p:nvPr>
            <p:ph type="sldNum" idx="68"/>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8E4F50C3-008F-4B51-8365-14C359468821}"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360" y="812520"/>
            <a:ext cx="0" cy="0"/>
          </a:xfrm>
          <a:prstGeom prst="rect">
            <a:avLst/>
          </a:prstGeom>
          <a:ln w="0">
            <a:noFill/>
          </a:ln>
        </p:spPr>
      </p:sp>
      <p:sp>
        <p:nvSpPr>
          <p:cNvPr id="198"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開発するシステムは、大きく</a:t>
            </a:r>
            <a:r>
              <a:rPr b="0" lang="en-US" sz="2000" strike="noStrike" u="none">
                <a:solidFill>
                  <a:srgbClr val="000000"/>
                </a:solidFill>
                <a:effectLst/>
                <a:uFillTx/>
                <a:latin typeface="Arial"/>
              </a:rPr>
              <a:t>3</a:t>
            </a:r>
            <a:r>
              <a:rPr b="0" lang="ja-JP" sz="2000" strike="noStrike" u="none">
                <a:solidFill>
                  <a:srgbClr val="000000"/>
                </a:solidFill>
                <a:effectLst/>
                <a:uFillTx/>
                <a:latin typeface="Arial"/>
              </a:rPr>
              <a:t>つの工程で構成されます。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まず、カメラ映像から指先の座標を推定します。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しかし、この座標はカメラを基準とした座標系であるため、次にキーボード基準の座標系へ変換します。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最後に、同一の座標系上に変換された指先とキーの座標を比較し、どのキーがどのような方法で入力されたかを判定します。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本研究は共同研究であり、私はこの中で</a:t>
            </a:r>
            <a:r>
              <a:rPr b="0" lang="en-US" sz="2000" strike="noStrike" u="none">
                <a:solidFill>
                  <a:srgbClr val="000000"/>
                </a:solidFill>
                <a:effectLst/>
                <a:uFillTx/>
                <a:latin typeface="Arial"/>
              </a:rPr>
              <a:t>1</a:t>
            </a:r>
            <a:r>
              <a:rPr b="0" lang="ja-JP" sz="2000" strike="noStrike" u="none">
                <a:solidFill>
                  <a:srgbClr val="000000"/>
                </a:solidFill>
                <a:effectLst/>
                <a:uFillTx/>
                <a:latin typeface="Arial"/>
              </a:rPr>
              <a:t>番の「指先座標の推定」を担当しています。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20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120</a:t>
            </a:r>
            <a:endParaRPr b="0" lang="en-US" sz="1200" strike="noStrike" u="none">
              <a:solidFill>
                <a:srgbClr val="000000"/>
              </a:solidFill>
              <a:effectLst/>
              <a:uFillTx/>
              <a:latin typeface="Arial"/>
            </a:endParaRPr>
          </a:p>
        </p:txBody>
      </p:sp>
      <p:sp>
        <p:nvSpPr>
          <p:cNvPr id="199" name="PlaceHolder 3"/>
          <p:cNvSpPr>
            <a:spLocks noGrp="1"/>
          </p:cNvSpPr>
          <p:nvPr>
            <p:ph type="sldNum" idx="69"/>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A12871D0-1224-4FCB-A8B4-D25E1E920BA3}"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217440" y="812880"/>
            <a:ext cx="7122240" cy="4006080"/>
          </a:xfrm>
          <a:prstGeom prst="rect">
            <a:avLst/>
          </a:prstGeom>
          <a:ln w="0">
            <a:noFill/>
          </a:ln>
        </p:spPr>
      </p:sp>
      <p:sp>
        <p:nvSpPr>
          <p:cNvPr id="201"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映像からの手の座標の推定には</a:t>
            </a:r>
            <a:r>
              <a:rPr b="0" lang="en-US" sz="2000" strike="noStrike" u="none">
                <a:solidFill>
                  <a:srgbClr val="000000"/>
                </a:solidFill>
                <a:effectLst/>
                <a:uFillTx/>
                <a:latin typeface="Arial"/>
              </a:rPr>
              <a:t>MediaPipe Hand Landmarker</a:t>
            </a:r>
            <a:r>
              <a:rPr b="0" lang="ja-JP" sz="2000" strike="noStrike" u="none">
                <a:solidFill>
                  <a:srgbClr val="000000"/>
                </a:solidFill>
                <a:effectLst/>
                <a:uFillTx/>
                <a:latin typeface="Arial"/>
              </a:rPr>
              <a:t>を使用します。</a:t>
            </a:r>
            <a:r>
              <a:rPr b="0" lang="en-US" sz="2000" strike="noStrike" u="none">
                <a:solidFill>
                  <a:srgbClr val="000000"/>
                </a:solidFill>
                <a:effectLst/>
                <a:uFillTx/>
                <a:latin typeface="Arial"/>
              </a:rPr>
              <a:t>MediaPipe</a:t>
            </a:r>
            <a:r>
              <a:rPr b="0" lang="ja-JP" sz="2000" strike="noStrike" u="none">
                <a:solidFill>
                  <a:srgbClr val="000000"/>
                </a:solidFill>
                <a:effectLst/>
                <a:uFillTx/>
                <a:latin typeface="Arial"/>
              </a:rPr>
              <a:t>とは</a:t>
            </a:r>
            <a:r>
              <a:rPr b="0" lang="en-US" sz="2000" strike="noStrike" u="none">
                <a:solidFill>
                  <a:srgbClr val="000000"/>
                </a:solidFill>
                <a:effectLst/>
                <a:uFillTx/>
                <a:latin typeface="Arial"/>
              </a:rPr>
              <a:t>Google</a:t>
            </a:r>
            <a:r>
              <a:rPr b="0" lang="ja-JP" sz="2000" strike="noStrike" u="none">
                <a:solidFill>
                  <a:srgbClr val="000000"/>
                </a:solidFill>
                <a:effectLst/>
                <a:uFillTx/>
                <a:latin typeface="Arial"/>
              </a:rPr>
              <a:t>社が提供するライブメディア処理のためのオープンソース機械学習ソリューションです。その中でも</a:t>
            </a:r>
            <a:r>
              <a:rPr b="0" lang="en-US" sz="2000" strike="noStrike" u="none">
                <a:solidFill>
                  <a:srgbClr val="000000"/>
                </a:solidFill>
                <a:effectLst/>
                <a:uFillTx/>
                <a:latin typeface="Arial"/>
              </a:rPr>
              <a:t>Hand Landmarker</a:t>
            </a:r>
            <a:r>
              <a:rPr b="0" lang="ja-JP" sz="2000" strike="noStrike" u="none">
                <a:solidFill>
                  <a:srgbClr val="000000"/>
                </a:solidFill>
                <a:effectLst/>
                <a:uFillTx/>
                <a:latin typeface="Arial"/>
              </a:rPr>
              <a:t>は手や指の座標推定を行うモデルで、手の位置や</a:t>
            </a:r>
            <a:r>
              <a:rPr b="0" lang="en-US" sz="2000" strike="noStrike" u="none">
                <a:solidFill>
                  <a:srgbClr val="000000"/>
                </a:solidFill>
                <a:effectLst/>
                <a:uFillTx/>
                <a:latin typeface="Arial"/>
              </a:rPr>
              <a:t>21</a:t>
            </a:r>
            <a:r>
              <a:rPr b="0" lang="ja-JP" sz="2000" strike="noStrike" u="none">
                <a:solidFill>
                  <a:srgbClr val="000000"/>
                </a:solidFill>
                <a:effectLst/>
                <a:uFillTx/>
                <a:latin typeface="Arial"/>
              </a:rPr>
              <a:t>個のランドマークをリアルタイムに推定します。具体的なランドマークは図のように設定されていて、手首を含む各関節点と指先の座標を推定することができます。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154</a:t>
            </a:r>
            <a:endParaRPr b="0" lang="en-US" sz="20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217440" y="812880"/>
            <a:ext cx="7122240" cy="4006080"/>
          </a:xfrm>
          <a:prstGeom prst="rect">
            <a:avLst/>
          </a:prstGeom>
          <a:ln w="0">
            <a:noFill/>
          </a:ln>
        </p:spPr>
      </p:sp>
      <p:sp>
        <p:nvSpPr>
          <p:cNvPr id="203"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MediaPipe Hand Landmarker</a:t>
            </a:r>
            <a:r>
              <a:rPr b="0" lang="ja-JP" sz="2000" strike="noStrike" u="none">
                <a:solidFill>
                  <a:srgbClr val="000000"/>
                </a:solidFill>
                <a:effectLst/>
                <a:uFillTx/>
                <a:latin typeface="Arial"/>
              </a:rPr>
              <a:t>は主に映像から手の</a:t>
            </a:r>
            <a:r>
              <a:rPr b="0" lang="en-US" sz="2000" strike="noStrike" u="none">
                <a:solidFill>
                  <a:srgbClr val="000000"/>
                </a:solidFill>
                <a:effectLst/>
                <a:uFillTx/>
                <a:latin typeface="Arial"/>
              </a:rPr>
              <a:t>2</a:t>
            </a:r>
            <a:r>
              <a:rPr b="0" lang="ja-JP" sz="2000" strike="noStrike" u="none">
                <a:solidFill>
                  <a:srgbClr val="000000"/>
                </a:solidFill>
                <a:effectLst/>
                <a:uFillTx/>
                <a:latin typeface="Arial"/>
              </a:rPr>
              <a:t>次元座標を推定するために用いられますが、</a:t>
            </a:r>
            <a:r>
              <a:rPr b="0" lang="en-US" sz="2000" strike="noStrike" u="none">
                <a:solidFill>
                  <a:srgbClr val="000000"/>
                </a:solidFill>
                <a:effectLst/>
                <a:uFillTx/>
                <a:latin typeface="Arial"/>
              </a:rPr>
              <a:t>z</a:t>
            </a:r>
            <a:r>
              <a:rPr b="0" lang="ja-JP" sz="2000" strike="noStrike" u="none">
                <a:solidFill>
                  <a:srgbClr val="000000"/>
                </a:solidFill>
                <a:effectLst/>
                <a:uFillTx/>
                <a:latin typeface="Arial"/>
              </a:rPr>
              <a:t>座標を含む</a:t>
            </a:r>
            <a:r>
              <a:rPr b="0" lang="en-US" sz="2000" strike="noStrike" u="none">
                <a:solidFill>
                  <a:srgbClr val="000000"/>
                </a:solidFill>
                <a:effectLst/>
                <a:uFillTx/>
                <a:latin typeface="Arial"/>
              </a:rPr>
              <a:t>3</a:t>
            </a:r>
            <a:r>
              <a:rPr b="0" lang="ja-JP" sz="2000" strike="noStrike" u="none">
                <a:solidFill>
                  <a:srgbClr val="000000"/>
                </a:solidFill>
                <a:effectLst/>
                <a:uFillTx/>
                <a:latin typeface="Arial"/>
              </a:rPr>
              <a:t>次元推定も可能です。</a:t>
            </a:r>
            <a:br>
              <a:rPr sz="2000"/>
            </a:br>
            <a:r>
              <a:rPr b="0" lang="ja-JP" sz="2000" strike="noStrike" u="none">
                <a:solidFill>
                  <a:srgbClr val="000000"/>
                </a:solidFill>
                <a:effectLst/>
                <a:uFillTx/>
                <a:latin typeface="Arial"/>
              </a:rPr>
              <a:t>昨年度の先行研究ではこの</a:t>
            </a:r>
            <a:r>
              <a:rPr b="0" lang="en-US" sz="2000" strike="noStrike" u="none">
                <a:solidFill>
                  <a:srgbClr val="000000"/>
                </a:solidFill>
                <a:effectLst/>
                <a:uFillTx/>
                <a:latin typeface="Arial"/>
              </a:rPr>
              <a:t>3</a:t>
            </a:r>
            <a:r>
              <a:rPr b="0" lang="ja-JP" sz="2000" strike="noStrike" u="none">
                <a:solidFill>
                  <a:srgbClr val="000000"/>
                </a:solidFill>
                <a:effectLst/>
                <a:uFillTx/>
                <a:latin typeface="Arial"/>
              </a:rPr>
              <a:t>次元座標推定を利用しましたが、奥行方向の精度に大きな問題があることが分かりました。</a:t>
            </a:r>
            <a:br>
              <a:rPr sz="2000"/>
            </a:br>
            <a:r>
              <a:rPr b="0" lang="ja-JP" sz="2000" strike="noStrike" u="none">
                <a:solidFill>
                  <a:srgbClr val="000000"/>
                </a:solidFill>
                <a:effectLst/>
                <a:uFillTx/>
                <a:latin typeface="Arial"/>
              </a:rPr>
              <a:t>写真のように手を平面に置いて座標推定を行った場合の結果がこのようになっています。このグラフは</a:t>
            </a:r>
            <a:r>
              <a:rPr b="0" lang="en-US" sz="2000" strike="noStrike" u="none">
                <a:solidFill>
                  <a:srgbClr val="000000"/>
                </a:solidFill>
                <a:effectLst/>
                <a:uFillTx/>
                <a:latin typeface="Arial"/>
              </a:rPr>
              <a:t>xz</a:t>
            </a:r>
            <a:r>
              <a:rPr b="0" lang="ja-JP" sz="2000" strike="noStrike" u="none">
                <a:solidFill>
                  <a:srgbClr val="000000"/>
                </a:solidFill>
                <a:effectLst/>
                <a:uFillTx/>
                <a:latin typeface="Arial"/>
              </a:rPr>
              <a:t>座標を表していて、このあたりが中指や薬指、小指、そして人差し指、親指のように分布しています。このように、推定された各点は</a:t>
            </a:r>
            <a:r>
              <a:rPr b="0" lang="en-US" sz="2000" strike="noStrike" u="none">
                <a:solidFill>
                  <a:srgbClr val="000000"/>
                </a:solidFill>
                <a:effectLst/>
                <a:uFillTx/>
                <a:latin typeface="Arial"/>
              </a:rPr>
              <a:t>z</a:t>
            </a:r>
            <a:r>
              <a:rPr b="0" lang="ja-JP" sz="2000" strike="noStrike" u="none">
                <a:solidFill>
                  <a:srgbClr val="000000"/>
                </a:solidFill>
                <a:effectLst/>
                <a:uFillTx/>
                <a:latin typeface="Arial"/>
              </a:rPr>
              <a:t>軸方向に大きくばらつき、特に親指では最大</a:t>
            </a:r>
            <a:r>
              <a:rPr b="0" lang="en-US" sz="2000" strike="noStrike" u="none">
                <a:solidFill>
                  <a:srgbClr val="000000"/>
                </a:solidFill>
                <a:effectLst/>
                <a:uFillTx/>
                <a:latin typeface="Arial"/>
              </a:rPr>
              <a:t>40mm</a:t>
            </a:r>
            <a:r>
              <a:rPr b="0" lang="ja-JP" sz="2000" strike="noStrike" u="none">
                <a:solidFill>
                  <a:srgbClr val="000000"/>
                </a:solidFill>
                <a:effectLst/>
                <a:uFillTx/>
                <a:latin typeface="Arial"/>
              </a:rPr>
              <a:t>以上の誤差が生じています。</a:t>
            </a:r>
            <a:br>
              <a:rPr sz="2000"/>
            </a:br>
            <a:r>
              <a:rPr b="0" lang="ja-JP" sz="2000" strike="noStrike" u="none">
                <a:solidFill>
                  <a:srgbClr val="000000"/>
                </a:solidFill>
                <a:effectLst/>
                <a:uFillTx/>
                <a:latin typeface="Arial"/>
              </a:rPr>
              <a:t>このままシステムに組み込むには不十分な精度で、改善が求められていました。</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236</a:t>
            </a:r>
            <a:endParaRPr b="0" lang="en-US" sz="20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sldImg"/>
          </p:nvPr>
        </p:nvSpPr>
        <p:spPr>
          <a:xfrm>
            <a:off x="0" y="812880"/>
            <a:ext cx="0" cy="0"/>
          </a:xfrm>
          <a:prstGeom prst="rect">
            <a:avLst/>
          </a:prstGeom>
          <a:ln w="0">
            <a:noFill/>
          </a:ln>
        </p:spPr>
      </p:sp>
      <p:sp>
        <p:nvSpPr>
          <p:cNvPr id="205"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そこで本研究は、前述したとおりの「</a:t>
            </a:r>
            <a:r>
              <a:rPr b="0" lang="ja-JP" sz="1200" strike="noStrike" u="none">
                <a:solidFill>
                  <a:schemeClr val="dk1"/>
                </a:solidFill>
                <a:effectLst/>
                <a:uFillTx/>
                <a:latin typeface="Aptos"/>
              </a:rPr>
              <a:t>入力を行う手やキーボードの映像から正しい入力が行われているか判定するシステム</a:t>
            </a:r>
            <a:r>
              <a:rPr b="0" lang="ja-JP" sz="2000" strike="noStrike" u="none">
                <a:solidFill>
                  <a:srgbClr val="000000"/>
                </a:solidFill>
                <a:effectLst/>
                <a:uFillTx/>
                <a:latin typeface="Aptos"/>
              </a:rPr>
              <a:t>を開発する」ため</a:t>
            </a:r>
            <a:r>
              <a:rPr b="0" lang="ja-JP" sz="1200" strike="noStrike" u="none">
                <a:solidFill>
                  <a:schemeClr val="dk1"/>
                </a:solidFill>
                <a:effectLst/>
                <a:uFillTx/>
                <a:latin typeface="ＭＳ Ｐゴシック"/>
                <a:ea typeface="ＭＳ Ｐゴシック"/>
              </a:rPr>
              <a:t>に必要な</a:t>
            </a:r>
            <a:endParaRPr b="0" lang="en-US" sz="1200" strike="noStrike" u="none">
              <a:solidFill>
                <a:srgbClr val="000000"/>
              </a:solidFill>
              <a:effectLst/>
              <a:uFillTx/>
              <a:latin typeface="Arial"/>
            </a:endParaRPr>
          </a:p>
          <a:p>
            <a:pPr indent="0">
              <a:lnSpc>
                <a:spcPct val="100000"/>
              </a:lnSpc>
              <a:buNone/>
              <a:tabLst>
                <a:tab algn="l" pos="0"/>
              </a:tabLst>
            </a:pPr>
            <a:r>
              <a:rPr b="0" lang="ja-JP" sz="1200" strike="noStrike" u="none">
                <a:solidFill>
                  <a:schemeClr val="dk1"/>
                </a:solidFill>
                <a:effectLst/>
                <a:uFillTx/>
                <a:latin typeface="ＭＳ Ｐゴシック"/>
                <a:ea typeface="ＭＳ Ｐゴシック"/>
              </a:rPr>
              <a:t>「座標推定の精度改善」も</a:t>
            </a:r>
            <a:r>
              <a:rPr b="0" lang="ja-JP" sz="2000" strike="noStrike" u="none">
                <a:solidFill>
                  <a:srgbClr val="000000"/>
                </a:solidFill>
                <a:effectLst/>
                <a:uFillTx/>
                <a:latin typeface="ＭＳ Ｐゴシック"/>
                <a:ea typeface="ＭＳ Ｐゴシック"/>
              </a:rPr>
              <a:t>もう一つの</a:t>
            </a:r>
            <a:r>
              <a:rPr b="0" lang="ja-JP" sz="1200" strike="noStrike" u="none">
                <a:solidFill>
                  <a:schemeClr val="dk1"/>
                </a:solidFill>
                <a:effectLst/>
                <a:uFillTx/>
                <a:latin typeface="ＭＳ Ｐゴシック"/>
                <a:ea typeface="ＭＳ Ｐゴシック"/>
              </a:rPr>
              <a:t>重要な目的となっています。</a:t>
            </a:r>
            <a:endParaRPr b="0" lang="en-US" sz="12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ＭＳ Ｐゴシック"/>
                <a:ea typeface="ＭＳ Ｐゴシック"/>
              </a:rPr>
              <a:t>その方法として、両眼カメラを用いた三角測量により</a:t>
            </a:r>
            <a:r>
              <a:rPr b="0" lang="en-US" sz="2000" strike="noStrike" u="none">
                <a:solidFill>
                  <a:srgbClr val="000000"/>
                </a:solidFill>
                <a:effectLst/>
                <a:uFillTx/>
                <a:latin typeface="ＭＳ Ｐゴシック"/>
                <a:ea typeface="ＭＳ Ｐゴシック"/>
              </a:rPr>
              <a:t>3</a:t>
            </a:r>
            <a:r>
              <a:rPr b="0" lang="ja-JP" sz="2000" strike="noStrike" u="none">
                <a:solidFill>
                  <a:srgbClr val="000000"/>
                </a:solidFill>
                <a:effectLst/>
                <a:uFillTx/>
                <a:latin typeface="ＭＳ Ｐゴシック"/>
                <a:ea typeface="ＭＳ Ｐゴシック"/>
              </a:rPr>
              <a:t>次元座標を推定し、その精度を評価します。</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p:txBody>
      </p:sp>
      <p:sp>
        <p:nvSpPr>
          <p:cNvPr id="206" name="PlaceHolder 3"/>
          <p:cNvSpPr>
            <a:spLocks noGrp="1"/>
          </p:cNvSpPr>
          <p:nvPr>
            <p:ph type="sldNum" idx="70"/>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4BB32555-122D-4B88-A12D-7B5ECE9C802C}"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sldImg"/>
          </p:nvPr>
        </p:nvSpPr>
        <p:spPr>
          <a:xfrm>
            <a:off x="0" y="812880"/>
            <a:ext cx="0" cy="0"/>
          </a:xfrm>
          <a:prstGeom prst="rect">
            <a:avLst/>
          </a:prstGeom>
          <a:ln w="0">
            <a:noFill/>
          </a:ln>
        </p:spPr>
      </p:sp>
      <p:sp>
        <p:nvSpPr>
          <p:cNvPr id="208"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具体的な座標推定の概要はこのようになっています。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２台の</a:t>
            </a:r>
            <a:r>
              <a:rPr b="0" lang="en-US" sz="2000" strike="noStrike" u="none">
                <a:solidFill>
                  <a:srgbClr val="000000"/>
                </a:solidFill>
                <a:effectLst/>
                <a:uFillTx/>
                <a:latin typeface="Arial"/>
              </a:rPr>
              <a:t>Web</a:t>
            </a:r>
            <a:r>
              <a:rPr b="0" lang="ja-JP" sz="2000" strike="noStrike" u="none">
                <a:solidFill>
                  <a:srgbClr val="000000"/>
                </a:solidFill>
                <a:effectLst/>
                <a:uFillTx/>
                <a:latin typeface="Arial"/>
              </a:rPr>
              <a:t>カメラから映像を取得し、 </a:t>
            </a:r>
            <a:r>
              <a:rPr b="0" lang="en-US" sz="2000" strike="noStrike" u="none">
                <a:solidFill>
                  <a:srgbClr val="000000"/>
                </a:solidFill>
                <a:effectLst/>
                <a:uFillTx/>
                <a:latin typeface="Arial"/>
              </a:rPr>
              <a:t>MediaPipe Hand Landmarker</a:t>
            </a:r>
            <a:r>
              <a:rPr b="0" lang="ja-JP" sz="2000" strike="noStrike" u="none">
                <a:solidFill>
                  <a:srgbClr val="000000"/>
                </a:solidFill>
                <a:effectLst/>
                <a:uFillTx/>
                <a:latin typeface="Arial"/>
              </a:rPr>
              <a:t>によりそれぞれの手の二次元座標を推定、 </a:t>
            </a:r>
            <a:r>
              <a:rPr b="0" lang="en-US" sz="2000" strike="noStrike" u="none">
                <a:solidFill>
                  <a:srgbClr val="000000"/>
                </a:solidFill>
                <a:effectLst/>
                <a:uFillTx/>
                <a:latin typeface="Arial"/>
              </a:rPr>
              <a:t>OpenCV</a:t>
            </a:r>
            <a:r>
              <a:rPr b="0" lang="ja-JP" sz="2000" strike="noStrike" u="none">
                <a:solidFill>
                  <a:srgbClr val="000000"/>
                </a:solidFill>
                <a:effectLst/>
                <a:uFillTx/>
                <a:latin typeface="Arial"/>
              </a:rPr>
              <a:t>の関数を用いて三角測量を行い三次元座標を推定します。</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p:txBody>
      </p:sp>
      <p:sp>
        <p:nvSpPr>
          <p:cNvPr id="209" name="PlaceHolder 3"/>
          <p:cNvSpPr>
            <a:spLocks noGrp="1"/>
          </p:cNvSpPr>
          <p:nvPr>
            <p:ph type="sldNum" idx="71"/>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AD35C2BB-EB2F-4487-A571-5090806CF449}"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sldImg"/>
          </p:nvPr>
        </p:nvSpPr>
        <p:spPr>
          <a:xfrm>
            <a:off x="0" y="812880"/>
            <a:ext cx="0" cy="0"/>
          </a:xfrm>
          <a:prstGeom prst="rect">
            <a:avLst/>
          </a:prstGeom>
          <a:ln w="0">
            <a:noFill/>
          </a:ln>
        </p:spPr>
      </p:sp>
      <p:sp>
        <p:nvSpPr>
          <p:cNvPr id="211"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三角測量を正確に行うためには、映像上の二次元座標だけでなく、レンズの歪みなどを補正してくれる内部パラメータと、２台のカメラ間の位置関係を表す外部パラメータが必要になります。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内部パラメータはカメラキャリブレーション、外部パラメータはステレオキャリブレーションでそれぞれ求めることができ、</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今回、これらのキャリブレーションはどちらも </a:t>
            </a:r>
            <a:r>
              <a:rPr b="0" lang="en-US" sz="2000" strike="noStrike" u="none">
                <a:solidFill>
                  <a:srgbClr val="000000"/>
                </a:solidFill>
                <a:effectLst/>
                <a:uFillTx/>
                <a:latin typeface="Arial"/>
              </a:rPr>
              <a:t>Zhang(</a:t>
            </a:r>
            <a:r>
              <a:rPr b="0" lang="ja-JP" sz="2000" strike="noStrike" u="none">
                <a:solidFill>
                  <a:srgbClr val="000000"/>
                </a:solidFill>
                <a:effectLst/>
                <a:uFillTx/>
                <a:latin typeface="Arial"/>
              </a:rPr>
              <a:t>ジャン</a:t>
            </a:r>
            <a:r>
              <a:rPr b="0" lang="en-US" sz="2000" strike="noStrike" u="none">
                <a:solidFill>
                  <a:srgbClr val="000000"/>
                </a:solidFill>
                <a:effectLst/>
                <a:uFillTx/>
                <a:latin typeface="Arial"/>
              </a:rPr>
              <a:t>)</a:t>
            </a:r>
            <a:r>
              <a:rPr b="0" lang="ja-JP" sz="2000" strike="noStrike" u="none">
                <a:solidFill>
                  <a:srgbClr val="000000"/>
                </a:solidFill>
                <a:effectLst/>
                <a:uFillTx/>
                <a:latin typeface="Arial"/>
              </a:rPr>
              <a:t>の方法を用いて行いました。</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これはチェスボードのような、特徴点が明確で、それらの位置関係が規則的なパターンを、様々な角度から複数枚撮影することでキャリブレーションを行う方法です。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 Zhang(</a:t>
            </a:r>
            <a:r>
              <a:rPr b="0" lang="ja-JP" sz="2000" strike="noStrike" u="none">
                <a:solidFill>
                  <a:srgbClr val="000000"/>
                </a:solidFill>
                <a:effectLst/>
                <a:uFillTx/>
                <a:latin typeface="Arial"/>
              </a:rPr>
              <a:t>ジャン</a:t>
            </a:r>
            <a:r>
              <a:rPr b="0" lang="en-US" sz="2000" strike="noStrike" u="none">
                <a:solidFill>
                  <a:srgbClr val="000000"/>
                </a:solidFill>
                <a:effectLst/>
                <a:uFillTx/>
                <a:latin typeface="Arial"/>
              </a:rPr>
              <a:t>)</a:t>
            </a:r>
            <a:r>
              <a:rPr b="0" lang="ja-JP" sz="2000" strike="noStrike" u="none">
                <a:solidFill>
                  <a:srgbClr val="000000"/>
                </a:solidFill>
                <a:effectLst/>
                <a:uFillTx/>
                <a:latin typeface="Arial"/>
              </a:rPr>
              <a:t>の方法はすでに分かっている既知の三次元座標と、画像上で推定された二次元座標の対応が必要になり、この座標にチェスボードのコーナーを利用しています。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416</a:t>
            </a:r>
            <a:endParaRPr b="0" lang="en-US" sz="2000" strike="noStrike" u="none">
              <a:solidFill>
                <a:srgbClr val="000000"/>
              </a:solidFill>
              <a:effectLst/>
              <a:uFillTx/>
              <a:latin typeface="Arial"/>
            </a:endParaRPr>
          </a:p>
        </p:txBody>
      </p:sp>
      <p:sp>
        <p:nvSpPr>
          <p:cNvPr id="212" name="PlaceHolder 3"/>
          <p:cNvSpPr>
            <a:spLocks noGrp="1"/>
          </p:cNvSpPr>
          <p:nvPr>
            <p:ph type="sldNum" idx="72"/>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42D32CDF-BD74-4E84-A654-C6311244D614}"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ldImg"/>
          </p:nvPr>
        </p:nvSpPr>
        <p:spPr>
          <a:xfrm>
            <a:off x="-360" y="812520"/>
            <a:ext cx="0" cy="0"/>
          </a:xfrm>
          <a:prstGeom prst="rect">
            <a:avLst/>
          </a:prstGeom>
          <a:ln w="0">
            <a:noFill/>
          </a:ln>
        </p:spPr>
      </p:sp>
      <p:sp>
        <p:nvSpPr>
          <p:cNvPr id="214"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そのように求められた内部パラメータと外部パラメータから、三角測量に必要となる射影行列を求めることができます。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射影行列は次のような式で求められ、三次元座標系から二次元の画像座標系への変換を表します。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ここで、</a:t>
            </a:r>
            <a:r>
              <a:rPr b="0" lang="en-US" sz="2000" strike="noStrike" u="none">
                <a:solidFill>
                  <a:srgbClr val="000000"/>
                </a:solidFill>
                <a:effectLst/>
                <a:uFillTx/>
                <a:latin typeface="Arial"/>
              </a:rPr>
              <a:t>K</a:t>
            </a:r>
            <a:r>
              <a:rPr b="0" lang="ja-JP" sz="2000" strike="noStrike" u="none">
                <a:solidFill>
                  <a:srgbClr val="000000"/>
                </a:solidFill>
                <a:effectLst/>
                <a:uFillTx/>
                <a:latin typeface="Arial"/>
              </a:rPr>
              <a:t>は内部パラメータ、 </a:t>
            </a:r>
            <a:r>
              <a:rPr b="0" lang="en-US" sz="2000" strike="noStrike" u="none">
                <a:solidFill>
                  <a:srgbClr val="000000"/>
                </a:solidFill>
                <a:effectLst/>
                <a:uFillTx/>
                <a:latin typeface="Arial"/>
              </a:rPr>
              <a:t>R</a:t>
            </a:r>
            <a:r>
              <a:rPr b="0" lang="ja-JP" sz="2000" strike="noStrike" u="none">
                <a:solidFill>
                  <a:srgbClr val="000000"/>
                </a:solidFill>
                <a:effectLst/>
                <a:uFillTx/>
                <a:latin typeface="Arial"/>
              </a:rPr>
              <a:t>はカメラの姿勢を表す回転行列、ｔはカメラの位置を表す並進ベクトルで、 </a:t>
            </a:r>
            <a:r>
              <a:rPr b="0" lang="en-US" sz="2000" strike="noStrike" u="none">
                <a:solidFill>
                  <a:srgbClr val="000000"/>
                </a:solidFill>
                <a:effectLst/>
                <a:uFillTx/>
                <a:latin typeface="Arial"/>
              </a:rPr>
              <a:t>R</a:t>
            </a:r>
            <a:r>
              <a:rPr b="0" lang="ja-JP" sz="2000" strike="noStrike" u="none">
                <a:solidFill>
                  <a:srgbClr val="000000"/>
                </a:solidFill>
                <a:effectLst/>
                <a:uFillTx/>
                <a:latin typeface="Arial"/>
              </a:rPr>
              <a:t>とｔを合わせてカメラの位置関係を表す外部パラメータとなっています。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455</a:t>
            </a:r>
            <a:endParaRPr b="0" lang="en-US" sz="2000" strike="noStrike" u="none">
              <a:solidFill>
                <a:srgbClr val="000000"/>
              </a:solidFill>
              <a:effectLst/>
              <a:uFillTx/>
              <a:latin typeface="Arial"/>
            </a:endParaRPr>
          </a:p>
        </p:txBody>
      </p:sp>
      <p:sp>
        <p:nvSpPr>
          <p:cNvPr id="215" name="PlaceHolder 3"/>
          <p:cNvSpPr>
            <a:spLocks noGrp="1"/>
          </p:cNvSpPr>
          <p:nvPr>
            <p:ph type="sldNum" idx="73"/>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F15D7972-A585-47BC-9163-581DD1B67B3C}"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sldImg"/>
          </p:nvPr>
        </p:nvSpPr>
        <p:spPr>
          <a:xfrm>
            <a:off x="0" y="812880"/>
            <a:ext cx="0" cy="0"/>
          </a:xfrm>
          <a:prstGeom prst="rect">
            <a:avLst/>
          </a:prstGeom>
          <a:ln w="0">
            <a:noFill/>
          </a:ln>
        </p:spPr>
      </p:sp>
      <p:sp>
        <p:nvSpPr>
          <p:cNvPr id="217"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キャリブレーションで射影行列を求めた後は、この方程式を用いて三角測量を行い、三次元座標を推定します。</a:t>
            </a:r>
            <a:br>
              <a:rPr sz="2000"/>
            </a:br>
            <a:r>
              <a:rPr b="0" lang="ja-JP" sz="2000" strike="noStrike" u="none">
                <a:solidFill>
                  <a:srgbClr val="000000"/>
                </a:solidFill>
                <a:effectLst/>
                <a:uFillTx/>
                <a:latin typeface="Arial"/>
              </a:rPr>
              <a:t>ここで スモール</a:t>
            </a:r>
            <a:r>
              <a:rPr b="0" i="1" lang="en-US" sz="2000" strike="noStrike" u="none">
                <a:solidFill>
                  <a:srgbClr val="000000"/>
                </a:solidFill>
                <a:effectLst/>
                <a:uFillTx/>
                <a:latin typeface="Arial"/>
              </a:rPr>
              <a:t>x</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は映像上の二次元座標、ラージ</a:t>
            </a:r>
            <a:r>
              <a:rPr b="0" i="1" lang="en-US" sz="2000" strike="noStrike" u="none">
                <a:solidFill>
                  <a:srgbClr val="000000"/>
                </a:solidFill>
                <a:effectLst/>
                <a:uFillTx/>
                <a:latin typeface="Arial"/>
              </a:rPr>
              <a:t>X</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は求める三次元座標、そして </a:t>
            </a:r>
            <a:r>
              <a:rPr b="0" i="1" lang="en-US" sz="2000" strike="noStrike" u="none">
                <a:solidFill>
                  <a:srgbClr val="000000"/>
                </a:solidFill>
                <a:effectLst/>
                <a:uFillTx/>
                <a:latin typeface="Arial"/>
              </a:rPr>
              <a:t>P₁</a:t>
            </a:r>
            <a:r>
              <a:rPr b="0" lang="ja-JP" sz="2000" strike="noStrike" u="none">
                <a:solidFill>
                  <a:srgbClr val="000000"/>
                </a:solidFill>
                <a:effectLst/>
                <a:uFillTx/>
                <a:latin typeface="Arial"/>
              </a:rPr>
              <a:t>・</a:t>
            </a:r>
            <a:r>
              <a:rPr b="0" i="1" lang="en-US" sz="2000" strike="noStrike" u="none">
                <a:solidFill>
                  <a:srgbClr val="000000"/>
                </a:solidFill>
                <a:effectLst/>
                <a:uFillTx/>
                <a:latin typeface="Arial"/>
              </a:rPr>
              <a:t>P₂</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は左右カメラの射影行列を表します。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射影行列は、</a:t>
            </a:r>
            <a:r>
              <a:rPr b="0" lang="en-US" sz="2000" strike="noStrike" u="none">
                <a:solidFill>
                  <a:srgbClr val="000000"/>
                </a:solidFill>
                <a:effectLst/>
                <a:uFillTx/>
                <a:latin typeface="Arial"/>
              </a:rPr>
              <a:t>3</a:t>
            </a:r>
            <a:r>
              <a:rPr b="0" lang="ja-JP" sz="2000" strike="noStrike" u="none">
                <a:solidFill>
                  <a:srgbClr val="000000"/>
                </a:solidFill>
                <a:effectLst/>
                <a:uFillTx/>
                <a:latin typeface="Arial"/>
              </a:rPr>
              <a:t>次元座標を画像上の</a:t>
            </a:r>
            <a:r>
              <a:rPr b="0" lang="en-US" sz="2000" strike="noStrike" u="none">
                <a:solidFill>
                  <a:srgbClr val="000000"/>
                </a:solidFill>
                <a:effectLst/>
                <a:uFillTx/>
                <a:latin typeface="Arial"/>
              </a:rPr>
              <a:t>2</a:t>
            </a:r>
            <a:r>
              <a:rPr b="0" lang="ja-JP" sz="2000" strike="noStrike" u="none">
                <a:solidFill>
                  <a:srgbClr val="000000"/>
                </a:solidFill>
                <a:effectLst/>
                <a:uFillTx/>
                <a:latin typeface="Arial"/>
              </a:rPr>
              <a:t>次元座標に変換する行列です。</a:t>
            </a:r>
            <a:br>
              <a:rPr sz="2000"/>
            </a:br>
            <a:r>
              <a:rPr b="0" lang="ja-JP" sz="2000" strike="noStrike" u="none">
                <a:solidFill>
                  <a:srgbClr val="000000"/>
                </a:solidFill>
                <a:effectLst/>
                <a:uFillTx/>
                <a:latin typeface="Arial"/>
              </a:rPr>
              <a:t>そのため、世界座標 ラージ</a:t>
            </a:r>
            <a:r>
              <a:rPr b="0" i="1" lang="en-US" sz="2000" strike="noStrike" u="none">
                <a:solidFill>
                  <a:srgbClr val="000000"/>
                </a:solidFill>
                <a:effectLst/>
                <a:uFillTx/>
                <a:latin typeface="Arial"/>
              </a:rPr>
              <a:t>X</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に射影行列 </a:t>
            </a:r>
            <a:r>
              <a:rPr b="0" i="1" lang="en-US" sz="2000" strike="noStrike" u="none">
                <a:solidFill>
                  <a:srgbClr val="000000"/>
                </a:solidFill>
                <a:effectLst/>
                <a:uFillTx/>
                <a:latin typeface="Arial"/>
              </a:rPr>
              <a:t>P</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をかけることで 二次元座標スモール</a:t>
            </a:r>
            <a:r>
              <a:rPr b="0" i="1" lang="en-US" sz="2000" strike="noStrike" u="none">
                <a:solidFill>
                  <a:srgbClr val="000000"/>
                </a:solidFill>
                <a:effectLst/>
                <a:uFillTx/>
                <a:latin typeface="Arial"/>
              </a:rPr>
              <a:t>x</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が得られ、この関係から三角測量の方程式を立てることができます。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535</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p:txBody>
      </p:sp>
      <p:sp>
        <p:nvSpPr>
          <p:cNvPr id="218" name="PlaceHolder 3"/>
          <p:cNvSpPr>
            <a:spLocks noGrp="1"/>
          </p:cNvSpPr>
          <p:nvPr>
            <p:ph type="sldNum" idx="74"/>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B2B14237-2765-44AC-BED7-7B07DF43B780}"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sldImg"/>
          </p:nvPr>
        </p:nvSpPr>
        <p:spPr>
          <a:xfrm>
            <a:off x="-360" y="812520"/>
            <a:ext cx="720" cy="720"/>
          </a:xfrm>
          <a:prstGeom prst="rect">
            <a:avLst/>
          </a:prstGeom>
          <a:ln w="0">
            <a:noFill/>
          </a:ln>
        </p:spPr>
      </p:sp>
      <p:sp>
        <p:nvSpPr>
          <p:cNvPr id="220"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研究の現状です。現時点でリアルタイムでの三次元座標推定が実装できています。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画像のようにキーボードのホームポジションに置いた両手の各座標点が、３</a:t>
            </a:r>
            <a:r>
              <a:rPr b="0" lang="en-US" sz="2000" strike="noStrike" u="none">
                <a:solidFill>
                  <a:srgbClr val="000000"/>
                </a:solidFill>
                <a:effectLst/>
                <a:uFillTx/>
                <a:latin typeface="Arial"/>
              </a:rPr>
              <a:t>d</a:t>
            </a:r>
            <a:r>
              <a:rPr b="0" lang="ja-JP" sz="2000" strike="noStrike" u="none">
                <a:solidFill>
                  <a:srgbClr val="000000"/>
                </a:solidFill>
                <a:effectLst/>
                <a:uFillTx/>
                <a:latin typeface="Arial"/>
              </a:rPr>
              <a:t>グラフとして表示できています。座標の精度としても、目測ではありますが概ね手の形を表せる程度になっています。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 555</a:t>
            </a:r>
            <a:endParaRPr b="0" lang="en-US" sz="2000" strike="noStrike" u="none">
              <a:solidFill>
                <a:srgbClr val="000000"/>
              </a:solidFill>
              <a:effectLst/>
              <a:uFillTx/>
              <a:latin typeface="Arial"/>
            </a:endParaRPr>
          </a:p>
        </p:txBody>
      </p:sp>
      <p:sp>
        <p:nvSpPr>
          <p:cNvPr id="221" name="PlaceHolder 3"/>
          <p:cNvSpPr>
            <a:spLocks noGrp="1"/>
          </p:cNvSpPr>
          <p:nvPr>
            <p:ph type="sldNum" idx="75"/>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8513EDA5-48A9-49E3-9152-4A11BF82F333}"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sldImg"/>
          </p:nvPr>
        </p:nvSpPr>
        <p:spPr>
          <a:xfrm>
            <a:off x="0" y="812880"/>
            <a:ext cx="0" cy="0"/>
          </a:xfrm>
          <a:prstGeom prst="rect">
            <a:avLst/>
          </a:prstGeom>
          <a:ln w="0">
            <a:noFill/>
          </a:ln>
        </p:spPr>
      </p:sp>
      <p:sp>
        <p:nvSpPr>
          <p:cNvPr id="223"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 MediaPipe Hand Landmarker</a:t>
            </a:r>
            <a:r>
              <a:rPr b="0" lang="ja-JP" sz="2000" strike="noStrike" u="none">
                <a:solidFill>
                  <a:srgbClr val="000000"/>
                </a:solidFill>
                <a:effectLst/>
                <a:uFillTx/>
                <a:latin typeface="Arial"/>
              </a:rPr>
              <a:t>の懸念点であった</a:t>
            </a:r>
            <a:r>
              <a:rPr b="0" lang="en-US" sz="2000" strike="noStrike" u="none">
                <a:solidFill>
                  <a:srgbClr val="000000"/>
                </a:solidFill>
                <a:effectLst/>
                <a:uFillTx/>
                <a:latin typeface="Arial"/>
              </a:rPr>
              <a:t>Z</a:t>
            </a:r>
            <a:r>
              <a:rPr b="0" lang="ja-JP" sz="2000" strike="noStrike" u="none">
                <a:solidFill>
                  <a:srgbClr val="000000"/>
                </a:solidFill>
                <a:effectLst/>
                <a:uFillTx/>
                <a:latin typeface="Arial"/>
              </a:rPr>
              <a:t>軸座標の推定についても改善できました。</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平面に置いた両手の座標を推定してみると、先行研究に比べ各座標点の</a:t>
            </a:r>
            <a:r>
              <a:rPr b="0" lang="en-US" sz="2000" strike="noStrike" u="none">
                <a:solidFill>
                  <a:srgbClr val="000000"/>
                </a:solidFill>
                <a:effectLst/>
                <a:uFillTx/>
                <a:latin typeface="Arial"/>
              </a:rPr>
              <a:t>Z</a:t>
            </a:r>
            <a:r>
              <a:rPr b="0" lang="ja-JP" sz="2000" strike="noStrike" u="none">
                <a:solidFill>
                  <a:srgbClr val="000000"/>
                </a:solidFill>
                <a:effectLst/>
                <a:uFillTx/>
                <a:latin typeface="Arial"/>
              </a:rPr>
              <a:t>軸方向のばらつきが大幅に小さくなっていることがわかります。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615</a:t>
            </a:r>
            <a:endParaRPr b="0" lang="en-US" sz="2000" strike="noStrike" u="none">
              <a:solidFill>
                <a:srgbClr val="000000"/>
              </a:solidFill>
              <a:effectLst/>
              <a:uFillTx/>
              <a:latin typeface="Arial"/>
            </a:endParaRPr>
          </a:p>
        </p:txBody>
      </p:sp>
      <p:sp>
        <p:nvSpPr>
          <p:cNvPr id="224" name="PlaceHolder 3"/>
          <p:cNvSpPr>
            <a:spLocks noGrp="1"/>
          </p:cNvSpPr>
          <p:nvPr>
            <p:ph type="sldNum" idx="76"/>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6561D23A-61B1-4F40-99D3-9100347A1B24}"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sldImg"/>
          </p:nvPr>
        </p:nvSpPr>
        <p:spPr>
          <a:xfrm>
            <a:off x="0" y="812880"/>
            <a:ext cx="0" cy="0"/>
          </a:xfrm>
          <a:prstGeom prst="rect">
            <a:avLst/>
          </a:prstGeom>
          <a:ln w="0">
            <a:noFill/>
          </a:ln>
        </p:spPr>
      </p:sp>
      <p:sp>
        <p:nvSpPr>
          <p:cNvPr id="226"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今後の方針として、まず座標推定の評価を行います。</a:t>
            </a:r>
            <a:br>
              <a:rPr sz="2000"/>
            </a:br>
            <a:r>
              <a:rPr b="0" lang="ja-JP" sz="2000" strike="noStrike" u="none">
                <a:solidFill>
                  <a:srgbClr val="000000"/>
                </a:solidFill>
                <a:effectLst/>
                <a:uFillTx/>
                <a:latin typeface="Arial"/>
              </a:rPr>
              <a:t>具体的には、映像取得から推定完了までの遅延時間や、推定された座標の誤差を測定し、誤差が大きい場合にはキャリブレーション手法やカメラ間隔の調整によって精度の改善を図ります。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また、三角測量で得られる座標はカメラ基準のカメラ座標系となるため、実際のシステムに組み込むには、キーボードを基準とした世界座標系へ変換する必要があります。</a:t>
            </a:r>
            <a:br>
              <a:rPr sz="2000"/>
            </a:br>
            <a:r>
              <a:rPr b="0" lang="ja-JP" sz="2000" strike="noStrike" u="none">
                <a:solidFill>
                  <a:srgbClr val="000000"/>
                </a:solidFill>
                <a:effectLst/>
                <a:uFillTx/>
                <a:latin typeface="Arial"/>
              </a:rPr>
              <a:t>この部分は共同研究との連携が重要であり、座標評価と並行して進めていきます。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以上で発表を終わります。</a:t>
            </a:r>
            <a:br>
              <a:rPr sz="2000"/>
            </a:br>
            <a:r>
              <a:rPr b="0" lang="ja-JP" sz="2000" strike="noStrike" u="none">
                <a:solidFill>
                  <a:srgbClr val="000000"/>
                </a:solidFill>
                <a:effectLst/>
                <a:uFillTx/>
                <a:latin typeface="Arial"/>
              </a:rPr>
              <a:t>ご清聴ありがとうございました。</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657</a:t>
            </a:r>
            <a:endParaRPr b="0" lang="en-US" sz="2000" strike="noStrike" u="none">
              <a:solidFill>
                <a:srgbClr val="000000"/>
              </a:solidFill>
              <a:effectLst/>
              <a:uFillTx/>
              <a:latin typeface="Arial"/>
            </a:endParaRPr>
          </a:p>
        </p:txBody>
      </p:sp>
      <p:sp>
        <p:nvSpPr>
          <p:cNvPr id="227" name="PlaceHolder 3"/>
          <p:cNvSpPr>
            <a:spLocks noGrp="1"/>
          </p:cNvSpPr>
          <p:nvPr>
            <p:ph type="sldNum" idx="77"/>
          </p:nvPr>
        </p:nvSpPr>
        <p:spPr>
          <a:xfrm>
            <a:off x="4278960" y="10157400"/>
            <a:ext cx="3278160" cy="53172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9A7B77A0-26E2-4D8B-97ED-10ADC5EA2C49}"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2 つのコンテンツ">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6A4B714-19AB-4D58-94DA-D34D7AF11CBE}" type="slidenum">
              <a:t>&lt;#&gt;</a:t>
            </a:fld>
          </a:p>
        </p:txBody>
      </p:sp>
      <p:sp>
        <p:nvSpPr>
          <p:cNvPr id="6" name="PlaceHolder 5"/>
          <p:cNvSpPr>
            <a:spLocks noGrp="1"/>
          </p:cNvSpPr>
          <p:nvPr>
            <p:ph type="dt" idx="3"/>
          </p:nvPr>
        </p:nvSpPr>
        <p:spPr/>
        <p:txBody>
          <a:bodyPr/>
          <a:p>
            <a:r>
              <a:rPr lang="ja-JP"/>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比較">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3"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02B0483B-B65F-46C8-8642-2677BF56397C}" type="slidenum">
              <a:t>&lt;#&gt;</a:t>
            </a:fld>
          </a:p>
        </p:txBody>
      </p:sp>
      <p:sp>
        <p:nvSpPr>
          <p:cNvPr id="6" name="PlaceHolder 5"/>
          <p:cNvSpPr>
            <a:spLocks noGrp="1"/>
          </p:cNvSpPr>
          <p:nvPr>
            <p:ph type="dt" idx="6"/>
          </p:nvPr>
        </p:nvSpPr>
        <p:spPr/>
        <p:txBody>
          <a:bodyPr/>
          <a:p>
            <a:r>
              <a:rPr lang="ja-JP"/>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のみ">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0"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0E62469C-C676-4659-89B7-E7A9B271737E}" type="slidenum">
              <a:t>&lt;#&gt;</a:t>
            </a:fld>
          </a:p>
        </p:txBody>
      </p:sp>
      <p:sp>
        <p:nvSpPr>
          <p:cNvPr id="6" name="PlaceHolder 5"/>
          <p:cNvSpPr>
            <a:spLocks noGrp="1"/>
          </p:cNvSpPr>
          <p:nvPr>
            <p:ph type="dt" idx="9"/>
          </p:nvPr>
        </p:nvSpPr>
        <p:spPr/>
        <p:txBody>
          <a:bodyPr/>
          <a:p>
            <a:r>
              <a:rPr lang="ja-JP"/>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白紙">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7"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4267D7AB-28FA-493A-9C5B-FA192D25BEA0}" type="slidenum">
              <a:t>&lt;#&gt;</a:t>
            </a:fld>
          </a:p>
        </p:txBody>
      </p:sp>
      <p:sp>
        <p:nvSpPr>
          <p:cNvPr id="6" name="PlaceHolder 5"/>
          <p:cNvSpPr>
            <a:spLocks noGrp="1"/>
          </p:cNvSpPr>
          <p:nvPr>
            <p:ph type="dt" idx="12"/>
          </p:nvPr>
        </p:nvSpPr>
        <p:spPr/>
        <p:txBody>
          <a:bodyPr/>
          <a:p>
            <a:r>
              <a:rPr lang="ja-JP"/>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 スライド">
    <p:spTree>
      <p:nvGrpSpPr>
        <p:cNvPr id="1" name=""/>
        <p:cNvGrpSpPr/>
        <p:nvPr/>
      </p:nvGrpSpPr>
      <p:grpSpPr>
        <a:xfrm>
          <a:off x="0" y="0"/>
          <a:ext cx="0" cy="0"/>
          <a:chOff x="0" y="0"/>
          <a:chExt cx="0" cy="0"/>
        </a:xfrm>
      </p:grpSpPr>
      <p:sp>
        <p:nvSpPr>
          <p:cNvPr id="33"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4"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822EBB1A-5FBF-4B49-8E10-F62E3BC0CE84}" type="slidenum">
              <a:t>&lt;#&gt;</a:t>
            </a:fld>
          </a:p>
        </p:txBody>
      </p:sp>
      <p:sp>
        <p:nvSpPr>
          <p:cNvPr id="6" name="PlaceHolder 5"/>
          <p:cNvSpPr>
            <a:spLocks noGrp="1"/>
          </p:cNvSpPr>
          <p:nvPr>
            <p:ph type="dt" idx="15"/>
          </p:nvPr>
        </p:nvSpPr>
        <p:spPr/>
        <p:txBody>
          <a:bodyPr/>
          <a:p>
            <a:r>
              <a:rPr lang="ja-JP"/>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41"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FBB0A626-D955-42F9-9BD5-FB6314BF3AB4}" type="slidenum">
              <a:t>&lt;#&gt;</a:t>
            </a:fld>
          </a:p>
        </p:txBody>
      </p:sp>
      <p:sp>
        <p:nvSpPr>
          <p:cNvPr id="6" name="PlaceHolder 5"/>
          <p:cNvSpPr>
            <a:spLocks noGrp="1"/>
          </p:cNvSpPr>
          <p:nvPr>
            <p:ph type="dt" idx="18"/>
          </p:nvPr>
        </p:nvSpPr>
        <p:spPr/>
        <p:txBody>
          <a:bodyPr/>
          <a:p>
            <a:r>
              <a:rPr lang="ja-JP"/>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1">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691560"/>
            <a:ext cx="10512000" cy="670680"/>
          </a:xfrm>
          <a:prstGeom prst="rect">
            <a:avLst/>
          </a:prstGeom>
          <a:noFill/>
          <a:ln w="0">
            <a:noFill/>
          </a:ln>
        </p:spPr>
        <p:txBody>
          <a:bodyPr lIns="0" rIns="0" tIns="0" bIns="0" anchor="ctr">
            <a:spAutoFit/>
          </a:bodyPr>
          <a:p>
            <a:pPr indent="0">
              <a:lnSpc>
                <a:spcPct val="100000"/>
              </a:lnSpc>
              <a:buNone/>
              <a:tabLst>
                <a:tab algn="l" pos="0"/>
              </a:tabLst>
            </a:pPr>
            <a:r>
              <a:rPr b="0" lang="ja-JP" sz="4400" strike="noStrike" u="none">
                <a:solidFill>
                  <a:schemeClr val="dk1"/>
                </a:solidFill>
                <a:effectLst/>
                <a:uFillTx/>
                <a:latin typeface="Arial"/>
              </a:rPr>
              <a:t>クリックしてタイトルテキストを編集</a:t>
            </a:r>
            <a:endParaRPr b="0" lang="en-US" sz="4400" strike="noStrike" u="none">
              <a:solidFill>
                <a:srgbClr val="000000"/>
              </a:solidFill>
              <a:effectLst/>
              <a:uFillTx/>
              <a:latin typeface="Arial"/>
            </a:endParaRPr>
          </a:p>
        </p:txBody>
      </p:sp>
      <p:sp>
        <p:nvSpPr>
          <p:cNvPr id="43"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1800" strike="noStrike" u="none">
                <a:solidFill>
                  <a:schemeClr val="dk1"/>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2</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5</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6</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7</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p:txBody>
      </p:sp>
      <p:sp>
        <p:nvSpPr>
          <p:cNvPr id="44" name="PlaceHolder 3"/>
          <p:cNvSpPr>
            <a:spLocks noGrp="1"/>
          </p:cNvSpPr>
          <p:nvPr>
            <p:ph type="ftr" idx="19"/>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45" name="PlaceHolder 4"/>
          <p:cNvSpPr>
            <a:spLocks noGrp="1"/>
          </p:cNvSpPr>
          <p:nvPr>
            <p:ph type="sldNum" idx="20"/>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9508DF5F-113D-43C8-A527-59E5E3AAB100}"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46" name="PlaceHolder 5"/>
          <p:cNvSpPr>
            <a:spLocks noGrp="1"/>
          </p:cNvSpPr>
          <p:nvPr>
            <p:ph type="dt" idx="21"/>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標準 2">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691560"/>
            <a:ext cx="10512000" cy="670680"/>
          </a:xfrm>
          <a:prstGeom prst="rect">
            <a:avLst/>
          </a:prstGeom>
          <a:noFill/>
          <a:ln w="0">
            <a:noFill/>
          </a:ln>
        </p:spPr>
        <p:txBody>
          <a:bodyPr lIns="0" rIns="0" tIns="0" bIns="0" anchor="ctr">
            <a:spAutoFit/>
          </a:bodyPr>
          <a:p>
            <a:pPr indent="0">
              <a:lnSpc>
                <a:spcPct val="100000"/>
              </a:lnSpc>
              <a:buNone/>
              <a:tabLst>
                <a:tab algn="l" pos="0"/>
              </a:tabLst>
            </a:pPr>
            <a:r>
              <a:rPr b="0" lang="ja-JP" sz="4400" strike="noStrike" u="none">
                <a:solidFill>
                  <a:schemeClr val="dk1"/>
                </a:solidFill>
                <a:effectLst/>
                <a:uFillTx/>
                <a:latin typeface="Arial"/>
              </a:rPr>
              <a:t>クリックしてタイトルテキストを編集</a:t>
            </a:r>
            <a:endParaRPr b="0" lang="en-US" sz="4400" strike="noStrike" u="none">
              <a:solidFill>
                <a:srgbClr val="000000"/>
              </a:solidFill>
              <a:effectLst/>
              <a:uFillTx/>
              <a:latin typeface="Arial"/>
            </a:endParaRPr>
          </a:p>
        </p:txBody>
      </p:sp>
      <p:sp>
        <p:nvSpPr>
          <p:cNvPr id="48" name="PlaceHolder 2"/>
          <p:cNvSpPr>
            <a:spLocks noGrp="1"/>
          </p:cNvSpPr>
          <p:nvPr>
            <p:ph type="ftr" idx="22"/>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49" name="PlaceHolder 3"/>
          <p:cNvSpPr>
            <a:spLocks noGrp="1"/>
          </p:cNvSpPr>
          <p:nvPr>
            <p:ph type="sldNum" idx="23"/>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298F71BF-9C57-4001-B461-A755F3D51E45}"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50" name="PlaceHolder 4"/>
          <p:cNvSpPr>
            <a:spLocks noGrp="1"/>
          </p:cNvSpPr>
          <p:nvPr>
            <p:ph type="dt" idx="24"/>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
        <p:nvSpPr>
          <p:cNvPr id="51" name="PlaceHolder 5"/>
          <p:cNvSpPr>
            <a:spLocks noGrp="1"/>
          </p:cNvSpPr>
          <p:nvPr>
            <p:ph type="body"/>
          </p:nvPr>
        </p:nvSpPr>
        <p:spPr>
          <a:xfrm>
            <a:off x="609480" y="1604520"/>
            <a:ext cx="10970640" cy="39754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付きのコンテンツ">
    <p:spTree>
      <p:nvGrpSpPr>
        <p:cNvPr id="1" name=""/>
        <p:cNvGrpSpPr/>
        <p:nvPr/>
      </p:nvGrpSpPr>
      <p:grpSpPr>
        <a:xfrm>
          <a:off x="0" y="0"/>
          <a:ext cx="0" cy="0"/>
          <a:chOff x="0" y="0"/>
          <a:chExt cx="0" cy="0"/>
        </a:xfrm>
      </p:grpSpPr>
      <p:sp>
        <p:nvSpPr>
          <p:cNvPr id="57"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58"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4691CF0E-9304-4B32-883F-651B78F2A98D}" type="slidenum">
              <a:t>&lt;#&gt;</a:t>
            </a:fld>
          </a:p>
        </p:txBody>
      </p:sp>
      <p:sp>
        <p:nvSpPr>
          <p:cNvPr id="6" name="PlaceHolder 5"/>
          <p:cNvSpPr>
            <a:spLocks noGrp="1"/>
          </p:cNvSpPr>
          <p:nvPr>
            <p:ph type="dt" idx="27"/>
          </p:nvPr>
        </p:nvSpPr>
        <p:spPr/>
        <p:txBody>
          <a:bodyPr/>
          <a:p>
            <a:r>
              <a:rPr lang="ja-JP"/>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付きの図">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5"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9E780AED-14EF-4422-A74A-14FEAAA0E094}" type="slidenum">
              <a:t>&lt;#&gt;</a:t>
            </a:fld>
          </a:p>
        </p:txBody>
      </p:sp>
      <p:sp>
        <p:nvSpPr>
          <p:cNvPr id="6" name="PlaceHolder 5"/>
          <p:cNvSpPr>
            <a:spLocks noGrp="1"/>
          </p:cNvSpPr>
          <p:nvPr>
            <p:ph type="dt" idx="30"/>
          </p:nvPr>
        </p:nvSpPr>
        <p:spPr/>
        <p:txBody>
          <a:bodyPr/>
          <a:p>
            <a:r>
              <a:rPr lang="ja-JP"/>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と縦書きテキスト">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72"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EA5DFEAD-A403-4767-A6F9-020B97B77B95}" type="slidenum">
              <a:t>&lt;#&gt;</a:t>
            </a:fld>
          </a:p>
        </p:txBody>
      </p:sp>
      <p:sp>
        <p:nvSpPr>
          <p:cNvPr id="6" name="PlaceHolder 5"/>
          <p:cNvSpPr>
            <a:spLocks noGrp="1"/>
          </p:cNvSpPr>
          <p:nvPr>
            <p:ph type="dt" idx="33"/>
          </p:nvPr>
        </p:nvSpPr>
        <p:spPr/>
        <p:txBody>
          <a:bodyPr/>
          <a:p>
            <a:r>
              <a:rPr lang="ja-JP"/>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3">
    <p:bg>
      <p:bgPr>
        <a:solidFill>
          <a:srgbClr val="ffffff"/>
        </a:solid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691560"/>
            <a:ext cx="10512000" cy="670680"/>
          </a:xfrm>
          <a:prstGeom prst="rect">
            <a:avLst/>
          </a:prstGeom>
          <a:noFill/>
          <a:ln w="0">
            <a:noFill/>
          </a:ln>
        </p:spPr>
        <p:txBody>
          <a:bodyPr lIns="0" rIns="0" tIns="0" bIns="0" anchor="ctr">
            <a:spAutoFit/>
          </a:bodyPr>
          <a:p>
            <a:pPr indent="0">
              <a:lnSpc>
                <a:spcPct val="100000"/>
              </a:lnSpc>
              <a:buNone/>
              <a:tabLst>
                <a:tab algn="l" pos="0"/>
              </a:tabLst>
            </a:pPr>
            <a:r>
              <a:rPr b="0" lang="ja-JP" sz="4400" strike="noStrike" u="none">
                <a:solidFill>
                  <a:schemeClr val="dk1"/>
                </a:solidFill>
                <a:effectLst/>
                <a:uFillTx/>
                <a:latin typeface="Arial"/>
              </a:rPr>
              <a:t>クリックしてタイトルテキストを編集</a:t>
            </a:r>
            <a:endParaRPr b="0" lang="en-US" sz="4400" strike="noStrike" u="none">
              <a:solidFill>
                <a:srgbClr val="000000"/>
              </a:solidFill>
              <a:effectLst/>
              <a:uFillTx/>
              <a:latin typeface="Arial"/>
            </a:endParaRPr>
          </a:p>
        </p:txBody>
      </p:sp>
      <p:sp>
        <p:nvSpPr>
          <p:cNvPr id="7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1800" strike="noStrike" u="none">
                <a:solidFill>
                  <a:schemeClr val="dk1"/>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2</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5</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6</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7</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p:txBody>
      </p:sp>
      <p:sp>
        <p:nvSpPr>
          <p:cNvPr id="75" name="PlaceHolder 3"/>
          <p:cNvSpPr>
            <a:spLocks noGrp="1"/>
          </p:cNvSpPr>
          <p:nvPr>
            <p:ph type="ftr" idx="34"/>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76" name="PlaceHolder 4"/>
          <p:cNvSpPr>
            <a:spLocks noGrp="1"/>
          </p:cNvSpPr>
          <p:nvPr>
            <p:ph type="sldNum" idx="35"/>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F6B03AD0-6C30-4243-AA6A-08FF2398919D}"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77" name="PlaceHolder 5"/>
          <p:cNvSpPr>
            <a:spLocks noGrp="1"/>
          </p:cNvSpPr>
          <p:nvPr>
            <p:ph type="dt" idx="36"/>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標準 4">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ftr" idx="37"/>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79" name="PlaceHolder 2"/>
          <p:cNvSpPr>
            <a:spLocks noGrp="1"/>
          </p:cNvSpPr>
          <p:nvPr>
            <p:ph type="sldNum" idx="38"/>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726B9FF7-6A12-4CF6-A910-6FA6CF68C453}"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80" name="PlaceHolder 3"/>
          <p:cNvSpPr>
            <a:spLocks noGrp="1"/>
          </p:cNvSpPr>
          <p:nvPr>
            <p:ph type="dt" idx="39"/>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
        <p:nvSpPr>
          <p:cNvPr id="81" name="PlaceHolder 4"/>
          <p:cNvSpPr>
            <a:spLocks noGrp="1"/>
          </p:cNvSpPr>
          <p:nvPr>
            <p:ph type="title"/>
          </p:nvPr>
        </p:nvSpPr>
        <p:spPr>
          <a:xfrm>
            <a:off x="609480" y="273600"/>
            <a:ext cx="10970640" cy="1143000"/>
          </a:xfrm>
          <a:prstGeom prst="rect">
            <a:avLst/>
          </a:prstGeom>
          <a:noFill/>
          <a:ln w="0">
            <a:noFill/>
          </a:ln>
        </p:spPr>
        <p:txBody>
          <a:bodyPr lIns="0" rIns="0" tIns="0" bIns="0" anchor="ctr">
            <a:noAutofit/>
          </a:bodyPr>
          <a:p>
            <a:pPr indent="0">
              <a:lnSpc>
                <a:spcPct val="100000"/>
              </a:lnSpc>
              <a:buNone/>
              <a:tabLst>
                <a:tab algn="l" pos="0"/>
              </a:tabLst>
            </a:pPr>
            <a:r>
              <a:rPr b="0" lang="ja-JP" sz="1800" strike="noStrike" u="none">
                <a:solidFill>
                  <a:schemeClr val="dk1"/>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82" name="PlaceHolder 5"/>
          <p:cNvSpPr>
            <a:spLocks noGrp="1"/>
          </p:cNvSpPr>
          <p:nvPr>
            <p:ph type="body"/>
          </p:nvPr>
        </p:nvSpPr>
        <p:spPr>
          <a:xfrm>
            <a:off x="609480" y="1604520"/>
            <a:ext cx="10970640" cy="39754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rgbClr val="000000"/>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rgbClr val="000000"/>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rgbClr val="000000"/>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縦書きタイトルと&#10;縦書きテキスト">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621360"/>
            <a:ext cx="10512000" cy="8110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89" name="PlaceHolder 2"/>
          <p:cNvSpPr>
            <a:spLocks noGrp="1"/>
          </p:cNvSpPr>
          <p:nvPr>
            <p:ph/>
          </p:nvPr>
        </p:nvSpPr>
        <p:spPr>
          <a:xfrm>
            <a:off x="838080" y="1825560"/>
            <a:ext cx="10512000" cy="4347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40"/>
          </p:nvPr>
        </p:nvSpPr>
        <p:spPr/>
        <p:txBody>
          <a:bodyPr/>
          <a:p>
            <a:r>
              <a:t>Footer</a:t>
            </a:r>
          </a:p>
        </p:txBody>
      </p:sp>
      <p:sp>
        <p:nvSpPr>
          <p:cNvPr id="5" name="PlaceHolder 4"/>
          <p:cNvSpPr>
            <a:spLocks noGrp="1"/>
          </p:cNvSpPr>
          <p:nvPr>
            <p:ph type="sldNum" idx="41"/>
          </p:nvPr>
        </p:nvSpPr>
        <p:spPr/>
        <p:txBody>
          <a:bodyPr/>
          <a:p>
            <a:fld id="{06D9E9F0-2BB4-49CD-B4F6-945DFEE52D5B}" type="slidenum">
              <a:t>&lt;#&gt;</a:t>
            </a:fld>
          </a:p>
        </p:txBody>
      </p:sp>
      <p:sp>
        <p:nvSpPr>
          <p:cNvPr id="6" name="PlaceHolder 5"/>
          <p:cNvSpPr>
            <a:spLocks noGrp="1"/>
          </p:cNvSpPr>
          <p:nvPr>
            <p:ph type="dt" idx="42"/>
          </p:nvPr>
        </p:nvSpPr>
        <p:spPr/>
        <p:txBody>
          <a:bodyPr/>
          <a:p>
            <a:r>
              <a:rPr lang="ja-JP"/>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タイトルとコンテンツ">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889560"/>
            <a:ext cx="10512000" cy="274680"/>
          </a:xfrm>
          <a:prstGeom prst="rect">
            <a:avLst/>
          </a:prstGeom>
          <a:noFill/>
          <a:ln w="0">
            <a:noFill/>
          </a:ln>
        </p:spPr>
        <p:txBody>
          <a:bodyPr lIns="0" rIns="0" tIns="0" bIns="0" anchor="ctr">
            <a:spAutoFit/>
          </a:bodyPr>
          <a:p>
            <a:pPr indent="0">
              <a:lnSpc>
                <a:spcPct val="100000"/>
              </a:lnSpc>
              <a:buNone/>
              <a:tabLst>
                <a:tab algn="l" pos="0"/>
              </a:tabLst>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91"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92" name="PlaceHolder 3"/>
          <p:cNvSpPr>
            <a:spLocks noGrp="1"/>
          </p:cNvSpPr>
          <p:nvPr>
            <p:ph type="ftr" idx="43"/>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93" name="PlaceHolder 4"/>
          <p:cNvSpPr>
            <a:spLocks noGrp="1"/>
          </p:cNvSpPr>
          <p:nvPr>
            <p:ph type="sldNum" idx="44"/>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D3F6136D-9D7B-4AC7-866F-63A0FA4028AB}"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94" name="PlaceHolder 5"/>
          <p:cNvSpPr>
            <a:spLocks noGrp="1"/>
          </p:cNvSpPr>
          <p:nvPr>
            <p:ph type="dt" idx="45"/>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標準 5">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889560"/>
            <a:ext cx="10512000" cy="274680"/>
          </a:xfrm>
          <a:prstGeom prst="rect">
            <a:avLst/>
          </a:prstGeom>
          <a:noFill/>
          <a:ln w="0">
            <a:noFill/>
          </a:ln>
        </p:spPr>
        <p:txBody>
          <a:bodyPr lIns="0" rIns="0" tIns="0" bIns="0" anchor="ctr">
            <a:spAutoFit/>
          </a:bodyPr>
          <a:p>
            <a:pPr indent="0">
              <a:lnSpc>
                <a:spcPct val="100000"/>
              </a:lnSpc>
              <a:buNone/>
              <a:tabLst>
                <a:tab algn="l" pos="0"/>
              </a:tabLst>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96"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97" name="PlaceHolder 3"/>
          <p:cNvSpPr>
            <a:spLocks noGrp="1"/>
          </p:cNvSpPr>
          <p:nvPr>
            <p:ph type="ftr" idx="46"/>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98" name="PlaceHolder 4"/>
          <p:cNvSpPr>
            <a:spLocks noGrp="1"/>
          </p:cNvSpPr>
          <p:nvPr>
            <p:ph type="sldNum" idx="47"/>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DD7F1141-815B-43F5-9646-EDF96D6AA797}"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99" name="PlaceHolder 5"/>
          <p:cNvSpPr>
            <a:spLocks noGrp="1"/>
          </p:cNvSpPr>
          <p:nvPr>
            <p:ph type="dt" idx="48"/>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標準 6">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889560"/>
            <a:ext cx="10512000" cy="274680"/>
          </a:xfrm>
          <a:prstGeom prst="rect">
            <a:avLst/>
          </a:prstGeom>
          <a:noFill/>
          <a:ln w="0">
            <a:noFill/>
          </a:ln>
        </p:spPr>
        <p:txBody>
          <a:bodyPr lIns="0" rIns="0" tIns="0" bIns="0" anchor="ctr">
            <a:spAutoFit/>
          </a:bodyPr>
          <a:p>
            <a:pPr indent="0">
              <a:lnSpc>
                <a:spcPct val="100000"/>
              </a:lnSpc>
              <a:buNone/>
              <a:tabLst>
                <a:tab algn="l" pos="0"/>
              </a:tabLst>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101"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102" name="PlaceHolder 3"/>
          <p:cNvSpPr>
            <a:spLocks noGrp="1"/>
          </p:cNvSpPr>
          <p:nvPr>
            <p:ph type="ftr" idx="49"/>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03" name="PlaceHolder 4"/>
          <p:cNvSpPr>
            <a:spLocks noGrp="1"/>
          </p:cNvSpPr>
          <p:nvPr>
            <p:ph type="sldNum" idx="50"/>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3105002A-FD0E-44C3-AE43-F9A216CB6BE7}"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04" name="PlaceHolder 5"/>
          <p:cNvSpPr>
            <a:spLocks noGrp="1"/>
          </p:cNvSpPr>
          <p:nvPr>
            <p:ph type="dt" idx="51"/>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標準 7">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889560"/>
            <a:ext cx="10512000" cy="274680"/>
          </a:xfrm>
          <a:prstGeom prst="rect">
            <a:avLst/>
          </a:prstGeom>
          <a:noFill/>
          <a:ln w="0">
            <a:noFill/>
          </a:ln>
        </p:spPr>
        <p:txBody>
          <a:bodyPr lIns="0" rIns="0" tIns="0" bIns="0" anchor="ctr">
            <a:spAutoFit/>
          </a:bodyPr>
          <a:p>
            <a:pPr indent="0">
              <a:lnSpc>
                <a:spcPct val="100000"/>
              </a:lnSpc>
              <a:buNone/>
              <a:tabLst>
                <a:tab algn="l" pos="0"/>
              </a:tabLst>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106"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107" name="PlaceHolder 3"/>
          <p:cNvSpPr>
            <a:spLocks noGrp="1"/>
          </p:cNvSpPr>
          <p:nvPr>
            <p:ph type="ftr" idx="52"/>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08" name="PlaceHolder 4"/>
          <p:cNvSpPr>
            <a:spLocks noGrp="1"/>
          </p:cNvSpPr>
          <p:nvPr>
            <p:ph type="sldNum" idx="53"/>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21FD44DC-2C56-496A-9452-744FFE918055}"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09" name="PlaceHolder 5"/>
          <p:cNvSpPr>
            <a:spLocks noGrp="1"/>
          </p:cNvSpPr>
          <p:nvPr>
            <p:ph type="dt" idx="54"/>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標準 8">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889560"/>
            <a:ext cx="10512000" cy="274680"/>
          </a:xfrm>
          <a:prstGeom prst="rect">
            <a:avLst/>
          </a:prstGeom>
          <a:noFill/>
          <a:ln w="0">
            <a:noFill/>
          </a:ln>
        </p:spPr>
        <p:txBody>
          <a:bodyPr lIns="0" rIns="0" tIns="0" bIns="0" anchor="ctr">
            <a:spAutoFit/>
          </a:bodyPr>
          <a:p>
            <a:pPr indent="0">
              <a:lnSpc>
                <a:spcPct val="100000"/>
              </a:lnSpc>
              <a:buNone/>
              <a:tabLst>
                <a:tab algn="l" pos="0"/>
              </a:tabLst>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111"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112" name="PlaceHolder 3"/>
          <p:cNvSpPr>
            <a:spLocks noGrp="1"/>
          </p:cNvSpPr>
          <p:nvPr>
            <p:ph type="ftr" idx="55"/>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13" name="PlaceHolder 4"/>
          <p:cNvSpPr>
            <a:spLocks noGrp="1"/>
          </p:cNvSpPr>
          <p:nvPr>
            <p:ph type="sldNum" idx="56"/>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9CE0D1B6-1E60-49C8-8ECB-1F9C021170DB}"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14" name="PlaceHolder 5"/>
          <p:cNvSpPr>
            <a:spLocks noGrp="1"/>
          </p:cNvSpPr>
          <p:nvPr>
            <p:ph type="dt" idx="57"/>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標準 9">
    <p:bg>
      <p:bgPr>
        <a:solidFill>
          <a:srgbClr val="ffffff"/>
        </a:solidFill>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889560"/>
            <a:ext cx="10512000" cy="274680"/>
          </a:xfrm>
          <a:prstGeom prst="rect">
            <a:avLst/>
          </a:prstGeom>
          <a:noFill/>
          <a:ln w="0">
            <a:noFill/>
          </a:ln>
        </p:spPr>
        <p:txBody>
          <a:bodyPr lIns="0" rIns="0" tIns="0" bIns="0" anchor="ctr">
            <a:spAutoFit/>
          </a:bodyPr>
          <a:p>
            <a:pPr indent="0">
              <a:lnSpc>
                <a:spcPct val="100000"/>
              </a:lnSpc>
              <a:buNone/>
              <a:tabLst>
                <a:tab algn="l" pos="0"/>
              </a:tabLst>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116"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117" name="PlaceHolder 3"/>
          <p:cNvSpPr>
            <a:spLocks noGrp="1"/>
          </p:cNvSpPr>
          <p:nvPr>
            <p:ph type="ftr" idx="58"/>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18" name="PlaceHolder 4"/>
          <p:cNvSpPr>
            <a:spLocks noGrp="1"/>
          </p:cNvSpPr>
          <p:nvPr>
            <p:ph type="sldNum" idx="59"/>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060E2155-2F51-4EE0-9E52-AC019F9829E9}"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19" name="PlaceHolder 5"/>
          <p:cNvSpPr>
            <a:spLocks noGrp="1"/>
          </p:cNvSpPr>
          <p:nvPr>
            <p:ph type="dt" idx="60"/>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9">
    <p:bg>
      <p:bgPr>
        <a:solidFill>
          <a:srgbClr val="ffffff"/>
        </a:solid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889560"/>
            <a:ext cx="10512000" cy="274680"/>
          </a:xfrm>
          <a:prstGeom prst="rect">
            <a:avLst/>
          </a:prstGeom>
          <a:noFill/>
          <a:ln w="0">
            <a:noFill/>
          </a:ln>
        </p:spPr>
        <p:txBody>
          <a:bodyPr lIns="0" rIns="0" tIns="0" bIns="0" anchor="ctr">
            <a:spAutoFit/>
          </a:bodyPr>
          <a:p>
            <a:pPr indent="0">
              <a:lnSpc>
                <a:spcPct val="100000"/>
              </a:lnSpc>
              <a:buNone/>
              <a:tabLst>
                <a:tab algn="l" pos="0"/>
              </a:tabLst>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121"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122" name="PlaceHolder 3"/>
          <p:cNvSpPr>
            <a:spLocks noGrp="1"/>
          </p:cNvSpPr>
          <p:nvPr>
            <p:ph type="ftr" idx="61"/>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23" name="PlaceHolder 4"/>
          <p:cNvSpPr>
            <a:spLocks noGrp="1"/>
          </p:cNvSpPr>
          <p:nvPr>
            <p:ph type="sldNum" idx="62"/>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64A6D4CC-A12D-43FB-9BC3-43E20881E226}"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24" name="PlaceHolder 5"/>
          <p:cNvSpPr>
            <a:spLocks noGrp="1"/>
          </p:cNvSpPr>
          <p:nvPr>
            <p:ph type="dt" idx="63"/>
          </p:nvPr>
        </p:nvSpPr>
        <p:spPr>
          <a:xfrm>
            <a:off x="838080" y="6356520"/>
            <a:ext cx="2739600" cy="36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Noto Serif CJK JP"/>
              </a:defRPr>
            </a:lvl1pPr>
          </a:lstStyle>
          <a:p>
            <a:pPr indent="0">
              <a:lnSpc>
                <a:spcPct val="100000"/>
              </a:lnSpc>
              <a:buNone/>
              <a:tabLst>
                <a:tab algn="l" pos="0"/>
              </a:tabLst>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2.xml"/><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1"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2" name="PlaceHolder 3"/>
          <p:cNvSpPr>
            <a:spLocks noGrp="1"/>
          </p:cNvSpPr>
          <p:nvPr>
            <p:ph type="ftr" idx="1"/>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3" name="PlaceHolder 4"/>
          <p:cNvSpPr>
            <a:spLocks noGrp="1"/>
          </p:cNvSpPr>
          <p:nvPr>
            <p:ph type="sldNum" idx="2"/>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C2675DDF-DDB0-48FA-9011-78B7131E724D}"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4" name="PlaceHolder 5"/>
          <p:cNvSpPr>
            <a:spLocks noGrp="1"/>
          </p:cNvSpPr>
          <p:nvPr>
            <p:ph type="dt" idx="3"/>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8"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9" name="PlaceHolder 3"/>
          <p:cNvSpPr>
            <a:spLocks noGrp="1"/>
          </p:cNvSpPr>
          <p:nvPr>
            <p:ph type="ftr" idx="4"/>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0" name="PlaceHolder 4"/>
          <p:cNvSpPr>
            <a:spLocks noGrp="1"/>
          </p:cNvSpPr>
          <p:nvPr>
            <p:ph type="sldNum" idx="5"/>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69DA9F3E-4348-41C0-9621-31723E0E16FD}"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1" name="PlaceHolder 5"/>
          <p:cNvSpPr>
            <a:spLocks noGrp="1"/>
          </p:cNvSpPr>
          <p:nvPr>
            <p:ph type="dt" idx="6"/>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15"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16" name="PlaceHolder 3"/>
          <p:cNvSpPr>
            <a:spLocks noGrp="1"/>
          </p:cNvSpPr>
          <p:nvPr>
            <p:ph type="ftr" idx="7"/>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7" name="PlaceHolder 4"/>
          <p:cNvSpPr>
            <a:spLocks noGrp="1"/>
          </p:cNvSpPr>
          <p:nvPr>
            <p:ph type="sldNum" idx="8"/>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035DFAB8-8859-4BC7-A7A6-D823E874F610}"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8" name="PlaceHolder 5"/>
          <p:cNvSpPr>
            <a:spLocks noGrp="1"/>
          </p:cNvSpPr>
          <p:nvPr>
            <p:ph type="dt" idx="9"/>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22"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23" name="PlaceHolder 3"/>
          <p:cNvSpPr>
            <a:spLocks noGrp="1"/>
          </p:cNvSpPr>
          <p:nvPr>
            <p:ph type="ftr" idx="10"/>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24" name="PlaceHolder 4"/>
          <p:cNvSpPr>
            <a:spLocks noGrp="1"/>
          </p:cNvSpPr>
          <p:nvPr>
            <p:ph type="sldNum" idx="11"/>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AC764E90-1D98-4D29-9068-93FF9538F84D}"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25" name="PlaceHolder 5"/>
          <p:cNvSpPr>
            <a:spLocks noGrp="1"/>
          </p:cNvSpPr>
          <p:nvPr>
            <p:ph type="dt" idx="12"/>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29"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30" name="PlaceHolder 3"/>
          <p:cNvSpPr>
            <a:spLocks noGrp="1"/>
          </p:cNvSpPr>
          <p:nvPr>
            <p:ph type="ftr" idx="13"/>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31" name="PlaceHolder 4"/>
          <p:cNvSpPr>
            <a:spLocks noGrp="1"/>
          </p:cNvSpPr>
          <p:nvPr>
            <p:ph type="sldNum" idx="14"/>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5DA836FD-8D08-471F-94E1-1DA17D53F917}"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32" name="PlaceHolder 5"/>
          <p:cNvSpPr>
            <a:spLocks noGrp="1"/>
          </p:cNvSpPr>
          <p:nvPr>
            <p:ph type="dt" idx="15"/>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36"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37" name="PlaceHolder 3"/>
          <p:cNvSpPr>
            <a:spLocks noGrp="1"/>
          </p:cNvSpPr>
          <p:nvPr>
            <p:ph type="ftr" idx="16"/>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38" name="PlaceHolder 4"/>
          <p:cNvSpPr>
            <a:spLocks noGrp="1"/>
          </p:cNvSpPr>
          <p:nvPr>
            <p:ph type="sldNum" idx="17"/>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DA44BC32-BD2C-4840-8EB1-0602355077D9}"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39" name="PlaceHolder 5"/>
          <p:cNvSpPr>
            <a:spLocks noGrp="1"/>
          </p:cNvSpPr>
          <p:nvPr>
            <p:ph type="dt" idx="18"/>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2"/>
    <p:sldLayoutId id="2147483662"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53"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54" name="PlaceHolder 3"/>
          <p:cNvSpPr>
            <a:spLocks noGrp="1"/>
          </p:cNvSpPr>
          <p:nvPr>
            <p:ph type="ftr" idx="25"/>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55" name="PlaceHolder 4"/>
          <p:cNvSpPr>
            <a:spLocks noGrp="1"/>
          </p:cNvSpPr>
          <p:nvPr>
            <p:ph type="sldNum" idx="26"/>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C40F7E40-D54E-4E6C-AF46-B897E62A6F46}"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56" name="PlaceHolder 5"/>
          <p:cNvSpPr>
            <a:spLocks noGrp="1"/>
          </p:cNvSpPr>
          <p:nvPr>
            <p:ph type="dt" idx="27"/>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4"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60"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61" name="PlaceHolder 3"/>
          <p:cNvSpPr>
            <a:spLocks noGrp="1"/>
          </p:cNvSpPr>
          <p:nvPr>
            <p:ph type="ftr" idx="28"/>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62" name="PlaceHolder 4"/>
          <p:cNvSpPr>
            <a:spLocks noGrp="1"/>
          </p:cNvSpPr>
          <p:nvPr>
            <p:ph type="sldNum" idx="29"/>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FA17F829-EC97-4DDB-BE29-3416D48AD344}"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63" name="PlaceHolder 5"/>
          <p:cNvSpPr>
            <a:spLocks noGrp="1"/>
          </p:cNvSpPr>
          <p:nvPr>
            <p:ph type="dt" idx="30"/>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6"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67"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68" name="PlaceHolder 3"/>
          <p:cNvSpPr>
            <a:spLocks noGrp="1"/>
          </p:cNvSpPr>
          <p:nvPr>
            <p:ph type="ftr" idx="31"/>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69" name="PlaceHolder 4"/>
          <p:cNvSpPr>
            <a:spLocks noGrp="1"/>
          </p:cNvSpPr>
          <p:nvPr>
            <p:ph type="sldNum" idx="32"/>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54B0B6B6-44D2-4C59-94ED-0197D0E2CFD5}"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70" name="PlaceHolder 5"/>
          <p:cNvSpPr>
            <a:spLocks noGrp="1"/>
          </p:cNvSpPr>
          <p:nvPr>
            <p:ph type="dt" idx="33"/>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8"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2"/>
    <p:sldLayoutId id="2147483671"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691200"/>
            <a:ext cx="10512000" cy="670680"/>
          </a:xfrm>
          <a:prstGeom prst="rect">
            <a:avLst/>
          </a:prstGeom>
          <a:noFill/>
          <a:ln w="0">
            <a:noFill/>
          </a:ln>
        </p:spPr>
        <p:txBody>
          <a:bodyPr lIns="0" rIns="0" tIns="0" bIns="0" anchor="ctr">
            <a:spAutoFit/>
          </a:bodyPr>
          <a:p>
            <a:pPr indent="0">
              <a:buNone/>
            </a:pPr>
            <a:r>
              <a:rPr b="0" lang="ja-JP" sz="1800" strike="noStrike" u="none">
                <a:solidFill>
                  <a:srgbClr val="000000"/>
                </a:solidFill>
                <a:effectLst/>
                <a:uFillTx/>
                <a:latin typeface="Arial"/>
              </a:rPr>
              <a:t>クリックしてタイトルテキストを編集</a:t>
            </a:r>
            <a:endParaRPr b="0" lang="en-US" sz="1800" strike="noStrike" u="none">
              <a:solidFill>
                <a:srgbClr val="000000"/>
              </a:solidFill>
              <a:effectLst/>
              <a:uFillTx/>
              <a:latin typeface="Arial"/>
            </a:endParaRPr>
          </a:p>
        </p:txBody>
      </p:sp>
      <p:sp>
        <p:nvSpPr>
          <p:cNvPr id="84" name="PlaceHolder 2"/>
          <p:cNvSpPr>
            <a:spLocks noGrp="1"/>
          </p:cNvSpPr>
          <p:nvPr>
            <p:ph type="body"/>
          </p:nvPr>
        </p:nvSpPr>
        <p:spPr>
          <a:xfrm>
            <a:off x="838080" y="1825560"/>
            <a:ext cx="10512000" cy="4347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1800" strike="noStrike" u="none">
                <a:solidFill>
                  <a:srgbClr val="000000"/>
                </a:solidFill>
                <a:effectLst/>
                <a:uFillTx/>
                <a:latin typeface="Arial"/>
              </a:rPr>
              <a:t>クリックしてアウトラインのテキストを編集</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2</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3</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4</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5</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6</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ja-JP" sz="1800" strike="noStrike" u="none">
                <a:solidFill>
                  <a:srgbClr val="000000"/>
                </a:solidFill>
                <a:effectLst/>
                <a:uFillTx/>
                <a:latin typeface="Arial"/>
              </a:rPr>
              <a:t>第</a:t>
            </a:r>
            <a:r>
              <a:rPr b="0" lang="en-US" sz="1800" strike="noStrike" u="none">
                <a:solidFill>
                  <a:srgbClr val="000000"/>
                </a:solidFill>
                <a:effectLst/>
                <a:uFillTx/>
                <a:latin typeface="Arial"/>
              </a:rPr>
              <a:t>7</a:t>
            </a:r>
            <a:r>
              <a:rPr b="0" lang="ja-JP" sz="1800" strike="noStrike" u="none">
                <a:solidFill>
                  <a:srgbClr val="000000"/>
                </a:solidFill>
                <a:effectLst/>
                <a:uFillTx/>
                <a:latin typeface="Arial"/>
              </a:rPr>
              <a:t>レベル アウトライン</a:t>
            </a:r>
            <a:endParaRPr b="0" lang="en-US" sz="1800" strike="noStrike" u="none">
              <a:solidFill>
                <a:srgbClr val="000000"/>
              </a:solidFill>
              <a:effectLst/>
              <a:uFillTx/>
              <a:latin typeface="Arial"/>
            </a:endParaRPr>
          </a:p>
        </p:txBody>
      </p:sp>
      <p:sp>
        <p:nvSpPr>
          <p:cNvPr id="85" name="PlaceHolder 3"/>
          <p:cNvSpPr>
            <a:spLocks noGrp="1"/>
          </p:cNvSpPr>
          <p:nvPr>
            <p:ph type="ftr" idx="40"/>
          </p:nvPr>
        </p:nvSpPr>
        <p:spPr>
          <a:xfrm>
            <a:off x="4038480" y="6356520"/>
            <a:ext cx="4111200" cy="36144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86" name="PlaceHolder 4"/>
          <p:cNvSpPr>
            <a:spLocks noGrp="1"/>
          </p:cNvSpPr>
          <p:nvPr>
            <p:ph type="sldNum" idx="41"/>
          </p:nvPr>
        </p:nvSpPr>
        <p:spPr>
          <a:xfrm>
            <a:off x="8610480" y="6356520"/>
            <a:ext cx="2739600" cy="36144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8E123995-3DF0-4633-A33A-84D82461DC37}"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87" name="PlaceHolder 5"/>
          <p:cNvSpPr>
            <a:spLocks noGrp="1"/>
          </p:cNvSpPr>
          <p:nvPr>
            <p:ph type="dt" idx="42"/>
          </p:nvPr>
        </p:nvSpPr>
        <p:spPr>
          <a:xfrm>
            <a:off x="838080" y="6356520"/>
            <a:ext cx="2739600" cy="3614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73"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hyperlink" Target="https://ai.google.dev/edge/mediapipe/solutions/vision/hand_landmarker?hl=ja" TargetMode="External"/><Relationship Id="rId4" Type="http://schemas.openxmlformats.org/officeDocument/2006/relationships/hyperlink" Target="https://ai.google.dev/edge/mediapipe/solutions/vision/hand_landmarker?hl=ja" TargetMode="External"/><Relationship Id="rId5" Type="http://schemas.openxmlformats.org/officeDocument/2006/relationships/slideLayout" Target="../slideLayouts/slideLayout2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2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21.xml"/><Relationship Id="rId7"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21.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2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1523880" y="1392840"/>
            <a:ext cx="9140400" cy="2383920"/>
          </a:xfrm>
          <a:prstGeom prst="rect">
            <a:avLst/>
          </a:prstGeom>
          <a:noFill/>
          <a:ln w="0">
            <a:noFill/>
          </a:ln>
        </p:spPr>
        <p:txBody>
          <a:bodyPr lIns="91440" rIns="91440" tIns="45720" bIns="45720" anchor="b">
            <a:normAutofit/>
          </a:bodyPr>
          <a:p>
            <a:pPr indent="0" algn="ctr" defTabSz="914400">
              <a:lnSpc>
                <a:spcPct val="90000"/>
              </a:lnSpc>
              <a:buNone/>
              <a:tabLst>
                <a:tab algn="l" pos="0"/>
              </a:tabLst>
            </a:pPr>
            <a:r>
              <a:rPr b="0" lang="ja-JP" sz="4800" strike="noStrike" u="none">
                <a:solidFill>
                  <a:schemeClr val="dk1"/>
                </a:solidFill>
                <a:effectLst/>
                <a:uFillTx/>
                <a:latin typeface="ＭＳ Ｐゴシック"/>
                <a:ea typeface="ＭＳ Ｐゴシック"/>
              </a:rPr>
              <a:t>両眼カメラによる</a:t>
            </a:r>
            <a:r>
              <a:rPr b="0" lang="en-US" sz="4800" strike="noStrike" u="none">
                <a:solidFill>
                  <a:schemeClr val="dk1"/>
                </a:solidFill>
                <a:effectLst/>
                <a:uFillTx/>
                <a:latin typeface="ＭＳ Ｐゴシック"/>
                <a:ea typeface="ＭＳ Ｐゴシック"/>
              </a:rPr>
              <a:t>MediaPipe Hand Landmarker</a:t>
            </a:r>
            <a:r>
              <a:rPr b="0" lang="ja-JP" sz="4800" strike="noStrike" u="none">
                <a:solidFill>
                  <a:schemeClr val="dk1"/>
                </a:solidFill>
                <a:effectLst/>
                <a:uFillTx/>
                <a:latin typeface="ＭＳ Ｐゴシック"/>
                <a:ea typeface="ＭＳ Ｐゴシック"/>
              </a:rPr>
              <a:t>タスクの精度向上</a:t>
            </a:r>
            <a:endParaRPr b="0" lang="en-US" sz="4800" strike="noStrike" u="none">
              <a:solidFill>
                <a:srgbClr val="000000"/>
              </a:solidFill>
              <a:effectLst/>
              <a:uFillTx/>
              <a:latin typeface="Arial"/>
            </a:endParaRPr>
          </a:p>
        </p:txBody>
      </p:sp>
      <p:sp>
        <p:nvSpPr>
          <p:cNvPr id="132" name="PlaceHolder 2"/>
          <p:cNvSpPr>
            <a:spLocks noGrp="1"/>
          </p:cNvSpPr>
          <p:nvPr>
            <p:ph type="subTitle"/>
          </p:nvPr>
        </p:nvSpPr>
        <p:spPr>
          <a:xfrm>
            <a:off x="1523880" y="4320000"/>
            <a:ext cx="9140400" cy="1652040"/>
          </a:xfrm>
          <a:prstGeom prst="rect">
            <a:avLst/>
          </a:prstGeom>
          <a:noFill/>
          <a:ln w="0">
            <a:noFill/>
          </a:ln>
        </p:spPr>
        <p:txBody>
          <a:bodyPr lIns="91440" rIns="91440" tIns="45720" bIns="45720" anchor="t">
            <a:normAutofit/>
          </a:bodyPr>
          <a:p>
            <a:pPr marL="228600" indent="0" algn="ctr"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箕浦研究室　</a:t>
            </a:r>
            <a:r>
              <a:rPr b="0" lang="en-US" sz="3200" strike="noStrike" u="none">
                <a:solidFill>
                  <a:schemeClr val="dk1"/>
                </a:solidFill>
                <a:effectLst/>
                <a:uFillTx/>
                <a:latin typeface="ＭＳ Ｐゴシック"/>
                <a:ea typeface="ＭＳ Ｐゴシック"/>
              </a:rPr>
              <a:t>5I25 </a:t>
            </a:r>
            <a:r>
              <a:rPr b="0" lang="ja-JP" sz="3200" strike="noStrike" u="none">
                <a:solidFill>
                  <a:schemeClr val="dk1"/>
                </a:solidFill>
                <a:effectLst/>
                <a:uFillTx/>
                <a:latin typeface="ＭＳ Ｐゴシック"/>
                <a:ea typeface="ＭＳ Ｐゴシック"/>
              </a:rPr>
              <a:t>萩 郁人</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Aptos Display"/>
                <a:ea typeface="DejaVu Sans"/>
              </a:rPr>
              <a:t>背景</a:t>
            </a:r>
            <a:endParaRPr b="0" lang="en-US" sz="4400" strike="noStrike" u="none">
              <a:solidFill>
                <a:srgbClr val="000000"/>
              </a:solidFill>
              <a:effectLst/>
              <a:uFillTx/>
              <a:latin typeface="Arial"/>
            </a:endParaRPr>
          </a:p>
        </p:txBody>
      </p:sp>
      <p:sp>
        <p:nvSpPr>
          <p:cNvPr id="134" name="PlaceHolder 2"/>
          <p:cNvSpPr>
            <a:spLocks noGrp="1"/>
          </p:cNvSpPr>
          <p:nvPr>
            <p:ph/>
          </p:nvPr>
        </p:nvSpPr>
        <p:spPr>
          <a:xfrm>
            <a:off x="838080" y="1825560"/>
            <a:ext cx="10512000" cy="4347720"/>
          </a:xfrm>
          <a:prstGeom prst="rect">
            <a:avLst/>
          </a:prstGeom>
          <a:noFill/>
          <a:ln w="0">
            <a:noFill/>
          </a:ln>
        </p:spPr>
        <p:txBody>
          <a:bodyPr lIns="91440" rIns="91440" tIns="45720" bIns="45720" anchor="t" anchorCtr="1">
            <a:noAutofit/>
          </a:bodyPr>
          <a:p>
            <a:pPr indent="0" defTabSz="914400">
              <a:lnSpc>
                <a:spcPct val="90000"/>
              </a:lnSpc>
              <a:spcBef>
                <a:spcPts val="1001"/>
              </a:spcBef>
              <a:buNone/>
              <a:tabLst>
                <a:tab algn="l" pos="0"/>
              </a:tabLst>
            </a:pPr>
            <a:r>
              <a:rPr b="0" lang="ja-JP" sz="2800" strike="noStrike" u="none">
                <a:solidFill>
                  <a:schemeClr val="dk1"/>
                </a:solidFill>
                <a:effectLst/>
                <a:uFillTx/>
                <a:latin typeface="Aptos"/>
                <a:ea typeface="DejaVu Sans"/>
              </a:rPr>
              <a:t>タイピングにおいてホームポジションに則った入力はタイピング速度の向上やタイプミスの減少などが期待できる。</a:t>
            </a: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r>
              <a:rPr b="0" lang="ja-JP" sz="2800" strike="noStrike" u="none">
                <a:solidFill>
                  <a:schemeClr val="dk1"/>
                </a:solidFill>
                <a:effectLst/>
                <a:uFillTx/>
                <a:latin typeface="Aptos"/>
                <a:ea typeface="DejaVu Sans"/>
              </a:rPr>
              <a:t>しかし、現在のタイピング練習ソフトでは入力の速度や正確さを測定するのみで、正しい入力方法かどうかは判定できない。</a:t>
            </a: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r>
              <a:rPr b="0" lang="en-US" sz="2800" strike="noStrike" u="none">
                <a:solidFill>
                  <a:schemeClr val="dk1"/>
                </a:solidFill>
                <a:effectLst/>
                <a:uFillTx/>
                <a:latin typeface="Aptos"/>
                <a:ea typeface="DejaVu Sans"/>
              </a:rPr>
              <a:t>→入力を行う手やキーボードの映像から正しい入力が行われているか判定するシステムを開発する。</a:t>
            </a: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722520"/>
            <a:ext cx="10512000" cy="606960"/>
          </a:xfrm>
          <a:prstGeom prst="rect">
            <a:avLst/>
          </a:prstGeom>
          <a:noFill/>
          <a:ln w="0">
            <a:noFill/>
          </a:ln>
        </p:spPr>
        <p:txBody>
          <a:bodyPr lIns="0" rIns="0" tIns="0" bIns="0" anchor="ctr">
            <a:noAutofit/>
          </a:bodyPr>
          <a:p>
            <a:pPr indent="0" defTabSz="914400">
              <a:lnSpc>
                <a:spcPct val="90000"/>
              </a:lnSpc>
              <a:buNone/>
              <a:tabLst>
                <a:tab algn="l" pos="0"/>
              </a:tabLst>
            </a:pPr>
            <a:r>
              <a:rPr b="0" lang="ja-JP" sz="4400" strike="noStrike" u="none">
                <a:solidFill>
                  <a:schemeClr val="dk1"/>
                </a:solidFill>
                <a:effectLst/>
                <a:uFillTx/>
                <a:latin typeface="Arial"/>
                <a:ea typeface="DejaVu Sans"/>
              </a:rPr>
              <a:t>システム概要</a:t>
            </a:r>
            <a:endParaRPr b="0" lang="en-US" sz="4400" strike="noStrike" u="none">
              <a:solidFill>
                <a:srgbClr val="000000"/>
              </a:solidFill>
              <a:effectLst/>
              <a:uFillTx/>
              <a:latin typeface="Arial"/>
            </a:endParaRPr>
          </a:p>
        </p:txBody>
      </p:sp>
      <p:pic>
        <p:nvPicPr>
          <p:cNvPr id="136" name="コンテンツ プレースホルダー 4" descr="テーブル が含まれている画像&#10;&#10;AI 生成コンテンツは誤りを含む可能性があります。"/>
          <p:cNvPicPr/>
          <p:nvPr/>
        </p:nvPicPr>
        <p:blipFill>
          <a:blip r:embed="rId1"/>
          <a:stretch/>
        </p:blipFill>
        <p:spPr>
          <a:xfrm>
            <a:off x="5068080" y="416160"/>
            <a:ext cx="5726160" cy="3644640"/>
          </a:xfrm>
          <a:prstGeom prst="rect">
            <a:avLst/>
          </a:prstGeom>
          <a:noFill/>
          <a:ln w="0">
            <a:noFill/>
          </a:ln>
        </p:spPr>
      </p:pic>
      <p:sp>
        <p:nvSpPr>
          <p:cNvPr id="137" name="テキスト ボックス 6"/>
          <p:cNvSpPr/>
          <p:nvPr/>
        </p:nvSpPr>
        <p:spPr>
          <a:xfrm>
            <a:off x="838080" y="4533120"/>
            <a:ext cx="11085480" cy="155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200" strike="noStrike" u="none">
                <a:solidFill>
                  <a:schemeClr val="dk1"/>
                </a:solidFill>
                <a:effectLst/>
                <a:uFillTx/>
                <a:latin typeface="Arial"/>
                <a:ea typeface="DejaVu Sans"/>
              </a:rPr>
              <a:t>①</a:t>
            </a:r>
            <a:r>
              <a:rPr b="0" lang="ja-JP" sz="3200" strike="noStrike" u="sng">
                <a:solidFill>
                  <a:schemeClr val="dk1"/>
                </a:solidFill>
                <a:effectLst/>
                <a:uFillTx/>
                <a:latin typeface="Arial"/>
                <a:ea typeface="DejaVu Sans"/>
              </a:rPr>
              <a:t>カメラの映像から指先の座標を推定（担当）</a:t>
            </a:r>
            <a:endParaRPr b="0" lang="en-US" sz="3200" strike="noStrike" u="none">
              <a:solidFill>
                <a:srgbClr val="000000"/>
              </a:solidFill>
              <a:effectLst/>
              <a:uFillTx/>
              <a:latin typeface="Arial"/>
            </a:endParaRPr>
          </a:p>
          <a:p>
            <a:pPr defTabSz="914400">
              <a:lnSpc>
                <a:spcPct val="100000"/>
              </a:lnSpc>
            </a:pPr>
            <a:r>
              <a:rPr b="0" lang="en-US" sz="3200" strike="noStrike" u="none">
                <a:solidFill>
                  <a:schemeClr val="dk1"/>
                </a:solidFill>
                <a:effectLst/>
                <a:uFillTx/>
                <a:latin typeface="Arial"/>
                <a:ea typeface="DejaVu Sans"/>
              </a:rPr>
              <a:t>②指先の座標をキーボード基準の座標に変換</a:t>
            </a:r>
            <a:endParaRPr b="0" lang="en-US" sz="3200" strike="noStrike" u="none">
              <a:solidFill>
                <a:srgbClr val="000000"/>
              </a:solidFill>
              <a:effectLst/>
              <a:uFillTx/>
              <a:latin typeface="Arial"/>
            </a:endParaRPr>
          </a:p>
          <a:p>
            <a:pPr defTabSz="914400">
              <a:lnSpc>
                <a:spcPct val="100000"/>
              </a:lnSpc>
            </a:pPr>
            <a:r>
              <a:rPr b="0" lang="en-US" sz="3200" strike="noStrike" u="none">
                <a:solidFill>
                  <a:schemeClr val="dk1"/>
                </a:solidFill>
                <a:effectLst/>
                <a:uFillTx/>
                <a:latin typeface="Arial"/>
                <a:ea typeface="DejaVu Sans"/>
              </a:rPr>
              <a:t>③同一座標系にある指先座標とキー座標から入力を判定</a:t>
            </a:r>
            <a:endParaRPr b="0" lang="en-US" sz="3200" strike="noStrike" u="none">
              <a:solidFill>
                <a:srgbClr val="000000"/>
              </a:solidFill>
              <a:effectLst/>
              <a:uFillTx/>
              <a:latin typeface="Arial"/>
            </a:endParaRPr>
          </a:p>
        </p:txBody>
      </p:sp>
      <p:sp>
        <p:nvSpPr>
          <p:cNvPr id="138" name="テキスト ボックス 7"/>
          <p:cNvSpPr/>
          <p:nvPr/>
        </p:nvSpPr>
        <p:spPr>
          <a:xfrm>
            <a:off x="8957520" y="559800"/>
            <a:ext cx="544680" cy="577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3200" strike="noStrike" u="none">
                <a:solidFill>
                  <a:schemeClr val="dk1"/>
                </a:solidFill>
                <a:effectLst/>
                <a:uFillTx/>
                <a:latin typeface="Arial"/>
                <a:ea typeface="DejaVu Sans"/>
              </a:rPr>
              <a:t>①</a:t>
            </a:r>
            <a:endParaRPr b="0" lang="en-US" sz="3200" strike="noStrike" u="none">
              <a:solidFill>
                <a:srgbClr val="000000"/>
              </a:solidFill>
              <a:effectLst/>
              <a:uFillTx/>
              <a:latin typeface="Arial"/>
            </a:endParaRPr>
          </a:p>
        </p:txBody>
      </p:sp>
      <p:sp>
        <p:nvSpPr>
          <p:cNvPr id="139" name="テキスト ボックス 9"/>
          <p:cNvSpPr/>
          <p:nvPr/>
        </p:nvSpPr>
        <p:spPr>
          <a:xfrm>
            <a:off x="4511880" y="3421080"/>
            <a:ext cx="477360" cy="57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200" strike="noStrike" u="none">
                <a:solidFill>
                  <a:schemeClr val="dk1"/>
                </a:solidFill>
                <a:effectLst/>
                <a:uFillTx/>
                <a:latin typeface="Arial"/>
                <a:ea typeface="DejaVu Sans"/>
              </a:rPr>
              <a:t>②</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ＭＳ Ｐゴシック"/>
                <a:ea typeface="ＭＳ Ｐゴシック"/>
              </a:rPr>
              <a:t> MediaPipe Hand Landmarker</a:t>
            </a:r>
            <a:r>
              <a:rPr b="0" lang="ja-JP" sz="4400" strike="noStrike" u="none">
                <a:solidFill>
                  <a:schemeClr val="dk1"/>
                </a:solidFill>
                <a:effectLst/>
                <a:uFillTx/>
                <a:latin typeface="ＭＳ Ｐゴシック"/>
                <a:ea typeface="ＭＳ Ｐゴシック"/>
              </a:rPr>
              <a:t>について</a:t>
            </a:r>
            <a:endParaRPr b="0" lang="en-US" sz="4400" strike="noStrike" u="none">
              <a:solidFill>
                <a:srgbClr val="000000"/>
              </a:solidFill>
              <a:effectLst/>
              <a:uFillTx/>
              <a:latin typeface="Arial"/>
            </a:endParaRPr>
          </a:p>
        </p:txBody>
      </p:sp>
      <p:sp>
        <p:nvSpPr>
          <p:cNvPr id="141" name="PlaceHolder 2"/>
          <p:cNvSpPr>
            <a:spLocks noGrp="1"/>
          </p:cNvSpPr>
          <p:nvPr>
            <p:ph/>
          </p:nvPr>
        </p:nvSpPr>
        <p:spPr>
          <a:xfrm>
            <a:off x="838080" y="1690200"/>
            <a:ext cx="10512000" cy="43477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ＭＳ Ｐゴシック"/>
                <a:ea typeface="ＭＳ Ｐゴシック"/>
              </a:rPr>
              <a:t>MediaPipe</a:t>
            </a:r>
            <a:r>
              <a:rPr b="0" lang="ja-JP" sz="3200" strike="noStrike" u="none">
                <a:solidFill>
                  <a:schemeClr val="dk1"/>
                </a:solidFill>
                <a:effectLst/>
                <a:uFillTx/>
                <a:latin typeface="ＭＳ Ｐゴシック"/>
                <a:ea typeface="ＭＳ Ｐゴシック"/>
              </a:rPr>
              <a:t>とは、</a:t>
            </a:r>
            <a:r>
              <a:rPr b="0" lang="en-US" sz="3200" strike="noStrike" u="none">
                <a:solidFill>
                  <a:schemeClr val="dk1"/>
                </a:solidFill>
                <a:effectLst/>
                <a:uFillTx/>
                <a:latin typeface="ＭＳ Ｐゴシック"/>
                <a:ea typeface="ＭＳ Ｐゴシック"/>
              </a:rPr>
              <a:t>Google</a:t>
            </a:r>
            <a:r>
              <a:rPr b="0" lang="ja-JP" sz="3200" strike="noStrike" u="none">
                <a:solidFill>
                  <a:schemeClr val="dk1"/>
                </a:solidFill>
                <a:effectLst/>
                <a:uFillTx/>
                <a:latin typeface="ＭＳ Ｐゴシック"/>
                <a:ea typeface="ＭＳ Ｐゴシック"/>
              </a:rPr>
              <a:t>社が提供するライブメディア処理のためのオープンソース機械学習ソリューション</a:t>
            </a:r>
            <a:endParaRPr b="0" lang="en-US" sz="32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ＭＳ Ｐゴシック"/>
                <a:ea typeface="ＭＳ Ｐゴシック"/>
              </a:rPr>
              <a:t>Hand Landmarker</a:t>
            </a:r>
            <a:r>
              <a:rPr b="0" lang="ja-JP" sz="3200" strike="noStrike" u="none">
                <a:solidFill>
                  <a:schemeClr val="dk1"/>
                </a:solidFill>
                <a:effectLst/>
                <a:uFillTx/>
                <a:latin typeface="ＭＳ Ｐゴシック"/>
                <a:ea typeface="ＭＳ Ｐゴシック"/>
              </a:rPr>
              <a:t>は手の位置と</a:t>
            </a:r>
            <a:r>
              <a:rPr b="0" lang="en-US" sz="3200" strike="noStrike" u="none">
                <a:solidFill>
                  <a:schemeClr val="dk1"/>
                </a:solidFill>
                <a:effectLst/>
                <a:uFillTx/>
                <a:latin typeface="ＭＳ Ｐゴシック"/>
                <a:ea typeface="ＭＳ Ｐゴシック"/>
              </a:rPr>
              <a:t>21</a:t>
            </a:r>
            <a:r>
              <a:rPr b="0" lang="ja-JP" sz="3200" strike="noStrike" u="none">
                <a:solidFill>
                  <a:schemeClr val="dk1"/>
                </a:solidFill>
                <a:effectLst/>
                <a:uFillTx/>
                <a:latin typeface="ＭＳ Ｐゴシック"/>
                <a:ea typeface="ＭＳ Ｐゴシック"/>
              </a:rPr>
              <a:t>個のランドマーク</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関節点</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をリアルタイムに推定</a:t>
            </a:r>
            <a:endParaRPr b="0" lang="en-US" sz="3200" strike="noStrike" u="none">
              <a:solidFill>
                <a:srgbClr val="000000"/>
              </a:solidFill>
              <a:effectLst/>
              <a:uFillTx/>
              <a:latin typeface="Arial"/>
            </a:endParaRPr>
          </a:p>
        </p:txBody>
      </p:sp>
      <p:pic>
        <p:nvPicPr>
          <p:cNvPr id="142" name="図 8" descr="歯ブラシを持っている手&#10;&#10;AI 生成コンテンツは誤りを含む可能性があります。"/>
          <p:cNvPicPr/>
          <p:nvPr/>
        </p:nvPicPr>
        <p:blipFill>
          <a:blip r:embed="rId1"/>
          <a:stretch/>
        </p:blipFill>
        <p:spPr>
          <a:xfrm>
            <a:off x="6863040" y="3735000"/>
            <a:ext cx="3978360" cy="2228400"/>
          </a:xfrm>
          <a:prstGeom prst="rect">
            <a:avLst/>
          </a:prstGeom>
          <a:noFill/>
          <a:ln w="0">
            <a:noFill/>
          </a:ln>
        </p:spPr>
      </p:pic>
      <p:pic>
        <p:nvPicPr>
          <p:cNvPr id="143" name="図 10" descr="グラフ&#10;&#10;AI 生成コンテンツは誤りを含む可能性があります。"/>
          <p:cNvPicPr/>
          <p:nvPr/>
        </p:nvPicPr>
        <p:blipFill>
          <a:blip r:embed="rId2"/>
          <a:stretch/>
        </p:blipFill>
        <p:spPr>
          <a:xfrm>
            <a:off x="3444480" y="3713040"/>
            <a:ext cx="2647800" cy="2272320"/>
          </a:xfrm>
          <a:prstGeom prst="rect">
            <a:avLst/>
          </a:prstGeom>
          <a:noFill/>
          <a:ln w="0">
            <a:noFill/>
          </a:ln>
        </p:spPr>
      </p:pic>
      <p:sp>
        <p:nvSpPr>
          <p:cNvPr id="144" name="テキスト ボックス 11"/>
          <p:cNvSpPr/>
          <p:nvPr/>
        </p:nvSpPr>
        <p:spPr>
          <a:xfrm>
            <a:off x="1260000" y="6206040"/>
            <a:ext cx="8816760" cy="40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ja-JP" sz="2100" strike="noStrike" u="none">
                <a:solidFill>
                  <a:schemeClr val="dk1"/>
                </a:solidFill>
                <a:effectLst/>
                <a:uFillTx/>
                <a:latin typeface="ＭＳ Ｐゴシック"/>
                <a:ea typeface="ＭＳ Ｐゴシック"/>
              </a:rPr>
              <a:t>画像出典：</a:t>
            </a:r>
            <a:r>
              <a:rPr b="0" lang="ja-JP" sz="2100" strike="noStrike" u="sng">
                <a:solidFill>
                  <a:schemeClr val="dk1"/>
                </a:solidFill>
                <a:effectLst/>
                <a:uFillTx/>
                <a:latin typeface="ＭＳ Ｐゴシック"/>
                <a:ea typeface="ＭＳ Ｐゴシック"/>
                <a:hlinkClick r:id="rId3"/>
              </a:rPr>
              <a:t>手のランドマーク検出ガイド </a:t>
            </a:r>
            <a:r>
              <a:rPr b="0" lang="en-US" sz="2100" strike="noStrike" u="sng">
                <a:solidFill>
                  <a:schemeClr val="dk1"/>
                </a:solidFill>
                <a:effectLst/>
                <a:uFillTx/>
                <a:latin typeface="ＭＳ Ｐゴシック"/>
                <a:ea typeface="ＭＳ Ｐゴシック"/>
                <a:hlinkClick r:id="rId4"/>
              </a:rPr>
              <a:t>| Google AI Edge</a:t>
            </a:r>
            <a:endParaRPr b="0" lang="en-U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先行研究の課題</a:t>
            </a:r>
            <a:endParaRPr b="0" lang="en-US" sz="4400" strike="noStrike" u="none">
              <a:solidFill>
                <a:srgbClr val="000000"/>
              </a:solidFill>
              <a:effectLst/>
              <a:uFillTx/>
              <a:latin typeface="Arial"/>
            </a:endParaRPr>
          </a:p>
        </p:txBody>
      </p:sp>
      <p:sp>
        <p:nvSpPr>
          <p:cNvPr id="146" name="PlaceHolder 2"/>
          <p:cNvSpPr>
            <a:spLocks noGrp="1"/>
          </p:cNvSpPr>
          <p:nvPr>
            <p:ph/>
          </p:nvPr>
        </p:nvSpPr>
        <p:spPr>
          <a:xfrm>
            <a:off x="824760" y="1589040"/>
            <a:ext cx="10512000" cy="43477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a:t>
            </a:r>
            <a:r>
              <a:rPr b="0" lang="en-US" sz="3200" strike="noStrike" u="none">
                <a:solidFill>
                  <a:schemeClr val="dk1"/>
                </a:solidFill>
                <a:effectLst/>
                <a:uFillTx/>
                <a:latin typeface="ＭＳ Ｐゴシック"/>
                <a:ea typeface="ＭＳ Ｐゴシック"/>
              </a:rPr>
              <a:t>Media Pipe Hand Landmarker</a:t>
            </a:r>
            <a:r>
              <a:rPr b="0" lang="ja-JP" sz="3200" strike="noStrike" u="none">
                <a:solidFill>
                  <a:schemeClr val="dk1"/>
                </a:solidFill>
                <a:effectLst/>
                <a:uFillTx/>
                <a:latin typeface="ＭＳ Ｐゴシック"/>
                <a:ea typeface="ＭＳ Ｐゴシック"/>
              </a:rPr>
              <a:t>単体で三次元座標を推定</a:t>
            </a: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→Z</a:t>
            </a:r>
            <a:r>
              <a:rPr b="0" lang="ja-JP" sz="3200" strike="noStrike" u="none">
                <a:solidFill>
                  <a:schemeClr val="dk1"/>
                </a:solidFill>
                <a:effectLst/>
                <a:uFillTx/>
                <a:latin typeface="ＭＳ Ｐゴシック"/>
                <a:ea typeface="ＭＳ Ｐゴシック"/>
              </a:rPr>
              <a:t>軸</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奥行方向</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の精度が悪い</a:t>
            </a: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p:txBody>
      </p:sp>
      <p:pic>
        <p:nvPicPr>
          <p:cNvPr id="147" name="図 66" descr=""/>
          <p:cNvPicPr/>
          <p:nvPr/>
        </p:nvPicPr>
        <p:blipFill>
          <a:blip r:embed="rId1"/>
          <a:stretch/>
        </p:blipFill>
        <p:spPr>
          <a:xfrm>
            <a:off x="1260000" y="2520000"/>
            <a:ext cx="3177000" cy="2381760"/>
          </a:xfrm>
          <a:prstGeom prst="rect">
            <a:avLst/>
          </a:prstGeom>
          <a:noFill/>
          <a:ln w="0">
            <a:noFill/>
          </a:ln>
        </p:spPr>
      </p:pic>
      <p:sp>
        <p:nvSpPr>
          <p:cNvPr id="148" name="矢印: 右 67"/>
          <p:cNvSpPr/>
          <p:nvPr/>
        </p:nvSpPr>
        <p:spPr>
          <a:xfrm>
            <a:off x="4860000" y="3600000"/>
            <a:ext cx="1616760" cy="356760"/>
          </a:xfrm>
          <a:prstGeom prst="rightArrow">
            <a:avLst>
              <a:gd name="adj1" fmla="val 50000"/>
              <a:gd name="adj2" fmla="val 1125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rgbClr val="000000"/>
              </a:solidFill>
              <a:effectLst/>
              <a:uFillTx/>
              <a:latin typeface="Arial"/>
              <a:ea typeface="DejaVu Sans"/>
            </a:endParaRPr>
          </a:p>
        </p:txBody>
      </p:sp>
      <p:pic>
        <p:nvPicPr>
          <p:cNvPr id="149" name="図 68" descr=""/>
          <p:cNvPicPr/>
          <p:nvPr/>
        </p:nvPicPr>
        <p:blipFill>
          <a:blip r:embed="rId2"/>
          <a:stretch/>
        </p:blipFill>
        <p:spPr>
          <a:xfrm>
            <a:off x="6660000" y="2160000"/>
            <a:ext cx="3956760" cy="2930400"/>
          </a:xfrm>
          <a:prstGeom prst="rect">
            <a:avLst/>
          </a:prstGeom>
          <a:noFill/>
          <a:ln w="0">
            <a:noFill/>
          </a:ln>
        </p:spPr>
      </p:pic>
      <p:sp>
        <p:nvSpPr>
          <p:cNvPr id="150" name="テキスト ボックス 69"/>
          <p:cNvSpPr/>
          <p:nvPr/>
        </p:nvSpPr>
        <p:spPr>
          <a:xfrm>
            <a:off x="2102040" y="5059440"/>
            <a:ext cx="1676520" cy="377640"/>
          </a:xfrm>
          <a:prstGeom prst="rect">
            <a:avLst/>
          </a:prstGeom>
          <a:noFill/>
          <a:ln w="0">
            <a:noFill/>
          </a:ln>
        </p:spPr>
        <p:style>
          <a:lnRef idx="0"/>
          <a:fillRef idx="0"/>
          <a:effectRef idx="0"/>
          <a:fontRef idx="minor"/>
        </p:style>
        <p:txBody>
          <a:bodyPr lIns="90000" rIns="90000" tIns="45000" bIns="45000" anchor="t">
            <a:spAutoFit/>
          </a:bodyPr>
          <a:p>
            <a:pPr defTabSz="914400">
              <a:lnSpc>
                <a:spcPct val="90000"/>
              </a:lnSpc>
              <a:spcBef>
                <a:spcPts val="1001"/>
              </a:spcBef>
              <a:tabLst>
                <a:tab algn="l" pos="0"/>
              </a:tabLst>
            </a:pPr>
            <a:r>
              <a:rPr b="0" lang="ja-JP" sz="2100" strike="noStrike" u="none">
                <a:solidFill>
                  <a:schemeClr val="dk1"/>
                </a:solidFill>
                <a:effectLst/>
                <a:uFillTx/>
                <a:latin typeface="ＭＳ Ｐゴシック"/>
                <a:ea typeface="ＭＳ Ｐゴシック"/>
              </a:rPr>
              <a:t>カメラ映像</a:t>
            </a:r>
            <a:endParaRPr b="0" lang="en-US" sz="2100" strike="noStrike" u="none">
              <a:solidFill>
                <a:srgbClr val="000000"/>
              </a:solidFill>
              <a:effectLst/>
              <a:uFillTx/>
              <a:latin typeface="Arial"/>
            </a:endParaRPr>
          </a:p>
        </p:txBody>
      </p:sp>
      <p:sp>
        <p:nvSpPr>
          <p:cNvPr id="151" name="テキスト ボックス 70"/>
          <p:cNvSpPr/>
          <p:nvPr/>
        </p:nvSpPr>
        <p:spPr>
          <a:xfrm>
            <a:off x="8272440" y="5093640"/>
            <a:ext cx="1377720" cy="409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2100" strike="noStrike" u="none">
                <a:solidFill>
                  <a:schemeClr val="dk1"/>
                </a:solidFill>
                <a:effectLst/>
                <a:uFillTx/>
                <a:latin typeface="ＭＳ Ｐゴシック"/>
                <a:ea typeface="ＭＳ Ｐゴシック"/>
              </a:rPr>
              <a:t>ｘｚ座標</a:t>
            </a:r>
            <a:endParaRPr b="0" lang="en-US" sz="2100" strike="noStrike" u="none">
              <a:solidFill>
                <a:srgbClr val="000000"/>
              </a:solidFill>
              <a:effectLst/>
              <a:uFillTx/>
              <a:latin typeface="Arial"/>
            </a:endParaRPr>
          </a:p>
        </p:txBody>
      </p:sp>
      <p:sp>
        <p:nvSpPr>
          <p:cNvPr id="152" name="テキスト ボックス 71"/>
          <p:cNvSpPr/>
          <p:nvPr/>
        </p:nvSpPr>
        <p:spPr>
          <a:xfrm>
            <a:off x="3420000" y="6120000"/>
            <a:ext cx="11156760" cy="729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2100" strike="noStrike" u="none">
                <a:solidFill>
                  <a:schemeClr val="dk1"/>
                </a:solidFill>
                <a:effectLst/>
                <a:uFillTx/>
                <a:latin typeface="ＭＳ Ｐゴシック"/>
                <a:ea typeface="ＭＳ Ｐゴシック"/>
              </a:rPr>
              <a:t>画像出典：岡崎優斗　”キーボード入力時の手形状検出と指先座標の推定”</a:t>
            </a:r>
            <a:endParaRPr b="0" lang="en-US" sz="2100" strike="noStrike" u="none">
              <a:solidFill>
                <a:srgbClr val="000000"/>
              </a:solidFill>
              <a:effectLst/>
              <a:uFillTx/>
              <a:latin typeface="Arial"/>
            </a:endParaRPr>
          </a:p>
          <a:p>
            <a:pPr defTabSz="914400">
              <a:lnSpc>
                <a:spcPct val="100000"/>
              </a:lnSpc>
            </a:pPr>
            <a:r>
              <a:rPr b="0" lang="en-US" sz="2100" strike="noStrike" u="none">
                <a:solidFill>
                  <a:schemeClr val="dk1"/>
                </a:solidFill>
                <a:effectLst/>
                <a:uFillTx/>
                <a:latin typeface="ＭＳ Ｐゴシック"/>
                <a:ea typeface="ＭＳ Ｐゴシック"/>
              </a:rPr>
              <a:t>	</a:t>
            </a:r>
            <a:r>
              <a:rPr b="0" lang="ja-JP" sz="2100" strike="noStrike" u="none">
                <a:solidFill>
                  <a:schemeClr val="dk1"/>
                </a:solidFill>
                <a:effectLst/>
                <a:uFillTx/>
                <a:latin typeface="ＭＳ Ｐゴシック"/>
                <a:ea typeface="ＭＳ Ｐゴシック"/>
              </a:rPr>
              <a:t>　鈴鹿工業高等専門学校卒業研究論文　</a:t>
            </a:r>
            <a:r>
              <a:rPr b="0" lang="en-US" sz="2100" strike="noStrike" u="none">
                <a:solidFill>
                  <a:schemeClr val="dk1"/>
                </a:solidFill>
                <a:effectLst/>
                <a:uFillTx/>
                <a:latin typeface="ＭＳ Ｐゴシック"/>
                <a:ea typeface="ＭＳ Ｐゴシック"/>
              </a:rPr>
              <a:t>2024 </a:t>
            </a:r>
            <a:r>
              <a:rPr b="0" lang="ja-JP" sz="2100" strike="noStrike" u="none">
                <a:solidFill>
                  <a:schemeClr val="dk1"/>
                </a:solidFill>
                <a:effectLst/>
                <a:uFillTx/>
                <a:latin typeface="ＭＳ Ｐゴシック"/>
                <a:ea typeface="ＭＳ Ｐゴシック"/>
              </a:rPr>
              <a:t>年度</a:t>
            </a:r>
            <a:endParaRPr b="0" lang="en-U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目的</a:t>
            </a:r>
            <a:endParaRPr b="0" lang="en-US" sz="4400" strike="noStrike" u="none">
              <a:solidFill>
                <a:srgbClr val="000000"/>
              </a:solidFill>
              <a:effectLst/>
              <a:uFillTx/>
              <a:latin typeface="Arial"/>
            </a:endParaRPr>
          </a:p>
        </p:txBody>
      </p:sp>
      <p:sp>
        <p:nvSpPr>
          <p:cNvPr id="154" name="PlaceHolder 2"/>
          <p:cNvSpPr>
            <a:spLocks noGrp="1"/>
          </p:cNvSpPr>
          <p:nvPr>
            <p:ph/>
          </p:nvPr>
        </p:nvSpPr>
        <p:spPr>
          <a:xfrm>
            <a:off x="838080" y="1825560"/>
            <a:ext cx="10512000" cy="434772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ja-JP" sz="3200" strike="noStrike" u="none">
                <a:solidFill>
                  <a:schemeClr val="dk1"/>
                </a:solidFill>
                <a:effectLst/>
                <a:uFillTx/>
                <a:latin typeface="Aptos"/>
                <a:ea typeface="DejaVu Sans"/>
              </a:rPr>
              <a:t>・入力を行う手やキーボードの映像から正しい入力が行われているか判定するシステムを開発する。</a:t>
            </a: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32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1" lang="ja-JP" sz="3200" strike="noStrike" u="sng">
                <a:solidFill>
                  <a:schemeClr val="dk1"/>
                </a:solidFill>
                <a:effectLst/>
                <a:uFillTx/>
                <a:latin typeface="ＭＳ Ｐゴシック"/>
                <a:ea typeface="ＭＳ Ｐゴシック"/>
              </a:rPr>
              <a:t>座標推定の精度改善</a:t>
            </a: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→両眼カメラによる三角測量を用いて三次元座標を推定し</a:t>
            </a: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精度を評価する。</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座標推定概要</a:t>
            </a:r>
            <a:endParaRPr b="0" lang="en-US" sz="4400" strike="noStrike" u="none">
              <a:solidFill>
                <a:srgbClr val="000000"/>
              </a:solidFill>
              <a:effectLst/>
              <a:uFillTx/>
              <a:latin typeface="Arial"/>
            </a:endParaRPr>
          </a:p>
        </p:txBody>
      </p:sp>
      <p:sp>
        <p:nvSpPr>
          <p:cNvPr id="156" name="PlaceHolder 2"/>
          <p:cNvSpPr>
            <a:spLocks noGrp="1"/>
          </p:cNvSpPr>
          <p:nvPr>
            <p:ph/>
          </p:nvPr>
        </p:nvSpPr>
        <p:spPr>
          <a:xfrm>
            <a:off x="690120" y="3988800"/>
            <a:ext cx="10512000" cy="43477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①2</a:t>
            </a:r>
            <a:r>
              <a:rPr b="0" lang="ja-JP" sz="3200" strike="noStrike" u="none">
                <a:solidFill>
                  <a:schemeClr val="dk1"/>
                </a:solidFill>
                <a:effectLst/>
                <a:uFillTx/>
                <a:latin typeface="ＭＳ Ｐゴシック"/>
                <a:ea typeface="ＭＳ Ｐゴシック"/>
              </a:rPr>
              <a:t>台の</a:t>
            </a:r>
            <a:r>
              <a:rPr b="0" lang="en-US" sz="3200" strike="noStrike" u="none">
                <a:solidFill>
                  <a:schemeClr val="dk1"/>
                </a:solidFill>
                <a:effectLst/>
                <a:uFillTx/>
                <a:latin typeface="ＭＳ Ｐゴシック"/>
                <a:ea typeface="ＭＳ Ｐゴシック"/>
              </a:rPr>
              <a:t>Web</a:t>
            </a:r>
            <a:r>
              <a:rPr b="0" lang="ja-JP" sz="3200" strike="noStrike" u="none">
                <a:solidFill>
                  <a:schemeClr val="dk1"/>
                </a:solidFill>
                <a:effectLst/>
                <a:uFillTx/>
                <a:latin typeface="ＭＳ Ｐゴシック"/>
                <a:ea typeface="ＭＳ Ｐゴシック"/>
              </a:rPr>
              <a:t>カメラから映像を取得</a:t>
            </a: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②MediaPipe Hand Landmarker</a:t>
            </a:r>
            <a:r>
              <a:rPr b="0" lang="ja-JP" sz="3200" strike="noStrike" u="none">
                <a:solidFill>
                  <a:schemeClr val="dk1"/>
                </a:solidFill>
                <a:effectLst/>
                <a:uFillTx/>
                <a:latin typeface="ＭＳ Ｐゴシック"/>
                <a:ea typeface="ＭＳ Ｐゴシック"/>
              </a:rPr>
              <a:t>によりそれぞれの手の二次元座標を推定</a:t>
            </a:r>
            <a:endParaRPr b="0" lang="en-US" sz="3200" strike="noStrike" u="none">
              <a:solidFill>
                <a:srgbClr val="000000"/>
              </a:solidFill>
              <a:effectLst/>
              <a:uFillTx/>
              <a:latin typeface="Arial"/>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③OpenCV</a:t>
            </a:r>
            <a:r>
              <a:rPr b="0" lang="ja-JP" sz="3200" strike="noStrike" u="none">
                <a:solidFill>
                  <a:schemeClr val="dk1"/>
                </a:solidFill>
                <a:effectLst/>
                <a:uFillTx/>
                <a:latin typeface="ＭＳ Ｐゴシック"/>
                <a:ea typeface="ＭＳ Ｐゴシック"/>
              </a:rPr>
              <a:t>の関数を用いて三角測量を行い三次元座標を推定する</a:t>
            </a:r>
            <a:endParaRPr b="0" lang="en-US" sz="3200" strike="noStrike" u="none">
              <a:solidFill>
                <a:srgbClr val="000000"/>
              </a:solidFill>
              <a:effectLst/>
              <a:uFillTx/>
              <a:latin typeface="Arial"/>
            </a:endParaRPr>
          </a:p>
        </p:txBody>
      </p:sp>
      <p:pic>
        <p:nvPicPr>
          <p:cNvPr id="157" name="図 16" descr="ダイアグラム&#10;&#10;AI 生成コンテンツは誤りを含む可能性があります。"/>
          <p:cNvPicPr/>
          <p:nvPr/>
        </p:nvPicPr>
        <p:blipFill>
          <a:blip r:embed="rId1"/>
          <a:stretch/>
        </p:blipFill>
        <p:spPr>
          <a:xfrm>
            <a:off x="3554640" y="1551960"/>
            <a:ext cx="4782960" cy="2238120"/>
          </a:xfrm>
          <a:prstGeom prst="rect">
            <a:avLst/>
          </a:prstGeom>
          <a:noFill/>
          <a:ln w="0">
            <a:noFill/>
          </a:ln>
        </p:spPr>
      </p:pic>
      <p:sp>
        <p:nvSpPr>
          <p:cNvPr id="158" name="正方形/長方形 17"/>
          <p:cNvSpPr/>
          <p:nvPr/>
        </p:nvSpPr>
        <p:spPr>
          <a:xfrm>
            <a:off x="3613320" y="1451520"/>
            <a:ext cx="4961520" cy="2436480"/>
          </a:xfrm>
          <a:prstGeom prst="rect">
            <a:avLst/>
          </a:prstGeom>
          <a:noFill/>
          <a:ln w="9360">
            <a:solidFill>
              <a:srgbClr val="000000"/>
            </a:solidFill>
            <a:round/>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ptos"/>
              <a:ea typeface="DejaVu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キャリブレーション</a:t>
            </a:r>
            <a:endParaRPr b="0" lang="en-US" sz="4400" strike="noStrike" u="none">
              <a:solidFill>
                <a:srgbClr val="000000"/>
              </a:solidFill>
              <a:effectLst/>
              <a:uFillTx/>
              <a:latin typeface="Arial"/>
            </a:endParaRPr>
          </a:p>
        </p:txBody>
      </p:sp>
      <p:pic>
        <p:nvPicPr>
          <p:cNvPr id="160" name="図 97" descr=""/>
          <p:cNvPicPr/>
          <p:nvPr/>
        </p:nvPicPr>
        <p:blipFill>
          <a:blip r:embed="rId1"/>
          <a:stretch/>
        </p:blipFill>
        <p:spPr>
          <a:xfrm>
            <a:off x="6415200" y="3060000"/>
            <a:ext cx="4381560" cy="3236760"/>
          </a:xfrm>
          <a:prstGeom prst="rect">
            <a:avLst/>
          </a:prstGeom>
          <a:noFill/>
          <a:ln w="0">
            <a:noFill/>
          </a:ln>
        </p:spPr>
      </p:pic>
      <p:sp>
        <p:nvSpPr>
          <p:cNvPr id="161" name="テキスト ボックス 98"/>
          <p:cNvSpPr/>
          <p:nvPr/>
        </p:nvSpPr>
        <p:spPr>
          <a:xfrm>
            <a:off x="720360" y="4140000"/>
            <a:ext cx="5216760" cy="155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3200" strike="noStrike" u="none">
                <a:solidFill>
                  <a:schemeClr val="dk1"/>
                </a:solidFill>
                <a:effectLst/>
                <a:uFillTx/>
                <a:latin typeface="ＭＳ Ｐゴシック"/>
                <a:ea typeface="ＭＳ Ｐゴシック"/>
              </a:rPr>
              <a:t>チェスボードを様々な視点で撮影し、コーナー座標を検出</a:t>
            </a:r>
            <a:endParaRPr b="0" lang="en-US" sz="3200" strike="noStrike" u="none">
              <a:solidFill>
                <a:srgbClr val="000000"/>
              </a:solidFill>
              <a:effectLst/>
              <a:uFillTx/>
              <a:latin typeface="Arial"/>
            </a:endParaRPr>
          </a:p>
          <a:p>
            <a:pPr defTabSz="914400">
              <a:lnSpc>
                <a:spcPct val="100000"/>
              </a:lnSpc>
            </a:pPr>
            <a:r>
              <a:rPr b="0" lang="ja-JP" sz="3200" strike="noStrike" u="none">
                <a:solidFill>
                  <a:schemeClr val="dk1"/>
                </a:solidFill>
                <a:effectLst/>
                <a:uFillTx/>
                <a:latin typeface="ＭＳ Ｐゴシック"/>
                <a:ea typeface="ＭＳ Ｐゴシック"/>
              </a:rPr>
              <a:t>キャリブレーションに用いる</a:t>
            </a:r>
            <a:endParaRPr b="0" lang="en-US" sz="3200" strike="noStrike" u="none">
              <a:solidFill>
                <a:srgbClr val="000000"/>
              </a:solidFill>
              <a:effectLst/>
              <a:uFillTx/>
              <a:latin typeface="Arial"/>
            </a:endParaRPr>
          </a:p>
        </p:txBody>
      </p:sp>
      <p:sp>
        <p:nvSpPr>
          <p:cNvPr id="162" name="正方形/長方形 118"/>
          <p:cNvSpPr/>
          <p:nvPr/>
        </p:nvSpPr>
        <p:spPr>
          <a:xfrm>
            <a:off x="349920" y="1673640"/>
            <a:ext cx="12009240" cy="1553040"/>
          </a:xfrm>
          <a:prstGeom prst="rect">
            <a:avLst/>
          </a:prstGeom>
          <a:noFill/>
          <a:ln w="36000">
            <a:noFill/>
          </a:ln>
        </p:spPr>
        <p:style>
          <a:lnRef idx="0"/>
          <a:fillRef idx="0"/>
          <a:effectRef idx="0"/>
          <a:fontRef idx="minor"/>
        </p:style>
        <p:txBody>
          <a:bodyPr lIns="90000" rIns="90000" tIns="45000" bIns="45000" anchor="t">
            <a:spAutoFit/>
          </a:bodyPr>
          <a:p>
            <a:pPr defTabSz="914400">
              <a:lnSpc>
                <a:spcPct val="100000"/>
              </a:lnSpc>
            </a:pPr>
            <a:r>
              <a:rPr b="0" lang="ja-JP" sz="3200" strike="noStrike" u="none">
                <a:solidFill>
                  <a:schemeClr val="dk1"/>
                </a:solidFill>
                <a:effectLst/>
                <a:uFillTx/>
                <a:latin typeface="ＭＳ Ｐゴシック"/>
                <a:ea typeface="ＭＳ Ｐゴシック"/>
              </a:rPr>
              <a:t>・内部パラメータ</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レンズの歪み等の補正</a:t>
            </a:r>
            <a:r>
              <a:rPr b="0" lang="en-US" sz="3200" strike="noStrike" u="none">
                <a:solidFill>
                  <a:schemeClr val="dk1"/>
                </a:solidFill>
                <a:effectLst/>
                <a:uFillTx/>
                <a:latin typeface="ＭＳ Ｐゴシック"/>
                <a:ea typeface="ＭＳ Ｐゴシック"/>
              </a:rPr>
              <a:t>) → </a:t>
            </a:r>
            <a:r>
              <a:rPr b="0" lang="ja-JP" sz="3200" strike="noStrike" u="none">
                <a:solidFill>
                  <a:schemeClr val="dk1"/>
                </a:solidFill>
                <a:effectLst/>
                <a:uFillTx/>
                <a:latin typeface="ＭＳ Ｐゴシック"/>
                <a:ea typeface="ＭＳ Ｐゴシック"/>
              </a:rPr>
              <a:t>カメラキャリブレーション</a:t>
            </a:r>
            <a:endParaRPr b="0" lang="en-US" sz="3200" strike="noStrike" u="none">
              <a:solidFill>
                <a:srgbClr val="000000"/>
              </a:solidFill>
              <a:effectLst/>
              <a:uFillTx/>
              <a:latin typeface="Arial"/>
            </a:endParaRPr>
          </a:p>
          <a:p>
            <a:pPr defTabSz="914400">
              <a:lnSpc>
                <a:spcPct val="100000"/>
              </a:lnSpc>
            </a:pPr>
            <a:r>
              <a:rPr b="0" lang="ja-JP" sz="3200" strike="noStrike" u="none">
                <a:solidFill>
                  <a:schemeClr val="dk1"/>
                </a:solidFill>
                <a:effectLst/>
                <a:uFillTx/>
                <a:latin typeface="ＭＳ Ｐゴシック"/>
                <a:ea typeface="ＭＳ Ｐゴシック"/>
              </a:rPr>
              <a:t>・外部パラメータ</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カメラ間の位置関係</a:t>
            </a:r>
            <a:r>
              <a:rPr b="0" lang="en-US" sz="3200" strike="noStrike" u="none">
                <a:solidFill>
                  <a:schemeClr val="dk1"/>
                </a:solidFill>
                <a:effectLst/>
                <a:uFillTx/>
                <a:latin typeface="ＭＳ Ｐゴシック"/>
                <a:ea typeface="ＭＳ Ｐゴシック"/>
              </a:rPr>
              <a:t>) → </a:t>
            </a:r>
            <a:r>
              <a:rPr b="0" lang="ja-JP" sz="3200" strike="noStrike" u="none">
                <a:solidFill>
                  <a:schemeClr val="dk1"/>
                </a:solidFill>
                <a:effectLst/>
                <a:uFillTx/>
                <a:latin typeface="ＭＳ Ｐゴシック"/>
                <a:ea typeface="ＭＳ Ｐゴシック"/>
              </a:rPr>
              <a:t>ステレオキャリブレーション</a:t>
            </a:r>
            <a:endParaRPr b="0" lang="en-US" sz="3200" strike="noStrike" u="none">
              <a:solidFill>
                <a:srgbClr val="000000"/>
              </a:solidFill>
              <a:effectLst/>
              <a:uFillTx/>
              <a:latin typeface="Arial"/>
            </a:endParaRPr>
          </a:p>
          <a:p>
            <a:pPr defTabSz="914400">
              <a:lnSpc>
                <a:spcPct val="100000"/>
              </a:lnSpc>
            </a:pPr>
            <a:r>
              <a:rPr b="0" lang="ja-JP" sz="3200" strike="noStrike" u="none">
                <a:solidFill>
                  <a:schemeClr val="dk1"/>
                </a:solidFill>
                <a:effectLst/>
                <a:uFillTx/>
                <a:latin typeface="ＭＳ Ｐゴシック"/>
                <a:ea typeface="ＭＳ Ｐゴシック"/>
              </a:rPr>
              <a:t>でそれぞれ計算　</a:t>
            </a:r>
            <a:endParaRPr b="0" lang="en-US" sz="3200" strike="noStrike" u="none">
              <a:solidFill>
                <a:srgbClr val="000000"/>
              </a:solidFill>
              <a:effectLst/>
              <a:uFillTx/>
              <a:latin typeface="Arial"/>
            </a:endParaRPr>
          </a:p>
        </p:txBody>
      </p:sp>
      <p:sp>
        <p:nvSpPr>
          <p:cNvPr id="163" name="正方形/長方形 119"/>
          <p:cNvSpPr/>
          <p:nvPr/>
        </p:nvSpPr>
        <p:spPr>
          <a:xfrm>
            <a:off x="540000" y="3461400"/>
            <a:ext cx="2746440" cy="577440"/>
          </a:xfrm>
          <a:prstGeom prst="rect">
            <a:avLst/>
          </a:prstGeom>
          <a:noFill/>
          <a:ln w="36000">
            <a:noFill/>
          </a:ln>
        </p:spPr>
        <p:style>
          <a:lnRef idx="0"/>
          <a:fillRef idx="0"/>
          <a:effectRef idx="0"/>
          <a:fontRef idx="minor"/>
        </p:style>
        <p:txBody>
          <a:bodyPr wrap="none" lIns="90000" rIns="90000" tIns="45000" bIns="45000" anchor="t">
            <a:spAutoFit/>
          </a:bodyPr>
          <a:p>
            <a:pPr defTabSz="914400">
              <a:lnSpc>
                <a:spcPct val="100000"/>
              </a:lnSpc>
            </a:pPr>
            <a:r>
              <a:rPr b="0" lang="ja-JP" sz="3200" strike="noStrike" u="none">
                <a:solidFill>
                  <a:srgbClr val="000000"/>
                </a:solidFill>
                <a:effectLst/>
                <a:uFillTx/>
                <a:latin typeface="Arial"/>
                <a:ea typeface="DejaVu Sans"/>
              </a:rPr>
              <a:t>・</a:t>
            </a:r>
            <a:r>
              <a:rPr b="0" lang="en-US" sz="3200" strike="noStrike" u="none">
                <a:solidFill>
                  <a:srgbClr val="000000"/>
                </a:solidFill>
                <a:effectLst/>
                <a:uFillTx/>
                <a:latin typeface="Arial"/>
                <a:ea typeface="DejaVu Sans"/>
              </a:rPr>
              <a:t>Zhang</a:t>
            </a:r>
            <a:r>
              <a:rPr b="0" lang="ja-JP" sz="3200" strike="noStrike" u="none">
                <a:solidFill>
                  <a:srgbClr val="000000"/>
                </a:solidFill>
                <a:effectLst/>
                <a:uFillTx/>
                <a:latin typeface="Arial"/>
                <a:ea typeface="DejaVu Sans"/>
              </a:rPr>
              <a:t>の方法</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射影行列</a:t>
            </a:r>
            <a:r>
              <a:rPr b="0" lang="en-US" sz="4400" strike="noStrike" u="none">
                <a:solidFill>
                  <a:schemeClr val="dk1"/>
                </a:solidFill>
                <a:effectLst/>
                <a:uFillTx/>
                <a:latin typeface="ＭＳ Ｐゴシック"/>
                <a:ea typeface="ＭＳ Ｐゴシック"/>
              </a:rPr>
              <a:t>P</a:t>
            </a:r>
            <a:endParaRPr b="0" lang="en-US" sz="4400" strike="noStrike" u="none">
              <a:solidFill>
                <a:srgbClr val="000000"/>
              </a:solidFill>
              <a:effectLst/>
              <a:uFillTx/>
              <a:latin typeface="Arial"/>
            </a:endParaRPr>
          </a:p>
        </p:txBody>
      </p:sp>
      <p:sp>
        <p:nvSpPr>
          <p:cNvPr id="165" name="テキスト ボックス 87"/>
          <p:cNvSpPr/>
          <p:nvPr/>
        </p:nvSpPr>
        <p:spPr>
          <a:xfrm>
            <a:off x="1080000" y="3079800"/>
            <a:ext cx="2745360" cy="69732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000000"/>
              </a:solidFill>
              <a:effectLst/>
              <a:uFillTx/>
              <a:latin typeface="Arial"/>
            </a:endParaRPr>
          </a:p>
        </p:txBody>
      </p:sp>
      <p:sp>
        <p:nvSpPr>
          <p:cNvPr id="166" name="テキスト ボックス 94"/>
          <p:cNvSpPr/>
          <p:nvPr/>
        </p:nvSpPr>
        <p:spPr>
          <a:xfrm>
            <a:off x="1080000" y="1620000"/>
            <a:ext cx="10616760" cy="1065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3200" strike="noStrike" u="none">
                <a:solidFill>
                  <a:schemeClr val="dk1"/>
                </a:solidFill>
                <a:effectLst/>
                <a:uFillTx/>
                <a:latin typeface="ＭＳ Ｐゴシック"/>
                <a:ea typeface="ＭＳ Ｐゴシック"/>
              </a:rPr>
              <a:t>・三次元座標系から画像座標系への変換</a:t>
            </a:r>
            <a:endParaRPr b="0" lang="en-US" sz="3200" strike="noStrike" u="none">
              <a:solidFill>
                <a:srgbClr val="000000"/>
              </a:solidFill>
              <a:effectLst/>
              <a:uFillTx/>
              <a:latin typeface="Arial"/>
            </a:endParaRPr>
          </a:p>
          <a:p>
            <a:pPr defTabSz="914400">
              <a:lnSpc>
                <a:spcPct val="100000"/>
              </a:lnSpc>
            </a:pPr>
            <a:r>
              <a:rPr b="0" lang="ja-JP" sz="3200" strike="noStrike" u="none">
                <a:solidFill>
                  <a:schemeClr val="dk1"/>
                </a:solidFill>
                <a:effectLst/>
                <a:uFillTx/>
                <a:latin typeface="ＭＳ Ｐゴシック"/>
                <a:ea typeface="ＭＳ Ｐゴシック"/>
              </a:rPr>
              <a:t>　次の式で表される。</a:t>
            </a:r>
            <a:endParaRPr b="0" lang="en-US" sz="3200" strike="noStrike" u="none">
              <a:solidFill>
                <a:srgbClr val="000000"/>
              </a:solidFill>
              <a:effectLst/>
              <a:uFillTx/>
              <a:latin typeface="Arial"/>
            </a:endParaRPr>
          </a:p>
        </p:txBody>
      </p:sp>
      <p:sp>
        <p:nvSpPr>
          <p:cNvPr id="167" name="フリーフォーム: 図形 123"/>
          <p:cNvSpPr/>
          <p:nvPr/>
        </p:nvSpPr>
        <p:spPr>
          <a:xfrm>
            <a:off x="6743520" y="4837320"/>
            <a:ext cx="356760" cy="1152360"/>
          </a:xfrm>
          <a:custGeom>
            <a:avLst/>
            <a:gdLst>
              <a:gd name="textAreaLeft" fmla="*/ 0 w 356760"/>
              <a:gd name="textAreaRight" fmla="*/ 129960 w 356760"/>
              <a:gd name="textAreaTop" fmla="*/ 29880 h 1152360"/>
              <a:gd name="textAreaBottom" fmla="*/ 1125360 h 115236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36000">
            <a:solidFill>
              <a:srgbClr val="000000"/>
            </a:solidFill>
            <a:round/>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rgbClr val="000000"/>
              </a:solidFill>
              <a:effectLst/>
              <a:uFillTx/>
              <a:latin typeface="Arial"/>
              <a:ea typeface="DejaVu Sans"/>
            </a:endParaRPr>
          </a:p>
        </p:txBody>
      </p:sp>
      <p:sp>
        <p:nvSpPr>
          <p:cNvPr id="168" name="テキスト ボックス 1"/>
          <p:cNvSpPr/>
          <p:nvPr/>
        </p:nvSpPr>
        <p:spPr>
          <a:xfrm>
            <a:off x="7103160" y="4954680"/>
            <a:ext cx="10616760" cy="943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2800" strike="noStrike" u="none">
                <a:solidFill>
                  <a:schemeClr val="dk1"/>
                </a:solidFill>
                <a:effectLst/>
                <a:uFillTx/>
                <a:latin typeface="ＭＳ Ｐゴシック"/>
                <a:ea typeface="ＭＳ Ｐゴシック"/>
              </a:rPr>
              <a:t>外部パラメータ</a:t>
            </a:r>
            <a:endParaRPr b="0" lang="en-US" sz="2800" strike="noStrike" u="none">
              <a:solidFill>
                <a:srgbClr val="000000"/>
              </a:solidFill>
              <a:effectLst/>
              <a:uFillTx/>
              <a:latin typeface="Arial"/>
            </a:endParaRPr>
          </a:p>
          <a:p>
            <a:pPr defTabSz="914400">
              <a:lnSpc>
                <a:spcPct val="100000"/>
              </a:lnSpc>
            </a:pPr>
            <a:r>
              <a:rPr b="0" lang="ja-JP" sz="2800" strike="noStrike" u="none">
                <a:solidFill>
                  <a:schemeClr val="dk1"/>
                </a:solidFill>
                <a:effectLst/>
                <a:uFillTx/>
                <a:latin typeface="ＭＳ Ｐゴシック"/>
                <a:ea typeface="ＭＳ Ｐゴシック"/>
              </a:rPr>
              <a:t>カメラ間の位置関係</a:t>
            </a:r>
            <a:endParaRPr b="0" lang="en-US" sz="2800" strike="noStrike" u="none">
              <a:solidFill>
                <a:srgbClr val="000000"/>
              </a:solidFill>
              <a:effectLst/>
              <a:uFillTx/>
              <a:latin typeface="Arial"/>
            </a:endParaRPr>
          </a:p>
        </p:txBody>
      </p:sp>
      <p:sp>
        <p:nvSpPr>
          <p:cNvPr id="169" name="正方形/長方形 125"/>
          <p:cNvSpPr/>
          <p:nvPr/>
        </p:nvSpPr>
        <p:spPr>
          <a:xfrm>
            <a:off x="1163880" y="4860000"/>
            <a:ext cx="4952880" cy="516600"/>
          </a:xfrm>
          <a:prstGeom prst="rect">
            <a:avLst/>
          </a:prstGeom>
          <a:noFill/>
          <a:ln w="36000">
            <a:noFill/>
          </a:ln>
        </p:spPr>
        <p:style>
          <a:lnRef idx="0"/>
          <a:fillRef idx="0"/>
          <a:effectRef idx="0"/>
          <a:fontRef idx="minor"/>
        </p:style>
        <p:txBody>
          <a:bodyPr lIns="90000" rIns="90000" tIns="45000" bIns="45000" anchor="t">
            <a:spAutoFit/>
          </a:bodyPr>
          <a:p>
            <a:pPr defTabSz="914400">
              <a:lnSpc>
                <a:spcPct val="100000"/>
              </a:lnSpc>
            </a:pPr>
            <a:r>
              <a:rPr b="0" lang="en-US" sz="2800" strike="noStrike" u="none">
                <a:solidFill>
                  <a:schemeClr val="dk1"/>
                </a:solidFill>
                <a:effectLst/>
                <a:uFillTx/>
                <a:latin typeface="ＭＳ Ｐゴシック"/>
                <a:ea typeface="ＭＳ Ｐゴシック"/>
              </a:rPr>
              <a:t>R: </a:t>
            </a:r>
            <a:r>
              <a:rPr b="0" lang="ja-JP" sz="2800" strike="noStrike" u="none">
                <a:solidFill>
                  <a:schemeClr val="dk1"/>
                </a:solidFill>
                <a:effectLst/>
                <a:uFillTx/>
                <a:latin typeface="ＭＳ Ｐゴシック"/>
                <a:ea typeface="ＭＳ Ｐゴシック"/>
              </a:rPr>
              <a:t>回転行列、カメラの姿勢</a:t>
            </a:r>
            <a:endParaRPr b="0" lang="en-US" sz="2800" strike="noStrike" u="none">
              <a:solidFill>
                <a:srgbClr val="000000"/>
              </a:solidFill>
              <a:effectLst/>
              <a:uFillTx/>
              <a:latin typeface="Arial"/>
            </a:endParaRPr>
          </a:p>
        </p:txBody>
      </p:sp>
      <p:sp>
        <p:nvSpPr>
          <p:cNvPr id="170" name="正方形/長方形 126"/>
          <p:cNvSpPr/>
          <p:nvPr/>
        </p:nvSpPr>
        <p:spPr>
          <a:xfrm>
            <a:off x="1260000" y="5400000"/>
            <a:ext cx="5057640" cy="516600"/>
          </a:xfrm>
          <a:prstGeom prst="rect">
            <a:avLst/>
          </a:prstGeom>
          <a:noFill/>
          <a:ln w="36000">
            <a:noFill/>
          </a:ln>
        </p:spPr>
        <p:style>
          <a:lnRef idx="0"/>
          <a:fillRef idx="0"/>
          <a:effectRef idx="0"/>
          <a:fontRef idx="minor"/>
        </p:style>
        <p:txBody>
          <a:bodyPr lIns="90000" rIns="90000" tIns="45000" bIns="45000" anchor="t">
            <a:spAutoFit/>
          </a:bodyPr>
          <a:p>
            <a:pPr defTabSz="914400">
              <a:lnSpc>
                <a:spcPct val="100000"/>
              </a:lnSpc>
            </a:pPr>
            <a:r>
              <a:rPr b="0" lang="ja-JP" sz="2800" strike="noStrike" u="none">
                <a:solidFill>
                  <a:schemeClr val="dk1"/>
                </a:solidFill>
                <a:effectLst/>
                <a:uFillTx/>
                <a:latin typeface="ＭＳ Ｐゴシック"/>
                <a:ea typeface="ＭＳ Ｐゴシック"/>
              </a:rPr>
              <a:t>ｔ</a:t>
            </a:r>
            <a:r>
              <a:rPr b="0" lang="en-US" sz="2800" strike="noStrike" u="none">
                <a:solidFill>
                  <a:schemeClr val="dk1"/>
                </a:solidFill>
                <a:effectLst/>
                <a:uFillTx/>
                <a:latin typeface="ＭＳ Ｐゴシック"/>
                <a:ea typeface="ＭＳ Ｐゴシック"/>
              </a:rPr>
              <a:t>: </a:t>
            </a:r>
            <a:r>
              <a:rPr b="0" lang="ja-JP" sz="2800" strike="noStrike" u="none">
                <a:solidFill>
                  <a:schemeClr val="dk1"/>
                </a:solidFill>
                <a:effectLst/>
                <a:uFillTx/>
                <a:latin typeface="ＭＳ Ｐゴシック"/>
                <a:ea typeface="ＭＳ Ｐゴシック"/>
              </a:rPr>
              <a:t>並進ベクトル、カメラの位置   </a:t>
            </a:r>
            <a:endParaRPr b="0" lang="en-US" sz="2800" strike="noStrike" u="none">
              <a:solidFill>
                <a:srgbClr val="000000"/>
              </a:solidFill>
              <a:effectLst/>
              <a:uFillTx/>
              <a:latin typeface="Arial"/>
            </a:endParaRPr>
          </a:p>
        </p:txBody>
      </p:sp>
      <p:sp>
        <p:nvSpPr>
          <p:cNvPr id="171" name="正方形/長方形 127"/>
          <p:cNvSpPr/>
          <p:nvPr/>
        </p:nvSpPr>
        <p:spPr>
          <a:xfrm>
            <a:off x="1163880" y="4320000"/>
            <a:ext cx="6477120" cy="516600"/>
          </a:xfrm>
          <a:prstGeom prst="rect">
            <a:avLst/>
          </a:prstGeom>
          <a:noFill/>
          <a:ln w="36000">
            <a:noFill/>
          </a:ln>
        </p:spPr>
        <p:style>
          <a:lnRef idx="0"/>
          <a:fillRef idx="0"/>
          <a:effectRef idx="0"/>
          <a:fontRef idx="minor"/>
        </p:style>
        <p:txBody>
          <a:bodyPr lIns="90000" rIns="90000" tIns="45000" bIns="45000" anchor="t">
            <a:spAutoFit/>
          </a:bodyPr>
          <a:p>
            <a:pPr defTabSz="914400">
              <a:lnSpc>
                <a:spcPct val="100000"/>
              </a:lnSpc>
            </a:pPr>
            <a:r>
              <a:rPr b="0" lang="en-US" sz="2800" strike="noStrike" u="none">
                <a:solidFill>
                  <a:schemeClr val="dk1"/>
                </a:solidFill>
                <a:effectLst/>
                <a:uFillTx/>
                <a:latin typeface="ＭＳ Ｐゴシック"/>
                <a:ea typeface="ＭＳ Ｐゴシック"/>
              </a:rPr>
              <a:t>K: </a:t>
            </a:r>
            <a:r>
              <a:rPr b="0" lang="ja-JP" sz="2800" strike="noStrike" u="none">
                <a:solidFill>
                  <a:schemeClr val="dk1"/>
                </a:solidFill>
                <a:effectLst/>
                <a:uFillTx/>
                <a:latin typeface="ＭＳ Ｐゴシック"/>
                <a:ea typeface="ＭＳ Ｐゴシック"/>
              </a:rPr>
              <a:t>内部パラメータ、レンズの歪み等の補正</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24760" y="2948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三角測量</a:t>
            </a:r>
            <a:endParaRPr b="0" lang="en-US" sz="4400" strike="noStrike" u="none">
              <a:solidFill>
                <a:srgbClr val="000000"/>
              </a:solidFill>
              <a:effectLst/>
              <a:uFillTx/>
              <a:latin typeface="Arial"/>
            </a:endParaRPr>
          </a:p>
        </p:txBody>
      </p:sp>
      <p:sp>
        <p:nvSpPr>
          <p:cNvPr id="173" name="PlaceHolder 2"/>
          <p:cNvSpPr>
            <a:spLocks noGrp="1"/>
          </p:cNvSpPr>
          <p:nvPr>
            <p:ph/>
          </p:nvPr>
        </p:nvSpPr>
        <p:spPr>
          <a:xfrm>
            <a:off x="900000" y="1800000"/>
            <a:ext cx="10512000" cy="4347720"/>
          </a:xfrm>
          <a:prstGeom prst="rect">
            <a:avLst/>
          </a:prstGeom>
          <a:noFill/>
          <a:ln w="0">
            <a:noFill/>
          </a:ln>
        </p:spPr>
        <p:txBody>
          <a:bodyPr lIns="91440" rIns="91440" tIns="45720" bIns="45720" anchor="t">
            <a:noAutofit/>
          </a:bodyPr>
          <a:p>
            <a:pPr marL="228600" indent="0" defTabSz="914400">
              <a:lnSpc>
                <a:spcPct val="90000"/>
              </a:lnSpc>
              <a:spcBef>
                <a:spcPts val="1191"/>
              </a:spcBef>
              <a:spcAft>
                <a:spcPts val="992"/>
              </a:spcAft>
              <a:buNone/>
              <a:tabLst>
                <a:tab algn="l" pos="0"/>
              </a:tabLst>
            </a:pPr>
            <a:r>
              <a:rPr b="0" lang="ja-JP" sz="2800" strike="noStrike" u="none">
                <a:solidFill>
                  <a:schemeClr val="dk1"/>
                </a:solidFill>
                <a:effectLst/>
                <a:uFillTx/>
                <a:latin typeface="ＭＳ Ｐゴシック"/>
                <a:ea typeface="ＭＳ Ｐゴシック"/>
              </a:rPr>
              <a:t>以下のような方程式を解き、既知である二次元座標</a:t>
            </a:r>
            <a:r>
              <a:rPr b="0" lang="en-US" sz="2800" strike="noStrike" u="none">
                <a:solidFill>
                  <a:schemeClr val="dk1"/>
                </a:solidFill>
                <a:effectLst/>
                <a:uFillTx/>
                <a:latin typeface="ＭＳ Ｐゴシック"/>
                <a:ea typeface="ＭＳ Ｐゴシック"/>
              </a:rPr>
              <a:t>x</a:t>
            </a:r>
            <a:r>
              <a:rPr b="0" lang="ja-JP" sz="2800" strike="noStrike" u="none">
                <a:solidFill>
                  <a:schemeClr val="dk1"/>
                </a:solidFill>
                <a:effectLst/>
                <a:uFillTx/>
                <a:latin typeface="ＭＳ Ｐゴシック"/>
                <a:ea typeface="ＭＳ Ｐゴシック"/>
              </a:rPr>
              <a:t>と射影行列</a:t>
            </a:r>
            <a:r>
              <a:rPr b="0" lang="en-US" sz="2800" strike="noStrike" u="none">
                <a:solidFill>
                  <a:schemeClr val="dk1"/>
                </a:solidFill>
                <a:effectLst/>
                <a:uFillTx/>
                <a:latin typeface="ＭＳ Ｐゴシック"/>
                <a:ea typeface="ＭＳ Ｐゴシック"/>
              </a:rPr>
              <a:t>P</a:t>
            </a:r>
            <a:r>
              <a:rPr b="0" lang="ja-JP" sz="2800" strike="noStrike" u="none">
                <a:solidFill>
                  <a:schemeClr val="dk1"/>
                </a:solidFill>
                <a:effectLst/>
                <a:uFillTx/>
                <a:latin typeface="ＭＳ Ｐゴシック"/>
                <a:ea typeface="ＭＳ Ｐゴシック"/>
              </a:rPr>
              <a:t>から三次元座標</a:t>
            </a:r>
            <a:r>
              <a:rPr b="0" lang="en-US" sz="2800" strike="noStrike" u="none">
                <a:solidFill>
                  <a:schemeClr val="dk1"/>
                </a:solidFill>
                <a:effectLst/>
                <a:uFillTx/>
                <a:latin typeface="ＭＳ Ｐゴシック"/>
                <a:ea typeface="ＭＳ Ｐゴシック"/>
              </a:rPr>
              <a:t>X</a:t>
            </a:r>
            <a:r>
              <a:rPr b="0" lang="ja-JP" sz="2800" strike="noStrike" u="none">
                <a:solidFill>
                  <a:schemeClr val="dk1"/>
                </a:solidFill>
                <a:effectLst/>
                <a:uFillTx/>
                <a:latin typeface="ＭＳ Ｐゴシック"/>
                <a:ea typeface="ＭＳ Ｐゴシック"/>
              </a:rPr>
              <a:t>を推定している。</a:t>
            </a:r>
            <a:endParaRPr b="0" lang="en-US" sz="2800" strike="noStrike" u="none">
              <a:solidFill>
                <a:srgbClr val="000000"/>
              </a:solidFill>
              <a:effectLst/>
              <a:uFillTx/>
              <a:latin typeface="Arial"/>
            </a:endParaRPr>
          </a:p>
          <a:p>
            <a:pPr marL="228600" indent="0" defTabSz="914400">
              <a:lnSpc>
                <a:spcPct val="90000"/>
              </a:lnSpc>
              <a:spcBef>
                <a:spcPts val="1191"/>
              </a:spcBef>
              <a:spcAft>
                <a:spcPts val="992"/>
              </a:spcAft>
              <a:buNone/>
              <a:tabLst>
                <a:tab algn="l" pos="0"/>
              </a:tabLst>
            </a:pPr>
            <a:endParaRPr b="0" lang="en-US" sz="2800" strike="noStrike" u="none">
              <a:solidFill>
                <a:srgbClr val="000000"/>
              </a:solidFill>
              <a:effectLst/>
              <a:uFillTx/>
              <a:latin typeface="Arial"/>
            </a:endParaRPr>
          </a:p>
        </p:txBody>
      </p:sp>
      <p:sp>
        <p:nvSpPr>
          <p:cNvPr id="174" name="正方形/長方形 130"/>
          <p:cNvSpPr/>
          <p:nvPr/>
        </p:nvSpPr>
        <p:spPr>
          <a:xfrm>
            <a:off x="5515560" y="3147840"/>
            <a:ext cx="1266480" cy="21672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rgbClr val="000000"/>
              </a:solidFill>
              <a:effectLst/>
              <a:uFillTx/>
              <a:latin typeface="Arial"/>
              <a:ea typeface="DejaVu Sans"/>
            </a:endParaRPr>
          </a:p>
        </p:txBody>
      </p:sp>
      <p:sp>
        <p:nvSpPr>
          <p:cNvPr id="175" name="テキスト ボックス 79"/>
          <p:cNvSpPr/>
          <p:nvPr/>
        </p:nvSpPr>
        <p:spPr>
          <a:xfrm>
            <a:off x="720000" y="3061800"/>
            <a:ext cx="5577480" cy="89568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000000"/>
              </a:solidFill>
              <a:effectLst/>
              <a:uFillTx/>
              <a:latin typeface="Arial"/>
            </a:endParaRPr>
          </a:p>
        </p:txBody>
      </p:sp>
      <p:sp>
        <p:nvSpPr>
          <p:cNvPr id="176" name="テキスト ボックス 83"/>
          <p:cNvSpPr/>
          <p:nvPr/>
        </p:nvSpPr>
        <p:spPr>
          <a:xfrm>
            <a:off x="1183680" y="4267800"/>
            <a:ext cx="7362000" cy="94932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000000"/>
              </a:solidFill>
              <a:effectLst/>
              <a:uFillTx/>
              <a:latin typeface="Arial"/>
            </a:endParaRPr>
          </a:p>
        </p:txBody>
      </p:sp>
      <p:sp>
        <p:nvSpPr>
          <p:cNvPr id="177" name="テキスト ボックス 84"/>
          <p:cNvSpPr/>
          <p:nvPr/>
        </p:nvSpPr>
        <p:spPr>
          <a:xfrm>
            <a:off x="1440000" y="4920480"/>
            <a:ext cx="7362000" cy="94932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000000"/>
              </a:solidFill>
              <a:effectLst/>
              <a:uFillTx/>
              <a:latin typeface="Arial"/>
            </a:endParaRPr>
          </a:p>
        </p:txBody>
      </p:sp>
      <p:sp>
        <p:nvSpPr>
          <p:cNvPr id="178" name="テキスト ボックス 85"/>
          <p:cNvSpPr/>
          <p:nvPr/>
        </p:nvSpPr>
        <p:spPr>
          <a:xfrm>
            <a:off x="900000" y="5527800"/>
            <a:ext cx="7362000" cy="94932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研究の現状</a:t>
            </a:r>
            <a:endParaRPr b="0" lang="en-US" sz="4400" strike="noStrike" u="none">
              <a:solidFill>
                <a:srgbClr val="000000"/>
              </a:solidFill>
              <a:effectLst/>
              <a:uFillTx/>
              <a:latin typeface="Arial"/>
            </a:endParaRPr>
          </a:p>
        </p:txBody>
      </p:sp>
      <p:sp>
        <p:nvSpPr>
          <p:cNvPr id="180" name="PlaceHolder 2"/>
          <p:cNvSpPr>
            <a:spLocks noGrp="1"/>
          </p:cNvSpPr>
          <p:nvPr>
            <p:ph/>
          </p:nvPr>
        </p:nvSpPr>
        <p:spPr>
          <a:xfrm>
            <a:off x="838080" y="1589400"/>
            <a:ext cx="10512000" cy="43477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ＭＳ Ｐゴシック"/>
                <a:ea typeface="ＭＳ Ｐゴシック"/>
              </a:rPr>
              <a:t>リアルタイムでの三次元座標推定は実装できた</a:t>
            </a:r>
            <a:endParaRPr b="0" lang="en-US" sz="2800" strike="noStrike" u="none">
              <a:solidFill>
                <a:srgbClr val="000000"/>
              </a:solidFill>
              <a:effectLst/>
              <a:uFillTx/>
              <a:latin typeface="Arial"/>
            </a:endParaRPr>
          </a:p>
        </p:txBody>
      </p:sp>
      <p:pic>
        <p:nvPicPr>
          <p:cNvPr id="181" name="図 4" descr="グラフ&#10;&#10;AI 生成コンテンツは誤りを含む可能性があります。"/>
          <p:cNvPicPr/>
          <p:nvPr/>
        </p:nvPicPr>
        <p:blipFill>
          <a:blip r:embed="rId1"/>
          <a:stretch/>
        </p:blipFill>
        <p:spPr>
          <a:xfrm>
            <a:off x="7533360" y="2218320"/>
            <a:ext cx="3983760" cy="4258800"/>
          </a:xfrm>
          <a:prstGeom prst="rect">
            <a:avLst/>
          </a:prstGeom>
          <a:noFill/>
          <a:ln w="0">
            <a:noFill/>
          </a:ln>
        </p:spPr>
      </p:pic>
      <p:pic>
        <p:nvPicPr>
          <p:cNvPr id="182" name="図 6" descr="キーボードとマウス&#10;&#10;AI 生成コンテンツは誤りを含む可能性があります。"/>
          <p:cNvPicPr/>
          <p:nvPr/>
        </p:nvPicPr>
        <p:blipFill>
          <a:blip r:embed="rId2"/>
          <a:stretch/>
        </p:blipFill>
        <p:spPr>
          <a:xfrm>
            <a:off x="900000" y="2610000"/>
            <a:ext cx="4677120" cy="3507120"/>
          </a:xfrm>
          <a:prstGeom prst="rect">
            <a:avLst/>
          </a:prstGeom>
          <a:noFill/>
          <a:ln w="0">
            <a:noFill/>
          </a:ln>
        </p:spPr>
      </p:pic>
      <p:sp>
        <p:nvSpPr>
          <p:cNvPr id="183" name="矢印: 右 1"/>
          <p:cNvSpPr/>
          <p:nvPr/>
        </p:nvSpPr>
        <p:spPr>
          <a:xfrm>
            <a:off x="5760000" y="4140000"/>
            <a:ext cx="1616760" cy="356760"/>
          </a:xfrm>
          <a:prstGeom prst="rightArrow">
            <a:avLst>
              <a:gd name="adj1" fmla="val 50000"/>
              <a:gd name="adj2" fmla="val 1125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研究の現状</a:t>
            </a:r>
            <a:endParaRPr b="0" lang="en-US" sz="4400" strike="noStrike" u="none">
              <a:solidFill>
                <a:srgbClr val="000000"/>
              </a:solidFill>
              <a:effectLst/>
              <a:uFillTx/>
              <a:latin typeface="Arial"/>
            </a:endParaRPr>
          </a:p>
        </p:txBody>
      </p:sp>
      <p:sp>
        <p:nvSpPr>
          <p:cNvPr id="185" name="PlaceHolder 2"/>
          <p:cNvSpPr>
            <a:spLocks noGrp="1"/>
          </p:cNvSpPr>
          <p:nvPr>
            <p:ph/>
          </p:nvPr>
        </p:nvSpPr>
        <p:spPr>
          <a:xfrm>
            <a:off x="838080" y="1589400"/>
            <a:ext cx="10512000" cy="43477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ＭＳ Ｐゴシック"/>
                <a:ea typeface="ＭＳ Ｐゴシック"/>
              </a:rPr>
              <a:t>Z</a:t>
            </a:r>
            <a:r>
              <a:rPr b="0" lang="ja-JP" sz="2800" strike="noStrike" u="none">
                <a:solidFill>
                  <a:schemeClr val="dk1"/>
                </a:solidFill>
                <a:effectLst/>
                <a:uFillTx/>
                <a:latin typeface="ＭＳ Ｐゴシック"/>
                <a:ea typeface="ＭＳ Ｐゴシック"/>
              </a:rPr>
              <a:t>軸誤差も改善</a:t>
            </a:r>
            <a:endParaRPr b="0" lang="en-US" sz="2800" strike="noStrike" u="none">
              <a:solidFill>
                <a:srgbClr val="000000"/>
              </a:solidFill>
              <a:effectLst/>
              <a:uFillTx/>
              <a:latin typeface="Arial"/>
            </a:endParaRPr>
          </a:p>
        </p:txBody>
      </p:sp>
      <p:sp>
        <p:nvSpPr>
          <p:cNvPr id="186" name="矢印: 右 2"/>
          <p:cNvSpPr/>
          <p:nvPr/>
        </p:nvSpPr>
        <p:spPr>
          <a:xfrm>
            <a:off x="5760360" y="4140360"/>
            <a:ext cx="1616760" cy="356760"/>
          </a:xfrm>
          <a:prstGeom prst="rightArrow">
            <a:avLst>
              <a:gd name="adj1" fmla="val 50000"/>
              <a:gd name="adj2" fmla="val 1125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rgbClr val="000000"/>
              </a:solidFill>
              <a:effectLst/>
              <a:uFillTx/>
              <a:latin typeface="Arial"/>
              <a:ea typeface="DejaVu Sans"/>
            </a:endParaRPr>
          </a:p>
        </p:txBody>
      </p:sp>
      <p:pic>
        <p:nvPicPr>
          <p:cNvPr id="187" name="図 143" descr=""/>
          <p:cNvPicPr/>
          <p:nvPr/>
        </p:nvPicPr>
        <p:blipFill>
          <a:blip r:embed="rId1"/>
          <a:stretch/>
        </p:blipFill>
        <p:spPr>
          <a:xfrm>
            <a:off x="900000" y="2610000"/>
            <a:ext cx="4677120" cy="3507120"/>
          </a:xfrm>
          <a:prstGeom prst="rect">
            <a:avLst/>
          </a:prstGeom>
          <a:noFill/>
          <a:ln w="36000">
            <a:noFill/>
          </a:ln>
        </p:spPr>
      </p:pic>
      <p:pic>
        <p:nvPicPr>
          <p:cNvPr id="188" name="図 144" descr=""/>
          <p:cNvPicPr/>
          <p:nvPr/>
        </p:nvPicPr>
        <p:blipFill>
          <a:blip r:embed="rId2"/>
          <a:srcRect l="26169" t="0" r="15385" b="13173"/>
          <a:stretch/>
        </p:blipFill>
        <p:spPr>
          <a:xfrm>
            <a:off x="7740000" y="1800000"/>
            <a:ext cx="3957120" cy="4409280"/>
          </a:xfrm>
          <a:prstGeom prst="rect">
            <a:avLst/>
          </a:prstGeom>
          <a:noFill/>
          <a:ln w="3600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838080" y="365040"/>
            <a:ext cx="10512000" cy="1321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今後の方針・課題</a:t>
            </a:r>
            <a:endParaRPr b="0" lang="en-US" sz="4400" strike="noStrike" u="none">
              <a:solidFill>
                <a:srgbClr val="000000"/>
              </a:solidFill>
              <a:effectLst/>
              <a:uFillTx/>
              <a:latin typeface="Arial"/>
            </a:endParaRPr>
          </a:p>
        </p:txBody>
      </p:sp>
      <p:sp>
        <p:nvSpPr>
          <p:cNvPr id="190" name="PlaceHolder 2"/>
          <p:cNvSpPr>
            <a:spLocks noGrp="1"/>
          </p:cNvSpPr>
          <p:nvPr>
            <p:ph/>
          </p:nvPr>
        </p:nvSpPr>
        <p:spPr>
          <a:xfrm>
            <a:off x="838080" y="1825560"/>
            <a:ext cx="10512000" cy="43477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ＭＳ Ｐゴシック"/>
                <a:ea typeface="ＭＳ Ｐゴシック"/>
              </a:rPr>
              <a:t>座標推定の遅延、誤差を評価</a:t>
            </a: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r>
              <a:rPr b="0" lang="en-US" sz="2800" strike="noStrike" u="none">
                <a:solidFill>
                  <a:schemeClr val="dk1"/>
                </a:solidFill>
                <a:effectLst/>
                <a:uFillTx/>
                <a:latin typeface="ＭＳ Ｐゴシック"/>
                <a:ea typeface="ＭＳ Ｐゴシック"/>
              </a:rPr>
              <a:t>→キャリブレーション手法、カメラ間隔の調整等</a:t>
            </a: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r>
              <a:rPr b="0" lang="ja-JP" sz="2800" strike="noStrike" u="none">
                <a:solidFill>
                  <a:schemeClr val="dk1"/>
                </a:solidFill>
                <a:effectLst/>
                <a:uFillTx/>
                <a:latin typeface="ＭＳ Ｐゴシック"/>
                <a:ea typeface="ＭＳ Ｐゴシック"/>
              </a:rPr>
              <a:t>・カメラを基準としたカメラ座標系からキーボードを基準とした世界座標系への変換</a:t>
            </a: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r>
              <a:rPr b="0" lang="en-US" sz="2800" strike="noStrike" u="none">
                <a:solidFill>
                  <a:schemeClr val="dk1"/>
                </a:solidFill>
                <a:effectLst/>
                <a:uFillTx/>
                <a:latin typeface="ＭＳ Ｐゴシック"/>
                <a:ea typeface="ＭＳ Ｐゴシック"/>
              </a:rPr>
              <a:t>→共同研究との統合</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1292</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2025-10-07T12:17:36Z</dcterms:created>
  <dc:creator>5I25 萩 郁人【鈴鹿】</dc:creator>
  <dc:description/>
  <dc:language>ja-JP</dc:language>
  <cp:lastModifiedBy/>
  <dcterms:modified xsi:type="dcterms:W3CDTF">2025-10-14T11:45:03Z</dcterms:modified>
  <cp:revision>54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0x0101003F66480A09F15D42854004C53E6862D1</vt:lpwstr>
  </property>
  <property fmtid="{D5CDD505-2E9C-101B-9397-08002B2CF9AE}" pid="3" name="Notes">
    <vt:i4>13</vt:i4>
  </property>
  <property fmtid="{D5CDD505-2E9C-101B-9397-08002B2CF9AE}" pid="4" name="PresentationFormat">
    <vt:lpwstr>ワイド画面</vt:lpwstr>
  </property>
  <property fmtid="{D5CDD505-2E9C-101B-9397-08002B2CF9AE}" pid="5" name="Slides">
    <vt:i4>13</vt:i4>
  </property>
</Properties>
</file>