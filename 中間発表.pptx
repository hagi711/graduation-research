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7.xml" ContentType="application/vnd.openxmlformats-officedocument.theme+xml"/>
  <Override PartName="/ppt/slideLayouts/slideLayout9.xml" ContentType="application/vnd.openxmlformats-officedocument.presentationml.slideLayout+xml"/>
  <Override PartName="/ppt/theme/theme8.xml" ContentType="application/vnd.openxmlformats-officedocument.theme+xml"/>
  <Override PartName="/ppt/slideLayouts/slideLayout10.xml" ContentType="application/vnd.openxmlformats-officedocument.presentationml.slideLayout+xml"/>
  <Override PartName="/ppt/theme/theme9.xml" ContentType="application/vnd.openxmlformats-officedocument.theme+xml"/>
  <Override PartName="/ppt/slideLayouts/slideLayout11.xml" ContentType="application/vnd.openxmlformats-officedocument.presentationml.slideLayout+xml"/>
  <Override PartName="/ppt/theme/theme10.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11.xml" ContentType="application/vnd.openxmlformats-officedocument.theme+xml"/>
  <Override PartName="/ppt/slideLayouts/slideLayout14.xml" ContentType="application/vnd.openxmlformats-officedocument.presentationml.slideLayout+xml"/>
  <Override PartName="/ppt/theme/theme12.xml" ContentType="application/vnd.openxmlformats-officedocument.theme+xml"/>
  <Override PartName="/ppt/slideLayouts/slideLayout15.xml" ContentType="application/vnd.openxmlformats-officedocument.presentationml.slideLayout+xml"/>
  <Override PartName="/ppt/theme/theme13.xml" ContentType="application/vnd.openxmlformats-officedocument.theme+xml"/>
  <Override PartName="/ppt/theme/theme1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3" r:id="rId8"/>
    <p:sldMasterId id="2147483665" r:id="rId9"/>
    <p:sldMasterId id="2147483667" r:id="rId10"/>
    <p:sldMasterId id="2147483669" r:id="rId11"/>
    <p:sldMasterId id="2147483672" r:id="rId12"/>
    <p:sldMasterId id="2147483674" r:id="rId13"/>
  </p:sldMasterIdLst>
  <p:notesMasterIdLst>
    <p:notesMasterId r:id="rId27"/>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Lst>
  <p:sldSz cx="12192000" cy="6858000"/>
  <p:notesSz cx="7559675" cy="106918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892E140-00F4-4F4E-B004-6A74A695A79E}" v="2" dt="2025-10-10T01:00:00.0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Master" Target="slideMasters/slideMaster13.xml"/><Relationship Id="rId18" Type="http://schemas.openxmlformats.org/officeDocument/2006/relationships/slide" Target="slides/slide5.xml"/><Relationship Id="rId26" Type="http://schemas.openxmlformats.org/officeDocument/2006/relationships/slide" Target="slides/slide13.xml"/><Relationship Id="rId3" Type="http://schemas.openxmlformats.org/officeDocument/2006/relationships/slideMaster" Target="slideMasters/slideMaster3.xml"/><Relationship Id="rId21" Type="http://schemas.openxmlformats.org/officeDocument/2006/relationships/slide" Target="slides/slide8.xml"/><Relationship Id="rId7" Type="http://schemas.openxmlformats.org/officeDocument/2006/relationships/slideMaster" Target="slideMasters/slideMaster7.xml"/><Relationship Id="rId12" Type="http://schemas.openxmlformats.org/officeDocument/2006/relationships/slideMaster" Target="slideMasters/slideMaster12.xml"/><Relationship Id="rId17" Type="http://schemas.openxmlformats.org/officeDocument/2006/relationships/slide" Target="slides/slide4.xml"/><Relationship Id="rId25" Type="http://schemas.openxmlformats.org/officeDocument/2006/relationships/slide" Target="slides/slide12.xml"/><Relationship Id="rId33"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3.xml"/><Relationship Id="rId20" Type="http://schemas.openxmlformats.org/officeDocument/2006/relationships/slide" Target="slides/slide7.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1.xml"/><Relationship Id="rId32" Type="http://schemas.microsoft.com/office/2016/11/relationships/changesInfo" Target="changesInfos/changesInfo1.xml"/><Relationship Id="rId5" Type="http://schemas.openxmlformats.org/officeDocument/2006/relationships/slideMaster" Target="slideMasters/slideMaster5.xml"/><Relationship Id="rId15" Type="http://schemas.openxmlformats.org/officeDocument/2006/relationships/slide" Target="slides/slide2.xml"/><Relationship Id="rId23" Type="http://schemas.openxmlformats.org/officeDocument/2006/relationships/slide" Target="slides/slide10.xml"/><Relationship Id="rId28" Type="http://schemas.openxmlformats.org/officeDocument/2006/relationships/presProps" Target="presProps.xml"/><Relationship Id="rId10" Type="http://schemas.openxmlformats.org/officeDocument/2006/relationships/slideMaster" Target="slideMasters/slideMaster10.xml"/><Relationship Id="rId19" Type="http://schemas.openxmlformats.org/officeDocument/2006/relationships/slide" Target="slides/slide6.xml"/><Relationship Id="rId31"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1.xml"/><Relationship Id="rId22" Type="http://schemas.openxmlformats.org/officeDocument/2006/relationships/slide" Target="slides/slide9.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Master" Target="slideMasters/slideMaster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5I25 萩 郁人【鈴鹿】" userId="S::r03i27@ed.cc.suzuka-ct.ac.jp::8e6265da-c549-4fbd-b96f-b317deafbe6c" providerId="AD" clId="Web-{D892E140-00F4-4F4E-B004-6A74A695A79E}"/>
    <pc:docChg chg="addSld delSld modSld">
      <pc:chgData name="5I25 萩 郁人【鈴鹿】" userId="S::r03i27@ed.cc.suzuka-ct.ac.jp::8e6265da-c549-4fbd-b96f-b317deafbe6c" providerId="AD" clId="Web-{D892E140-00F4-4F4E-B004-6A74A695A79E}" dt="2025-10-10T01:03:46.553" v="13"/>
      <pc:docMkLst>
        <pc:docMk/>
      </pc:docMkLst>
      <pc:sldChg chg="modNotes">
        <pc:chgData name="5I25 萩 郁人【鈴鹿】" userId="S::r03i27@ed.cc.suzuka-ct.ac.jp::8e6265da-c549-4fbd-b96f-b317deafbe6c" providerId="AD" clId="Web-{D892E140-00F4-4F4E-B004-6A74A695A79E}" dt="2025-10-10T01:03:46.553" v="13"/>
        <pc:sldMkLst>
          <pc:docMk/>
          <pc:sldMk cId="0" sldId="264"/>
        </pc:sldMkLst>
      </pc:sldChg>
      <pc:sldChg chg="modNotes">
        <pc:chgData name="5I25 萩 郁人【鈴鹿】" userId="S::r03i27@ed.cc.suzuka-ct.ac.jp::8e6265da-c549-4fbd-b96f-b317deafbe6c" providerId="AD" clId="Web-{D892E140-00F4-4F4E-B004-6A74A695A79E}" dt="2025-10-10T00:53:49.497" v="5"/>
        <pc:sldMkLst>
          <pc:docMk/>
          <pc:sldMk cId="0" sldId="265"/>
        </pc:sldMkLst>
      </pc:sldChg>
      <pc:sldChg chg="new del">
        <pc:chgData name="5I25 萩 郁人【鈴鹿】" userId="S::r03i27@ed.cc.suzuka-ct.ac.jp::8e6265da-c549-4fbd-b96f-b317deafbe6c" providerId="AD" clId="Web-{D892E140-00F4-4F4E-B004-6A74A695A79E}" dt="2025-10-10T01:00:00.093" v="10"/>
        <pc:sldMkLst>
          <pc:docMk/>
          <pc:sldMk cId="2328597299" sldId="26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3" name="PlaceHolder 1"/>
          <p:cNvSpPr>
            <a:spLocks noGrp="1" noRot="1" noChangeAspect="1"/>
          </p:cNvSpPr>
          <p:nvPr>
            <p:ph type="sldImg"/>
          </p:nvPr>
        </p:nvSpPr>
        <p:spPr>
          <a:xfrm>
            <a:off x="0" y="812520"/>
            <a:ext cx="360" cy="360"/>
          </a:xfrm>
          <a:prstGeom prst="rect">
            <a:avLst/>
          </a:prstGeom>
          <a:noFill/>
          <a:ln w="0">
            <a:noFill/>
          </a:ln>
        </p:spPr>
        <p:txBody>
          <a:bodyPr lIns="0" tIns="0" rIns="0" bIns="0" anchor="ctr">
            <a:noAutofit/>
          </a:bodyPr>
          <a:lstStyle/>
          <a:p>
            <a:r>
              <a:rPr lang="ja-JP" sz="1800" b="0" u="none" strike="noStrike">
                <a:solidFill>
                  <a:schemeClr val="dk1"/>
                </a:solidFill>
                <a:effectLst/>
                <a:uFillTx/>
                <a:latin typeface="Arial"/>
              </a:rPr>
              <a:t>クリックしてスライドを移動</a:t>
            </a:r>
            <a:endParaRPr lang="en-US" sz="1800" b="0" u="none" strike="noStrike">
              <a:solidFill>
                <a:schemeClr val="dk1"/>
              </a:solidFill>
              <a:effectLst/>
              <a:uFillTx/>
              <a:latin typeface="Arial"/>
            </a:endParaRPr>
          </a:p>
        </p:txBody>
      </p:sp>
      <p:sp>
        <p:nvSpPr>
          <p:cNvPr id="94"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ja-JP" sz="2000" b="0" u="none" strike="noStrike">
                <a:solidFill>
                  <a:srgbClr val="000000"/>
                </a:solidFill>
                <a:effectLst/>
                <a:uFillTx/>
                <a:latin typeface="Arial"/>
              </a:rPr>
              <a:t>クリックしてノートの書式を編集</a:t>
            </a:r>
            <a:endParaRPr lang="en-US" sz="2000" b="0" u="none" strike="noStrike">
              <a:solidFill>
                <a:srgbClr val="000000"/>
              </a:solidFill>
              <a:effectLst/>
              <a:uFillTx/>
              <a:latin typeface="Arial"/>
            </a:endParaRPr>
          </a:p>
        </p:txBody>
      </p:sp>
      <p:sp>
        <p:nvSpPr>
          <p:cNvPr id="95"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Noto Serif CJK JP"/>
              </a:rPr>
              <a:t>&lt;ヘッダー&gt;</a:t>
            </a:r>
          </a:p>
        </p:txBody>
      </p:sp>
      <p:sp>
        <p:nvSpPr>
          <p:cNvPr id="96" name="PlaceHolder 4"/>
          <p:cNvSpPr>
            <a:spLocks noGrp="1"/>
          </p:cNvSpPr>
          <p:nvPr>
            <p:ph type="dt" idx="40"/>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Noto Serif CJK JP"/>
              </a:defRPr>
            </a:lvl1pPr>
          </a:lstStyle>
          <a:p>
            <a:pPr indent="0" algn="r">
              <a:buNone/>
            </a:pPr>
            <a:r>
              <a:rPr lang="en-US" sz="1400" b="0" u="none" strike="noStrike">
                <a:solidFill>
                  <a:srgbClr val="000000"/>
                </a:solidFill>
                <a:effectLst/>
                <a:uFillTx/>
                <a:latin typeface="Noto Serif CJK JP"/>
              </a:rPr>
              <a:t>&lt;日付/時刻&gt;</a:t>
            </a:r>
          </a:p>
        </p:txBody>
      </p:sp>
      <p:sp>
        <p:nvSpPr>
          <p:cNvPr id="97" name="PlaceHolder 5"/>
          <p:cNvSpPr>
            <a:spLocks noGrp="1"/>
          </p:cNvSpPr>
          <p:nvPr>
            <p:ph type="ftr" idx="41"/>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&lt;フッター&gt;</a:t>
            </a:r>
          </a:p>
        </p:txBody>
      </p:sp>
      <p:sp>
        <p:nvSpPr>
          <p:cNvPr id="98" name="PlaceHolder 6"/>
          <p:cNvSpPr>
            <a:spLocks noGrp="1"/>
          </p:cNvSpPr>
          <p:nvPr>
            <p:ph type="sldNum" idx="42"/>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Noto Serif CJK JP"/>
              </a:defRPr>
            </a:lvl1pPr>
          </a:lstStyle>
          <a:p>
            <a:pPr indent="0" algn="r">
              <a:buNone/>
            </a:pPr>
            <a:fld id="{EC89E852-94E9-4E24-8AF1-AF0B5A042D10}" type="slidenum">
              <a:rPr lang="en-US" sz="1400" b="0" u="none" strike="noStrike">
                <a:solidFill>
                  <a:srgbClr val="000000"/>
                </a:solidFill>
                <a:effectLst/>
                <a:uFillTx/>
                <a:latin typeface="Noto Serif CJK JP"/>
              </a:rPr>
              <a:t>‹#›</a:t>
            </a:fld>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PlaceHolder 1"/>
          <p:cNvSpPr>
            <a:spLocks noGrp="1" noRot="1" noChangeAspect="1"/>
          </p:cNvSpPr>
          <p:nvPr>
            <p:ph type="sldImg"/>
          </p:nvPr>
        </p:nvSpPr>
        <p:spPr>
          <a:xfrm>
            <a:off x="0" y="812520"/>
            <a:ext cx="0" cy="0"/>
          </a:xfrm>
          <a:prstGeom prst="rect">
            <a:avLst/>
          </a:prstGeom>
          <a:ln w="0">
            <a:noFill/>
          </a:ln>
        </p:spPr>
      </p:sp>
      <p:sp>
        <p:nvSpPr>
          <p:cNvPr id="160"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buNone/>
            </a:pPr>
            <a:endParaRPr lang="en-US" sz="1800" b="0" u="none" strike="noStrike">
              <a:solidFill>
                <a:srgbClr val="000000"/>
              </a:solidFill>
              <a:effectLst/>
              <a:uFillTx/>
              <a:latin typeface="Arial"/>
            </a:endParaRPr>
          </a:p>
        </p:txBody>
      </p:sp>
      <p:sp>
        <p:nvSpPr>
          <p:cNvPr id="161" name="PlaceHolder 3"/>
          <p:cNvSpPr>
            <a:spLocks noGrp="1"/>
          </p:cNvSpPr>
          <p:nvPr>
            <p:ph type="sldNum" idx="43"/>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80386FF7-6A56-488C-AE0C-F0A13CD5B6F3}" type="slidenum">
              <a:rPr lang="en-US" sz="1400" b="0" u="none" strike="noStrike">
                <a:solidFill>
                  <a:srgbClr val="000000"/>
                </a:solidFill>
                <a:effectLst/>
                <a:uFillTx/>
                <a:latin typeface="Noto Serif CJK JP"/>
              </a:rPr>
              <a:t>1</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PlaceHolder 1"/>
          <p:cNvSpPr>
            <a:spLocks noGrp="1" noRot="1" noChangeAspect="1"/>
          </p:cNvSpPr>
          <p:nvPr>
            <p:ph type="sldImg"/>
          </p:nvPr>
        </p:nvSpPr>
        <p:spPr>
          <a:xfrm>
            <a:off x="0" y="812880"/>
            <a:ext cx="0" cy="0"/>
          </a:xfrm>
          <a:prstGeom prst="rect">
            <a:avLst/>
          </a:prstGeom>
          <a:ln w="0">
            <a:noFill/>
          </a:ln>
        </p:spPr>
      </p:sp>
      <p:sp>
        <p:nvSpPr>
          <p:cNvPr id="163"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defTabSz="914400">
              <a:lnSpc>
                <a:spcPct val="90000"/>
              </a:lnSpc>
              <a:spcBef>
                <a:spcPts val="1001"/>
              </a:spcBef>
              <a:buNone/>
              <a:tabLst>
                <a:tab pos="0" algn="l"/>
              </a:tabLst>
            </a:pPr>
            <a:r>
              <a:rPr lang="ja-JP" sz="2000" b="0" u="none" strike="noStrike">
                <a:solidFill>
                  <a:srgbClr val="000000"/>
                </a:solidFill>
                <a:effectLst/>
                <a:uFillTx/>
                <a:latin typeface="Arial"/>
              </a:rPr>
              <a:t>背景について説明します。タイピングにおいてホームポジションに</a:t>
            </a:r>
            <a:r>
              <a:rPr lang="ja-JP" sz="1200" b="0" u="none" strike="noStrike">
                <a:solidFill>
                  <a:schemeClr val="dk1"/>
                </a:solidFill>
                <a:effectLst/>
                <a:uFillTx/>
                <a:latin typeface="Aptos"/>
              </a:rPr>
              <a:t>則った入力はタイピング速度の向上やタイプミスの減少などが期待できますが、</a:t>
            </a:r>
            <a:endParaRPr lang="en-US" sz="1200" b="0" u="none" strike="noStrike">
              <a:solidFill>
                <a:srgbClr val="000000"/>
              </a:solidFill>
              <a:effectLst/>
              <a:uFillTx/>
              <a:latin typeface="Arial"/>
            </a:endParaRPr>
          </a:p>
          <a:p>
            <a:pPr indent="0" defTabSz="914400">
              <a:lnSpc>
                <a:spcPct val="90000"/>
              </a:lnSpc>
              <a:spcBef>
                <a:spcPts val="1001"/>
              </a:spcBef>
              <a:buNone/>
              <a:tabLst>
                <a:tab pos="0" algn="l"/>
              </a:tabLst>
            </a:pPr>
            <a:r>
              <a:rPr lang="ja-JP" sz="1200" b="0" u="none" strike="noStrike">
                <a:solidFill>
                  <a:schemeClr val="dk1"/>
                </a:solidFill>
                <a:effectLst/>
                <a:uFillTx/>
                <a:latin typeface="Aptos"/>
              </a:rPr>
              <a:t>現在のタイピング練習ソフトでは入力の速度や正確さを測定するのみで、正しい入力方法かどうかは判定できません。</a:t>
            </a:r>
            <a:endParaRPr lang="en-US" sz="1200" b="0" u="none" strike="noStrike">
              <a:solidFill>
                <a:srgbClr val="000000"/>
              </a:solidFill>
              <a:effectLst/>
              <a:uFillTx/>
              <a:latin typeface="Arial"/>
            </a:endParaRPr>
          </a:p>
          <a:p>
            <a:pPr indent="0" defTabSz="914400">
              <a:lnSpc>
                <a:spcPct val="90000"/>
              </a:lnSpc>
              <a:spcBef>
                <a:spcPts val="1001"/>
              </a:spcBef>
              <a:buNone/>
              <a:tabLst>
                <a:tab pos="0" algn="l"/>
              </a:tabLst>
            </a:pPr>
            <a:r>
              <a:rPr lang="ja-JP" sz="1200" b="0" u="none" strike="noStrike">
                <a:solidFill>
                  <a:srgbClr val="000000"/>
                </a:solidFill>
                <a:effectLst/>
                <a:uFillTx/>
                <a:latin typeface="+mn-lt"/>
              </a:rPr>
              <a:t>よって</a:t>
            </a:r>
            <a:r>
              <a:rPr lang="ja-JP" sz="1200" b="0" u="none" strike="noStrike">
                <a:solidFill>
                  <a:schemeClr val="dk1"/>
                </a:solidFill>
                <a:effectLst/>
                <a:uFillTx/>
                <a:latin typeface="Aptos"/>
              </a:rPr>
              <a:t>、入力を行う手やキーボードの映像から正しい入力が行われているか判定するシステムを開発し、ホームポジションを意識したタイピング練習を気軽に行えるようにすることを目的としています。</a:t>
            </a:r>
            <a:endParaRPr lang="en-US" sz="1200" b="0" u="none" strike="noStrike">
              <a:solidFill>
                <a:srgbClr val="000000"/>
              </a:solidFill>
              <a:effectLst/>
              <a:uFillTx/>
              <a:latin typeface="Arial"/>
            </a:endParaRPr>
          </a:p>
          <a:p>
            <a:pPr indent="0" defTabSz="914400">
              <a:lnSpc>
                <a:spcPct val="90000"/>
              </a:lnSpc>
              <a:spcBef>
                <a:spcPts val="1001"/>
              </a:spcBef>
              <a:buNone/>
              <a:tabLst>
                <a:tab pos="0" algn="l"/>
              </a:tabLst>
            </a:pPr>
            <a:r>
              <a:rPr lang="en-US" sz="1200" b="0" u="none" strike="noStrike">
                <a:solidFill>
                  <a:schemeClr val="dk1"/>
                </a:solidFill>
                <a:effectLst/>
                <a:uFillTx/>
                <a:latin typeface="Aptos"/>
              </a:rPr>
              <a:t> 43</a:t>
            </a:r>
            <a:endParaRPr lang="en-US" sz="1200" b="0" u="none" strike="noStrike">
              <a:solidFill>
                <a:srgbClr val="000000"/>
              </a:solidFill>
              <a:effectLst/>
              <a:uFillTx/>
              <a:latin typeface="Arial"/>
            </a:endParaRPr>
          </a:p>
        </p:txBody>
      </p:sp>
      <p:sp>
        <p:nvSpPr>
          <p:cNvPr id="164" name="PlaceHolder 3"/>
          <p:cNvSpPr>
            <a:spLocks noGrp="1"/>
          </p:cNvSpPr>
          <p:nvPr>
            <p:ph type="sldNum" idx="44"/>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DF980DEF-5F06-4748-BD64-36457EF5CDC3}" type="slidenum">
              <a:rPr lang="en-US" sz="1400" b="0" u="none" strike="noStrike">
                <a:solidFill>
                  <a:srgbClr val="000000"/>
                </a:solidFill>
                <a:effectLst/>
                <a:uFillTx/>
                <a:latin typeface="Noto Serif CJK JP"/>
              </a:rPr>
              <a:t>2</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PlaceHolder 1"/>
          <p:cNvSpPr>
            <a:spLocks noGrp="1" noRot="1" noChangeAspect="1"/>
          </p:cNvSpPr>
          <p:nvPr>
            <p:ph type="sldImg"/>
          </p:nvPr>
        </p:nvSpPr>
        <p:spPr>
          <a:xfrm>
            <a:off x="0" y="812880"/>
            <a:ext cx="0" cy="0"/>
          </a:xfrm>
          <a:prstGeom prst="rect">
            <a:avLst/>
          </a:prstGeom>
          <a:ln w="0">
            <a:noFill/>
          </a:ln>
        </p:spPr>
      </p:sp>
      <p:sp>
        <p:nvSpPr>
          <p:cNvPr id="166"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spcBef>
                <a:spcPts val="1191"/>
              </a:spcBef>
              <a:spcAft>
                <a:spcPts val="992"/>
              </a:spcAft>
              <a:buNone/>
            </a:pPr>
            <a:r>
              <a:rPr lang="ja-JP" sz="2000" b="0" u="none" strike="noStrike">
                <a:solidFill>
                  <a:srgbClr val="000000"/>
                </a:solidFill>
                <a:effectLst/>
                <a:uFillTx/>
                <a:latin typeface="Arial"/>
              </a:rPr>
              <a:t>開発するシステムは、大きく</a:t>
            </a:r>
            <a:r>
              <a:rPr lang="en-US" sz="2000" b="0" u="none" strike="noStrike">
                <a:solidFill>
                  <a:srgbClr val="000000"/>
                </a:solidFill>
                <a:effectLst/>
                <a:uFillTx/>
                <a:latin typeface="Arial"/>
              </a:rPr>
              <a:t>3</a:t>
            </a:r>
            <a:r>
              <a:rPr lang="ja-JP" sz="2000" b="0" u="none" strike="noStrike">
                <a:solidFill>
                  <a:srgbClr val="000000"/>
                </a:solidFill>
                <a:effectLst/>
                <a:uFillTx/>
                <a:latin typeface="Arial"/>
              </a:rPr>
              <a:t>つの工程で構成されます。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pPr>
            <a:r>
              <a:rPr lang="ja-JP" sz="2000" b="0" u="none" strike="noStrike">
                <a:solidFill>
                  <a:srgbClr val="000000"/>
                </a:solidFill>
                <a:effectLst/>
                <a:uFillTx/>
                <a:latin typeface="Arial"/>
              </a:rPr>
              <a:t>まず、カメラ映像から指先の座標を推定します。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pPr>
            <a:r>
              <a:rPr lang="ja-JP" sz="2000" b="0" u="none" strike="noStrike">
                <a:solidFill>
                  <a:srgbClr val="000000"/>
                </a:solidFill>
                <a:effectLst/>
                <a:uFillTx/>
                <a:latin typeface="Arial"/>
              </a:rPr>
              <a:t>しかし、この座標はカメラを基準とした座標系であるため、次にキーボード基準の座標系へ変換します。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pPr>
            <a:r>
              <a:rPr lang="ja-JP" sz="2000" b="0" u="none" strike="noStrike">
                <a:solidFill>
                  <a:srgbClr val="000000"/>
                </a:solidFill>
                <a:effectLst/>
                <a:uFillTx/>
                <a:latin typeface="Arial"/>
              </a:rPr>
              <a:t>最後に、同一の座標系上で指先とキーの位置を比較し、どのキーがどんな方法で入力されたかを判定します。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pPr>
            <a:r>
              <a:rPr lang="ja-JP" sz="2000" b="0" u="none" strike="noStrike">
                <a:solidFill>
                  <a:srgbClr val="000000"/>
                </a:solidFill>
                <a:effectLst/>
                <a:uFillTx/>
                <a:latin typeface="Arial"/>
              </a:rPr>
              <a:t>本研究は共同研究であり、私はこの中で</a:t>
            </a:r>
            <a:r>
              <a:rPr lang="en-US" sz="2000" b="0" u="none" strike="noStrike">
                <a:solidFill>
                  <a:srgbClr val="000000"/>
                </a:solidFill>
                <a:effectLst/>
                <a:uFillTx/>
                <a:latin typeface="Arial"/>
              </a:rPr>
              <a:t>1</a:t>
            </a:r>
            <a:r>
              <a:rPr lang="ja-JP" sz="2000" b="0" u="none" strike="noStrike">
                <a:solidFill>
                  <a:srgbClr val="000000"/>
                </a:solidFill>
                <a:effectLst/>
                <a:uFillTx/>
                <a:latin typeface="Arial"/>
              </a:rPr>
              <a:t>番の「指先座標の推定」を担当しています。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pPr>
            <a:endParaRPr lang="en-US" sz="2000" b="0" u="none" strike="noStrike">
              <a:solidFill>
                <a:srgbClr val="000000"/>
              </a:solidFill>
              <a:effectLst/>
              <a:uFillTx/>
              <a:latin typeface="Arial"/>
            </a:endParaRPr>
          </a:p>
          <a:p>
            <a:pPr indent="0">
              <a:lnSpc>
                <a:spcPct val="100000"/>
              </a:lnSpc>
              <a:buNone/>
            </a:pPr>
            <a:r>
              <a:rPr lang="en-US" sz="1200" b="0" u="none" strike="noStrike">
                <a:solidFill>
                  <a:srgbClr val="000000"/>
                </a:solidFill>
                <a:effectLst/>
                <a:uFillTx/>
                <a:latin typeface="Arial"/>
              </a:rPr>
              <a:t>120</a:t>
            </a:r>
          </a:p>
        </p:txBody>
      </p:sp>
      <p:sp>
        <p:nvSpPr>
          <p:cNvPr id="167" name="PlaceHolder 3"/>
          <p:cNvSpPr>
            <a:spLocks noGrp="1"/>
          </p:cNvSpPr>
          <p:nvPr>
            <p:ph type="sldNum" idx="45"/>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4D5247C9-6CC0-40F8-A610-441B866052E5}" type="slidenum">
              <a:rPr lang="en-US" sz="1400" b="0" u="none" strike="noStrike">
                <a:solidFill>
                  <a:srgbClr val="000000"/>
                </a:solidFill>
                <a:effectLst/>
                <a:uFillTx/>
                <a:latin typeface="Noto Serif CJK JP"/>
              </a:rPr>
              <a:t>3</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PlaceHolder 1"/>
          <p:cNvSpPr>
            <a:spLocks noGrp="1" noRot="1" noChangeAspect="1"/>
          </p:cNvSpPr>
          <p:nvPr>
            <p:ph type="sldImg"/>
          </p:nvPr>
        </p:nvSpPr>
        <p:spPr>
          <a:xfrm>
            <a:off x="217440" y="812880"/>
            <a:ext cx="7124400" cy="4008240"/>
          </a:xfrm>
          <a:prstGeom prst="rect">
            <a:avLst/>
          </a:prstGeom>
          <a:ln w="0">
            <a:noFill/>
          </a:ln>
        </p:spPr>
      </p:sp>
      <p:sp>
        <p:nvSpPr>
          <p:cNvPr id="169"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tabLst>
                <a:tab pos="0" algn="l"/>
              </a:tabLst>
            </a:pPr>
            <a:r>
              <a:rPr lang="ja-JP" sz="2000" b="0" u="none" strike="noStrike">
                <a:solidFill>
                  <a:srgbClr val="000000"/>
                </a:solidFill>
                <a:effectLst/>
                <a:uFillTx/>
                <a:latin typeface="Arial"/>
              </a:rPr>
              <a:t>映像からの手の座標の推定には</a:t>
            </a:r>
            <a:r>
              <a:rPr lang="en-US" sz="2000" b="0" u="none" strike="noStrike">
                <a:solidFill>
                  <a:srgbClr val="000000"/>
                </a:solidFill>
                <a:effectLst/>
                <a:uFillTx/>
                <a:latin typeface="Arial"/>
              </a:rPr>
              <a:t>MediaPipe Hand Landmarker</a:t>
            </a:r>
            <a:r>
              <a:rPr lang="ja-JP" sz="2000" b="0" u="none" strike="noStrike">
                <a:solidFill>
                  <a:srgbClr val="000000"/>
                </a:solidFill>
                <a:effectLst/>
                <a:uFillTx/>
                <a:latin typeface="Arial"/>
              </a:rPr>
              <a:t>を使用します。</a:t>
            </a:r>
            <a:r>
              <a:rPr lang="en-US" sz="2000" b="0" u="none" strike="noStrike">
                <a:solidFill>
                  <a:srgbClr val="000000"/>
                </a:solidFill>
                <a:effectLst/>
                <a:uFillTx/>
                <a:latin typeface="Arial"/>
              </a:rPr>
              <a:t>MediaPipe</a:t>
            </a:r>
            <a:r>
              <a:rPr lang="ja-JP" sz="2000" b="0" u="none" strike="noStrike">
                <a:solidFill>
                  <a:srgbClr val="000000"/>
                </a:solidFill>
                <a:effectLst/>
                <a:uFillTx/>
                <a:latin typeface="Arial"/>
              </a:rPr>
              <a:t>とは</a:t>
            </a:r>
            <a:r>
              <a:rPr lang="en-US" sz="2000" b="0" u="none" strike="noStrike">
                <a:solidFill>
                  <a:srgbClr val="000000"/>
                </a:solidFill>
                <a:effectLst/>
                <a:uFillTx/>
                <a:latin typeface="Arial"/>
              </a:rPr>
              <a:t>Google</a:t>
            </a:r>
            <a:r>
              <a:rPr lang="ja-JP" sz="2000" b="0" u="none" strike="noStrike">
                <a:solidFill>
                  <a:srgbClr val="000000"/>
                </a:solidFill>
                <a:effectLst/>
                <a:uFillTx/>
                <a:latin typeface="Arial"/>
              </a:rPr>
              <a:t>社が提供するライブメディア処理のためのオープンソース機械学習ソリューションです。その中でも</a:t>
            </a:r>
            <a:r>
              <a:rPr lang="en-US" sz="2000" b="0" u="none" strike="noStrike">
                <a:solidFill>
                  <a:srgbClr val="000000"/>
                </a:solidFill>
                <a:effectLst/>
                <a:uFillTx/>
                <a:latin typeface="Arial"/>
              </a:rPr>
              <a:t>Hand Landmarker</a:t>
            </a:r>
            <a:r>
              <a:rPr lang="ja-JP" sz="2000" b="0" u="none" strike="noStrike">
                <a:solidFill>
                  <a:srgbClr val="000000"/>
                </a:solidFill>
                <a:effectLst/>
                <a:uFillTx/>
                <a:latin typeface="Arial"/>
              </a:rPr>
              <a:t>は手や指の座標推定を行うモデルで、手の位置や</a:t>
            </a:r>
            <a:r>
              <a:rPr lang="en-US" sz="2000" b="0" u="none" strike="noStrike">
                <a:solidFill>
                  <a:srgbClr val="000000"/>
                </a:solidFill>
                <a:effectLst/>
                <a:uFillTx/>
                <a:latin typeface="Arial"/>
              </a:rPr>
              <a:t>21</a:t>
            </a:r>
            <a:r>
              <a:rPr lang="ja-JP" sz="2000" b="0" u="none" strike="noStrike">
                <a:solidFill>
                  <a:srgbClr val="000000"/>
                </a:solidFill>
                <a:effectLst/>
                <a:uFillTx/>
                <a:latin typeface="Arial"/>
              </a:rPr>
              <a:t>個のランドマークをリアルタイムに推定します。具体的なランドマークは図のように設定されていて、手首を含む各関節点と指先の座標を推定することができます。</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154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 name="PlaceHolder 1"/>
          <p:cNvSpPr>
            <a:spLocks noGrp="1" noRot="1" noChangeAspect="1"/>
          </p:cNvSpPr>
          <p:nvPr>
            <p:ph type="sldImg"/>
          </p:nvPr>
        </p:nvSpPr>
        <p:spPr>
          <a:xfrm>
            <a:off x="217440" y="812880"/>
            <a:ext cx="7124400" cy="4008240"/>
          </a:xfrm>
          <a:prstGeom prst="rect">
            <a:avLst/>
          </a:prstGeom>
          <a:ln w="0">
            <a:noFill/>
          </a:ln>
        </p:spPr>
      </p:sp>
      <p:sp>
        <p:nvSpPr>
          <p:cNvPr id="171"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tabLst>
                <a:tab pos="0" algn="l"/>
              </a:tabLst>
            </a:pPr>
            <a:r>
              <a:rPr lang="en-US" sz="2000" b="0" u="none" strike="noStrike">
                <a:solidFill>
                  <a:srgbClr val="000000"/>
                </a:solidFill>
                <a:effectLst/>
                <a:uFillTx/>
                <a:latin typeface="Arial"/>
              </a:rPr>
              <a:t>MediaPipe Hand Landmarker</a:t>
            </a:r>
            <a:r>
              <a:rPr lang="ja-JP" sz="2000" b="0" u="none" strike="noStrike">
                <a:solidFill>
                  <a:srgbClr val="000000"/>
                </a:solidFill>
                <a:effectLst/>
                <a:uFillTx/>
                <a:latin typeface="Arial"/>
              </a:rPr>
              <a:t>は主に映像から手の</a:t>
            </a:r>
            <a:r>
              <a:rPr lang="en-US" sz="2000" b="0" u="none" strike="noStrike">
                <a:solidFill>
                  <a:srgbClr val="000000"/>
                </a:solidFill>
                <a:effectLst/>
                <a:uFillTx/>
                <a:latin typeface="Arial"/>
              </a:rPr>
              <a:t>2</a:t>
            </a:r>
            <a:r>
              <a:rPr lang="ja-JP" sz="2000" b="0" u="none" strike="noStrike">
                <a:solidFill>
                  <a:srgbClr val="000000"/>
                </a:solidFill>
                <a:effectLst/>
                <a:uFillTx/>
                <a:latin typeface="Arial"/>
              </a:rPr>
              <a:t>次元座標を推定するために用いられますが、</a:t>
            </a:r>
            <a:r>
              <a:rPr lang="en-US" sz="2000" b="0" u="none" strike="noStrike">
                <a:solidFill>
                  <a:srgbClr val="000000"/>
                </a:solidFill>
                <a:effectLst/>
                <a:uFillTx/>
                <a:latin typeface="Arial"/>
              </a:rPr>
              <a:t>z</a:t>
            </a:r>
            <a:r>
              <a:rPr lang="ja-JP" sz="2000" b="0" u="none" strike="noStrike">
                <a:solidFill>
                  <a:srgbClr val="000000"/>
                </a:solidFill>
                <a:effectLst/>
                <a:uFillTx/>
                <a:latin typeface="Arial"/>
              </a:rPr>
              <a:t>座標を含む</a:t>
            </a:r>
            <a:r>
              <a:rPr lang="en-US" sz="2000" b="0" u="none" strike="noStrike">
                <a:solidFill>
                  <a:srgbClr val="000000"/>
                </a:solidFill>
                <a:effectLst/>
                <a:uFillTx/>
                <a:latin typeface="Arial"/>
              </a:rPr>
              <a:t>3</a:t>
            </a:r>
            <a:r>
              <a:rPr lang="ja-JP" sz="2000" b="0" u="none" strike="noStrike">
                <a:solidFill>
                  <a:srgbClr val="000000"/>
                </a:solidFill>
                <a:effectLst/>
                <a:uFillTx/>
                <a:latin typeface="Arial"/>
              </a:rPr>
              <a:t>次元推定も可能です。</a:t>
            </a:r>
            <a:br>
              <a:rPr sz="2000"/>
            </a:br>
            <a:r>
              <a:rPr lang="ja-JP" sz="2000" b="0" u="none" strike="noStrike">
                <a:solidFill>
                  <a:srgbClr val="000000"/>
                </a:solidFill>
                <a:effectLst/>
                <a:uFillTx/>
                <a:latin typeface="Arial"/>
              </a:rPr>
              <a:t>昨年度の先行研究ではこの</a:t>
            </a:r>
            <a:r>
              <a:rPr lang="en-US" sz="2000" b="0" u="none" strike="noStrike">
                <a:solidFill>
                  <a:srgbClr val="000000"/>
                </a:solidFill>
                <a:effectLst/>
                <a:uFillTx/>
                <a:latin typeface="Arial"/>
              </a:rPr>
              <a:t>3</a:t>
            </a:r>
            <a:r>
              <a:rPr lang="ja-JP" sz="2000" b="0" u="none" strike="noStrike">
                <a:solidFill>
                  <a:srgbClr val="000000"/>
                </a:solidFill>
                <a:effectLst/>
                <a:uFillTx/>
                <a:latin typeface="Arial"/>
              </a:rPr>
              <a:t>次元座標推定を利用しましたが、奥行方向の精度に大きな問題があることが分かりました。</a:t>
            </a:r>
            <a:br>
              <a:rPr sz="2000"/>
            </a:br>
            <a:r>
              <a:rPr lang="ja-JP" sz="2000" b="0" u="none" strike="noStrike">
                <a:solidFill>
                  <a:srgbClr val="000000"/>
                </a:solidFill>
                <a:effectLst/>
                <a:uFillTx/>
                <a:latin typeface="Arial"/>
              </a:rPr>
              <a:t>図のように手を平面に置いても、推定された各点は</a:t>
            </a:r>
            <a:r>
              <a:rPr lang="en-US" sz="2000" b="0" u="none" strike="noStrike">
                <a:solidFill>
                  <a:srgbClr val="000000"/>
                </a:solidFill>
                <a:effectLst/>
                <a:uFillTx/>
                <a:latin typeface="Arial"/>
              </a:rPr>
              <a:t>z</a:t>
            </a:r>
            <a:r>
              <a:rPr lang="ja-JP" sz="2000" b="0" u="none" strike="noStrike">
                <a:solidFill>
                  <a:srgbClr val="000000"/>
                </a:solidFill>
                <a:effectLst/>
                <a:uFillTx/>
                <a:latin typeface="Arial"/>
              </a:rPr>
              <a:t>軸方向に大きくばらつき、特に親指では最大</a:t>
            </a:r>
            <a:r>
              <a:rPr lang="en-US" sz="2000" b="0" u="none" strike="noStrike">
                <a:solidFill>
                  <a:srgbClr val="000000"/>
                </a:solidFill>
                <a:effectLst/>
                <a:uFillTx/>
                <a:latin typeface="Arial"/>
              </a:rPr>
              <a:t>40mm</a:t>
            </a:r>
            <a:r>
              <a:rPr lang="ja-JP" sz="2000" b="0" u="none" strike="noStrike">
                <a:solidFill>
                  <a:srgbClr val="000000"/>
                </a:solidFill>
                <a:effectLst/>
                <a:uFillTx/>
                <a:latin typeface="Arial"/>
              </a:rPr>
              <a:t>以上の誤差が生じています。</a:t>
            </a:r>
            <a:br>
              <a:rPr sz="2000"/>
            </a:br>
            <a:r>
              <a:rPr lang="ja-JP" sz="2000" b="0" u="none" strike="noStrike">
                <a:solidFill>
                  <a:srgbClr val="000000"/>
                </a:solidFill>
                <a:effectLst/>
                <a:uFillTx/>
                <a:latin typeface="Arial"/>
              </a:rPr>
              <a:t>このままシステムに組み込むには不十分な精度で、改善が求められていました。</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236</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PlaceHolder 1"/>
          <p:cNvSpPr>
            <a:spLocks noGrp="1" noRot="1" noChangeAspect="1"/>
          </p:cNvSpPr>
          <p:nvPr>
            <p:ph type="sldImg"/>
          </p:nvPr>
        </p:nvSpPr>
        <p:spPr>
          <a:xfrm>
            <a:off x="0" y="812880"/>
            <a:ext cx="0" cy="0"/>
          </a:xfrm>
          <a:prstGeom prst="rect">
            <a:avLst/>
          </a:prstGeom>
          <a:ln w="0">
            <a:noFill/>
          </a:ln>
        </p:spPr>
      </p:sp>
      <p:sp>
        <p:nvSpPr>
          <p:cNvPr id="173"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pPr>
            <a:r>
              <a:rPr lang="ja-JP" sz="2000" b="0" u="none" strike="noStrike">
                <a:solidFill>
                  <a:srgbClr val="000000"/>
                </a:solidFill>
                <a:effectLst/>
                <a:uFillTx/>
                <a:latin typeface="Arial"/>
              </a:rPr>
              <a:t>そこで本研究は、前述したとおりの「</a:t>
            </a:r>
            <a:r>
              <a:rPr lang="ja-JP" sz="1200" b="0" u="none" strike="noStrike">
                <a:solidFill>
                  <a:schemeClr val="dk1"/>
                </a:solidFill>
                <a:effectLst/>
                <a:uFillTx/>
                <a:latin typeface="Aptos"/>
              </a:rPr>
              <a:t>入力を行う手やキーボードの映像から正しい入力が行われているか判定するシステム</a:t>
            </a:r>
            <a:r>
              <a:rPr lang="ja-JP" sz="2000" b="0" u="none" strike="noStrike">
                <a:solidFill>
                  <a:srgbClr val="000000"/>
                </a:solidFill>
                <a:effectLst/>
                <a:uFillTx/>
                <a:latin typeface="Aptos"/>
              </a:rPr>
              <a:t>を開発する」ため</a:t>
            </a:r>
            <a:r>
              <a:rPr lang="ja-JP" sz="1200" b="0" u="none" strike="noStrike">
                <a:solidFill>
                  <a:schemeClr val="dk1"/>
                </a:solidFill>
                <a:effectLst/>
                <a:uFillTx/>
                <a:latin typeface="ＭＳ Ｐゴシック"/>
                <a:ea typeface="ＭＳ Ｐゴシック"/>
              </a:rPr>
              <a:t>に必要な</a:t>
            </a:r>
            <a:endParaRPr lang="en-US" sz="1200" b="0" u="none" strike="noStrike">
              <a:solidFill>
                <a:srgbClr val="000000"/>
              </a:solidFill>
              <a:effectLst/>
              <a:uFillTx/>
              <a:latin typeface="Arial"/>
            </a:endParaRPr>
          </a:p>
          <a:p>
            <a:pPr indent="0">
              <a:lnSpc>
                <a:spcPct val="100000"/>
              </a:lnSpc>
              <a:buNone/>
            </a:pPr>
            <a:r>
              <a:rPr lang="ja-JP" sz="1200" b="0" u="none" strike="noStrike">
                <a:solidFill>
                  <a:schemeClr val="dk1"/>
                </a:solidFill>
                <a:effectLst/>
                <a:uFillTx/>
                <a:latin typeface="ＭＳ Ｐゴシック"/>
                <a:ea typeface="ＭＳ Ｐゴシック"/>
              </a:rPr>
              <a:t>「座標推定の精度改善」も</a:t>
            </a:r>
            <a:r>
              <a:rPr lang="ja-JP" sz="2000" b="0" u="none" strike="noStrike">
                <a:solidFill>
                  <a:srgbClr val="000000"/>
                </a:solidFill>
                <a:effectLst/>
                <a:uFillTx/>
                <a:latin typeface="ＭＳ Ｐゴシック"/>
                <a:ea typeface="ＭＳ Ｐゴシック"/>
              </a:rPr>
              <a:t>もう一つの</a:t>
            </a:r>
            <a:r>
              <a:rPr lang="ja-JP" sz="1200" b="0" u="none" strike="noStrike">
                <a:solidFill>
                  <a:schemeClr val="dk1"/>
                </a:solidFill>
                <a:effectLst/>
                <a:uFillTx/>
                <a:latin typeface="ＭＳ Ｐゴシック"/>
                <a:ea typeface="ＭＳ Ｐゴシック"/>
              </a:rPr>
              <a:t>重要な目的となっています。</a:t>
            </a:r>
            <a:endParaRPr lang="en-US" sz="12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ＭＳ Ｐゴシック"/>
                <a:ea typeface="ＭＳ Ｐゴシック"/>
              </a:rPr>
              <a:t>その方法として、両眼カメラを用いた三角測量により</a:t>
            </a:r>
            <a:r>
              <a:rPr lang="en-US" sz="2000" b="0" u="none" strike="noStrike">
                <a:solidFill>
                  <a:srgbClr val="000000"/>
                </a:solidFill>
                <a:effectLst/>
                <a:uFillTx/>
                <a:latin typeface="ＭＳ Ｐゴシック"/>
                <a:ea typeface="ＭＳ Ｐゴシック"/>
              </a:rPr>
              <a:t>3</a:t>
            </a:r>
            <a:r>
              <a:rPr lang="ja-JP" sz="2000" b="0" u="none" strike="noStrike">
                <a:solidFill>
                  <a:srgbClr val="000000"/>
                </a:solidFill>
                <a:effectLst/>
                <a:uFillTx/>
                <a:latin typeface="ＭＳ Ｐゴシック"/>
                <a:ea typeface="ＭＳ Ｐゴシック"/>
              </a:rPr>
              <a:t>次元座標を推定し、その精度を評価します。</a:t>
            </a:r>
            <a:endParaRPr lang="en-US" sz="2000" b="0" u="none" strike="noStrike">
              <a:solidFill>
                <a:srgbClr val="000000"/>
              </a:solidFill>
              <a:effectLst/>
              <a:uFillTx/>
              <a:latin typeface="Arial"/>
            </a:endParaRPr>
          </a:p>
          <a:p>
            <a:pPr indent="0">
              <a:lnSpc>
                <a:spcPct val="100000"/>
              </a:lnSpc>
              <a:buNone/>
            </a:pPr>
            <a:endParaRPr lang="en-US" sz="2000" b="0" u="none" strike="noStrike">
              <a:solidFill>
                <a:srgbClr val="000000"/>
              </a:solidFill>
              <a:effectLst/>
              <a:uFillTx/>
              <a:latin typeface="Arial"/>
            </a:endParaRPr>
          </a:p>
        </p:txBody>
      </p:sp>
      <p:sp>
        <p:nvSpPr>
          <p:cNvPr id="174" name="PlaceHolder 3"/>
          <p:cNvSpPr>
            <a:spLocks noGrp="1"/>
          </p:cNvSpPr>
          <p:nvPr>
            <p:ph type="sldNum" idx="46"/>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2FD6E632-8B28-400A-B5F2-1251DCAF1942}" type="slidenum">
              <a:rPr lang="en-US" sz="1400" b="0" u="none" strike="noStrike">
                <a:solidFill>
                  <a:srgbClr val="000000"/>
                </a:solidFill>
                <a:effectLst/>
                <a:uFillTx/>
                <a:latin typeface="Noto Serif CJK JP"/>
              </a:rPr>
              <a:t>6</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PlaceHolder 1"/>
          <p:cNvSpPr>
            <a:spLocks noGrp="1" noRot="1" noChangeAspect="1"/>
          </p:cNvSpPr>
          <p:nvPr>
            <p:ph type="sldImg"/>
          </p:nvPr>
        </p:nvSpPr>
        <p:spPr>
          <a:xfrm>
            <a:off x="0" y="812880"/>
            <a:ext cx="0" cy="0"/>
          </a:xfrm>
          <a:prstGeom prst="rect">
            <a:avLst/>
          </a:prstGeom>
          <a:ln w="0">
            <a:noFill/>
          </a:ln>
        </p:spPr>
      </p:sp>
      <p:sp>
        <p:nvSpPr>
          <p:cNvPr id="176"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pPr>
            <a:r>
              <a:rPr lang="ja-JP" sz="2000" b="0" u="none" strike="noStrike">
                <a:solidFill>
                  <a:srgbClr val="000000"/>
                </a:solidFill>
                <a:effectLst/>
                <a:uFillTx/>
                <a:latin typeface="Arial"/>
              </a:rPr>
              <a:t>具体的な座標推定の概要はこのようになっています。</a:t>
            </a:r>
            <a:endParaRPr lang="en-US" sz="20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Arial"/>
              </a:rPr>
              <a:t>２台の</a:t>
            </a:r>
            <a:r>
              <a:rPr lang="en-US" sz="2000" b="0" u="none" strike="noStrike">
                <a:solidFill>
                  <a:srgbClr val="000000"/>
                </a:solidFill>
                <a:effectLst/>
                <a:uFillTx/>
                <a:latin typeface="Arial"/>
              </a:rPr>
              <a:t>Web</a:t>
            </a:r>
            <a:r>
              <a:rPr lang="ja-JP" sz="2000" b="0" u="none" strike="noStrike">
                <a:solidFill>
                  <a:srgbClr val="000000"/>
                </a:solidFill>
                <a:effectLst/>
                <a:uFillTx/>
                <a:latin typeface="Arial"/>
              </a:rPr>
              <a:t>カメラから映像を取得し、 </a:t>
            </a:r>
            <a:r>
              <a:rPr lang="en-US" sz="2000" b="0" u="none" strike="noStrike">
                <a:solidFill>
                  <a:srgbClr val="000000"/>
                </a:solidFill>
                <a:effectLst/>
                <a:uFillTx/>
                <a:latin typeface="Arial"/>
              </a:rPr>
              <a:t>MediaPipe Hand Landmarker</a:t>
            </a:r>
            <a:r>
              <a:rPr lang="ja-JP" sz="2000" b="0" u="none" strike="noStrike">
                <a:solidFill>
                  <a:srgbClr val="000000"/>
                </a:solidFill>
                <a:effectLst/>
                <a:uFillTx/>
                <a:latin typeface="Arial"/>
              </a:rPr>
              <a:t>によりそれぞれの手の二次元座標を推定、 </a:t>
            </a:r>
            <a:r>
              <a:rPr lang="en-US" sz="2000" b="0" u="none" strike="noStrike">
                <a:solidFill>
                  <a:srgbClr val="000000"/>
                </a:solidFill>
                <a:effectLst/>
                <a:uFillTx/>
                <a:latin typeface="Arial"/>
              </a:rPr>
              <a:t>OpenCV</a:t>
            </a:r>
            <a:r>
              <a:rPr lang="ja-JP" sz="2000" b="0" u="none" strike="noStrike">
                <a:solidFill>
                  <a:srgbClr val="000000"/>
                </a:solidFill>
                <a:effectLst/>
                <a:uFillTx/>
                <a:latin typeface="Arial"/>
              </a:rPr>
              <a:t>の関数を用いて三角測量を行い三次元座標を推定します。</a:t>
            </a:r>
            <a:endParaRPr lang="en-US" sz="2000" b="0" u="none" strike="noStrike">
              <a:solidFill>
                <a:srgbClr val="000000"/>
              </a:solidFill>
              <a:effectLst/>
              <a:uFillTx/>
              <a:latin typeface="Arial"/>
            </a:endParaRPr>
          </a:p>
          <a:p>
            <a:pPr indent="0">
              <a:lnSpc>
                <a:spcPct val="100000"/>
              </a:lnSpc>
              <a:buNone/>
            </a:pPr>
            <a:endParaRPr lang="en-US" sz="2000" b="0" u="none" strike="noStrike">
              <a:solidFill>
                <a:srgbClr val="000000"/>
              </a:solidFill>
              <a:effectLst/>
              <a:uFillTx/>
              <a:latin typeface="Arial"/>
            </a:endParaRPr>
          </a:p>
        </p:txBody>
      </p:sp>
      <p:sp>
        <p:nvSpPr>
          <p:cNvPr id="177" name="PlaceHolder 3"/>
          <p:cNvSpPr>
            <a:spLocks noGrp="1"/>
          </p:cNvSpPr>
          <p:nvPr>
            <p:ph type="sldNum" idx="47"/>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97C9D68D-C976-4207-9EAF-6417667D6922}" type="slidenum">
              <a:rPr lang="en-US" sz="1400" b="0" u="none" strike="noStrike">
                <a:solidFill>
                  <a:srgbClr val="000000"/>
                </a:solidFill>
                <a:effectLst/>
                <a:uFillTx/>
                <a:latin typeface="Noto Serif CJK JP"/>
              </a:rPr>
              <a:t>7</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PlaceHolder 1"/>
          <p:cNvSpPr>
            <a:spLocks noGrp="1" noRot="1" noChangeAspect="1"/>
          </p:cNvSpPr>
          <p:nvPr>
            <p:ph type="sldImg"/>
          </p:nvPr>
        </p:nvSpPr>
        <p:spPr>
          <a:xfrm>
            <a:off x="0" y="812880"/>
            <a:ext cx="0" cy="0"/>
          </a:xfrm>
          <a:prstGeom prst="rect">
            <a:avLst/>
          </a:prstGeom>
          <a:ln w="0">
            <a:noFill/>
          </a:ln>
        </p:spPr>
      </p:sp>
      <p:sp>
        <p:nvSpPr>
          <p:cNvPr id="179"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pPr>
            <a:r>
              <a:rPr lang="ja-JP" sz="2000" b="0" u="none" strike="noStrike">
                <a:solidFill>
                  <a:srgbClr val="000000"/>
                </a:solidFill>
                <a:effectLst/>
                <a:uFillTx/>
                <a:latin typeface="Arial"/>
              </a:rPr>
              <a:t>三角測量を正確に行うためには、映像上の二次元座標だけでなく、レンズの歪みなどを補正してくれる内部パラメータと、２台のカメラ間の位置関係を表す外部パラメータが必要になります。</a:t>
            </a:r>
            <a:endParaRPr lang="en-US" sz="20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Arial"/>
              </a:rPr>
              <a:t>内部パラメータはカメラキャリブレーション、外部パラメータはステレオキャリブレーションでそれぞれ求めることができ、</a:t>
            </a:r>
            <a:endParaRPr lang="en-US" sz="20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Arial"/>
              </a:rPr>
              <a:t>今回、これらのキャリブレーションはどちらも </a:t>
            </a:r>
            <a:r>
              <a:rPr lang="en-US" sz="2000" b="0" u="none" strike="noStrike">
                <a:solidFill>
                  <a:srgbClr val="000000"/>
                </a:solidFill>
                <a:effectLst/>
                <a:uFillTx/>
                <a:latin typeface="Arial"/>
              </a:rPr>
              <a:t>Zhang(</a:t>
            </a:r>
            <a:r>
              <a:rPr lang="ja-JP" sz="2000" b="0" u="none" strike="noStrike">
                <a:solidFill>
                  <a:srgbClr val="000000"/>
                </a:solidFill>
                <a:effectLst/>
                <a:uFillTx/>
                <a:latin typeface="Arial"/>
              </a:rPr>
              <a:t>ジャン</a:t>
            </a:r>
            <a:r>
              <a:rPr lang="en-US" sz="2000" b="0" u="none" strike="noStrike">
                <a:solidFill>
                  <a:srgbClr val="000000"/>
                </a:solidFill>
                <a:effectLst/>
                <a:uFillTx/>
                <a:latin typeface="Arial"/>
              </a:rPr>
              <a:t>)</a:t>
            </a:r>
            <a:r>
              <a:rPr lang="ja-JP" sz="2000" b="0" u="none" strike="noStrike">
                <a:solidFill>
                  <a:srgbClr val="000000"/>
                </a:solidFill>
                <a:effectLst/>
                <a:uFillTx/>
                <a:latin typeface="Arial"/>
              </a:rPr>
              <a:t>の方法を用いて行いました。</a:t>
            </a:r>
            <a:endParaRPr lang="en-US" sz="20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Arial"/>
              </a:rPr>
              <a:t>これはチェスボードのような、特徴点が明確で、それらの位置関係が規則的なパターンを、様々な角度から複数枚撮影することでキャリブレーションを行う方法です。</a:t>
            </a:r>
            <a:endParaRPr lang="en-US" sz="2000" b="0" u="none" strike="noStrike">
              <a:solidFill>
                <a:srgbClr val="000000"/>
              </a:solidFill>
              <a:effectLst/>
              <a:uFillTx/>
              <a:latin typeface="Arial"/>
            </a:endParaRPr>
          </a:p>
          <a:p>
            <a:pPr indent="0">
              <a:lnSpc>
                <a:spcPct val="100000"/>
              </a:lnSpc>
              <a:buNone/>
            </a:pPr>
            <a:r>
              <a:rPr lang="en-US" sz="2000" b="0" u="none" strike="noStrike">
                <a:solidFill>
                  <a:srgbClr val="000000"/>
                </a:solidFill>
                <a:effectLst/>
                <a:uFillTx/>
                <a:latin typeface="Arial"/>
              </a:rPr>
              <a:t> Zhang(</a:t>
            </a:r>
            <a:r>
              <a:rPr lang="ja-JP" sz="2000" b="0" u="none" strike="noStrike">
                <a:solidFill>
                  <a:srgbClr val="000000"/>
                </a:solidFill>
                <a:effectLst/>
                <a:uFillTx/>
                <a:latin typeface="Arial"/>
              </a:rPr>
              <a:t>ジャン</a:t>
            </a:r>
            <a:r>
              <a:rPr lang="en-US" sz="2000" b="0" u="none" strike="noStrike">
                <a:solidFill>
                  <a:srgbClr val="000000"/>
                </a:solidFill>
                <a:effectLst/>
                <a:uFillTx/>
                <a:latin typeface="Arial"/>
              </a:rPr>
              <a:t>)</a:t>
            </a:r>
            <a:r>
              <a:rPr lang="ja-JP" sz="2000" b="0" u="none" strike="noStrike">
                <a:solidFill>
                  <a:srgbClr val="000000"/>
                </a:solidFill>
                <a:effectLst/>
                <a:uFillTx/>
                <a:latin typeface="Arial"/>
              </a:rPr>
              <a:t>の方法はすでに分かっている既知の三次元座標と、画像上で推定された二次元座標の対応が必要になり、この座標にチェスボードのコーナーを利用しています。</a:t>
            </a:r>
            <a:endParaRPr lang="en-US" sz="2000" b="0" u="none" strike="noStrike">
              <a:solidFill>
                <a:srgbClr val="000000"/>
              </a:solidFill>
              <a:effectLst/>
              <a:uFillTx/>
              <a:latin typeface="Arial"/>
            </a:endParaRPr>
          </a:p>
          <a:p>
            <a:pPr indent="0">
              <a:lnSpc>
                <a:spcPct val="100000"/>
              </a:lnSpc>
              <a:buNone/>
            </a:pPr>
            <a:r>
              <a:rPr lang="en-US" sz="2000" b="0" u="none" strike="noStrike">
                <a:solidFill>
                  <a:srgbClr val="000000"/>
                </a:solidFill>
                <a:effectLst/>
                <a:uFillTx/>
                <a:latin typeface="Arial"/>
              </a:rPr>
              <a:t>416</a:t>
            </a:r>
          </a:p>
        </p:txBody>
      </p:sp>
      <p:sp>
        <p:nvSpPr>
          <p:cNvPr id="180" name="PlaceHolder 3"/>
          <p:cNvSpPr>
            <a:spLocks noGrp="1"/>
          </p:cNvSpPr>
          <p:nvPr>
            <p:ph type="sldNum" idx="48"/>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DE10FDBD-0A58-4B1A-A7AE-68474CC35C37}" type="slidenum">
              <a:rPr lang="en-US" sz="1400" b="0" u="none" strike="noStrike">
                <a:solidFill>
                  <a:srgbClr val="000000"/>
                </a:solidFill>
                <a:effectLst/>
                <a:uFillTx/>
                <a:latin typeface="Noto Serif CJK JP"/>
              </a:rPr>
              <a:t>8</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 name="PlaceHolder 1"/>
          <p:cNvSpPr>
            <a:spLocks noGrp="1" noRot="1" noChangeAspect="1"/>
          </p:cNvSpPr>
          <p:nvPr>
            <p:ph type="sldImg"/>
          </p:nvPr>
        </p:nvSpPr>
        <p:spPr>
          <a:xfrm>
            <a:off x="-360" y="812520"/>
            <a:ext cx="720" cy="720"/>
          </a:xfrm>
          <a:prstGeom prst="rect">
            <a:avLst/>
          </a:prstGeom>
          <a:ln w="0">
            <a:noFill/>
          </a:ln>
        </p:spPr>
      </p:sp>
      <p:sp>
        <p:nvSpPr>
          <p:cNvPr id="182"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pPr>
            <a:r>
              <a:rPr lang="ja-JP" sz="2000" b="0" u="none" strike="noStrike">
                <a:solidFill>
                  <a:srgbClr val="000000"/>
                </a:solidFill>
                <a:effectLst/>
                <a:uFillTx/>
                <a:latin typeface="Arial"/>
              </a:rPr>
              <a:t>そのように求められた内部パラメータと外部パラメータから、三角測量に必要となる射影行列を求めることができます。</a:t>
            </a:r>
            <a:endParaRPr lang="en-US" sz="20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Arial"/>
                <a:cs typeface="Arial"/>
              </a:rPr>
              <a:t>射影行列は次のような式で求められ、三次元座標系</a:t>
            </a:r>
            <a:r>
              <a:rPr lang="ja-JP" altLang="en-US" sz="2000">
                <a:solidFill>
                  <a:srgbClr val="000000"/>
                </a:solidFill>
                <a:latin typeface="Arial"/>
                <a:cs typeface="Arial"/>
              </a:rPr>
              <a:t>から</a:t>
            </a:r>
            <a:r>
              <a:rPr lang="ja-JP" sz="2000" b="0" u="none" strike="noStrike">
                <a:solidFill>
                  <a:srgbClr val="000000"/>
                </a:solidFill>
                <a:effectLst/>
                <a:uFillTx/>
                <a:latin typeface="Arial"/>
                <a:cs typeface="Arial"/>
              </a:rPr>
              <a:t>二次元の画像座標系への変換を表します。</a:t>
            </a:r>
            <a:endParaRPr lang="en-US" sz="2000" b="0" u="none" strike="noStrike">
              <a:solidFill>
                <a:srgbClr val="000000"/>
              </a:solidFill>
              <a:effectLst/>
              <a:uFillTx/>
              <a:latin typeface="Arial"/>
              <a:cs typeface="Arial"/>
            </a:endParaRPr>
          </a:p>
          <a:p>
            <a:pPr indent="0">
              <a:lnSpc>
                <a:spcPct val="100000"/>
              </a:lnSpc>
              <a:buNone/>
            </a:pPr>
            <a:r>
              <a:rPr lang="ja-JP" sz="2000" b="0" u="none" strike="noStrike">
                <a:solidFill>
                  <a:srgbClr val="000000"/>
                </a:solidFill>
                <a:effectLst/>
                <a:uFillTx/>
                <a:latin typeface="Arial"/>
                <a:cs typeface="Arial"/>
              </a:rPr>
              <a:t>ここで、</a:t>
            </a:r>
            <a:r>
              <a:rPr lang="en-US" sz="2000" b="0" u="none" strike="noStrike" dirty="0">
                <a:solidFill>
                  <a:srgbClr val="000000"/>
                </a:solidFill>
                <a:effectLst/>
                <a:uFillTx/>
                <a:latin typeface="Arial"/>
                <a:cs typeface="Arial"/>
              </a:rPr>
              <a:t>K</a:t>
            </a:r>
            <a:r>
              <a:rPr lang="ja-JP" sz="2000" b="0" u="none" strike="noStrike">
                <a:solidFill>
                  <a:srgbClr val="000000"/>
                </a:solidFill>
                <a:effectLst/>
                <a:uFillTx/>
                <a:latin typeface="Arial"/>
                <a:cs typeface="Arial"/>
              </a:rPr>
              <a:t>は内部パラメータ、 </a:t>
            </a:r>
            <a:r>
              <a:rPr lang="en-US" sz="2000" b="0" u="none" strike="noStrike" dirty="0">
                <a:solidFill>
                  <a:srgbClr val="000000"/>
                </a:solidFill>
                <a:effectLst/>
                <a:uFillTx/>
                <a:latin typeface="Arial"/>
                <a:cs typeface="Arial"/>
              </a:rPr>
              <a:t>R</a:t>
            </a:r>
            <a:r>
              <a:rPr lang="ja-JP" sz="2000" b="0" u="none" strike="noStrike">
                <a:solidFill>
                  <a:srgbClr val="000000"/>
                </a:solidFill>
                <a:effectLst/>
                <a:uFillTx/>
                <a:latin typeface="Arial"/>
                <a:cs typeface="Arial"/>
              </a:rPr>
              <a:t>はカメラの姿勢を表す回転行列、ｔはカメラの位置を表す</a:t>
            </a:r>
            <a:r>
              <a:rPr lang="ja-JP" altLang="en-US" sz="2000">
                <a:solidFill>
                  <a:srgbClr val="000000"/>
                </a:solidFill>
                <a:latin typeface="Arial"/>
                <a:cs typeface="Arial"/>
              </a:rPr>
              <a:t>並進</a:t>
            </a:r>
            <a:r>
              <a:rPr lang="ja-JP" sz="2000" b="0" u="none" strike="noStrike">
                <a:solidFill>
                  <a:srgbClr val="000000"/>
                </a:solidFill>
                <a:effectLst/>
                <a:uFillTx/>
                <a:latin typeface="Arial"/>
                <a:cs typeface="Arial"/>
              </a:rPr>
              <a:t>ベクトルで、 </a:t>
            </a:r>
            <a:r>
              <a:rPr lang="en-US" sz="2000" b="0" u="none" strike="noStrike" dirty="0">
                <a:solidFill>
                  <a:srgbClr val="000000"/>
                </a:solidFill>
                <a:effectLst/>
                <a:uFillTx/>
                <a:latin typeface="Arial"/>
                <a:cs typeface="Arial"/>
              </a:rPr>
              <a:t>R</a:t>
            </a:r>
            <a:r>
              <a:rPr lang="ja-JP" sz="2000" b="0" u="none" strike="noStrike">
                <a:solidFill>
                  <a:srgbClr val="000000"/>
                </a:solidFill>
                <a:effectLst/>
                <a:uFillTx/>
                <a:latin typeface="Arial"/>
                <a:cs typeface="Arial"/>
              </a:rPr>
              <a:t>とｔを合わせてカメラの位置関係を表す外部パラメータとなっています。</a:t>
            </a:r>
            <a:endParaRPr lang="en-US" sz="2000" b="0" u="none" strike="noStrike">
              <a:solidFill>
                <a:srgbClr val="000000"/>
              </a:solidFill>
              <a:effectLst/>
              <a:uFillTx/>
              <a:latin typeface="Arial"/>
              <a:cs typeface="Arial"/>
            </a:endParaRPr>
          </a:p>
          <a:p>
            <a:pPr indent="0">
              <a:lnSpc>
                <a:spcPct val="100000"/>
              </a:lnSpc>
              <a:buNone/>
            </a:pPr>
            <a:r>
              <a:rPr lang="en-US" sz="2000" b="0" u="none" strike="noStrike" dirty="0">
                <a:solidFill>
                  <a:srgbClr val="000000"/>
                </a:solidFill>
                <a:effectLst/>
                <a:uFillTx/>
                <a:latin typeface="Arial"/>
                <a:cs typeface="Arial"/>
              </a:rPr>
              <a:t>455</a:t>
            </a:r>
          </a:p>
        </p:txBody>
      </p:sp>
      <p:sp>
        <p:nvSpPr>
          <p:cNvPr id="183" name="PlaceHolder 3"/>
          <p:cNvSpPr>
            <a:spLocks noGrp="1"/>
          </p:cNvSpPr>
          <p:nvPr>
            <p:ph type="sldNum" idx="49"/>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B6118F51-1EEE-4415-A542-2D3035F9A869}" type="slidenum">
              <a:rPr lang="en-US" sz="1400" b="0" u="none" strike="noStrike">
                <a:solidFill>
                  <a:srgbClr val="000000"/>
                </a:solidFill>
                <a:effectLst/>
                <a:uFillTx/>
                <a:latin typeface="Noto Serif CJK JP"/>
              </a:rPr>
              <a:t>9</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noRot="1" noChangeAspect="1"/>
          </p:cNvSpPr>
          <p:nvPr>
            <p:ph type="sldImg"/>
          </p:nvPr>
        </p:nvSpPr>
        <p:spPr>
          <a:xfrm>
            <a:off x="0" y="812880"/>
            <a:ext cx="0" cy="0"/>
          </a:xfrm>
          <a:prstGeom prst="rect">
            <a:avLst/>
          </a:prstGeom>
          <a:ln w="0">
            <a:noFill/>
          </a:ln>
        </p:spPr>
      </p:sp>
      <p:sp>
        <p:nvSpPr>
          <p:cNvPr id="185"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pPr>
            <a:r>
              <a:rPr lang="ja-JP" sz="2000" b="0" u="none" strike="noStrike">
                <a:solidFill>
                  <a:srgbClr val="000000"/>
                </a:solidFill>
                <a:effectLst/>
                <a:uFillTx/>
                <a:latin typeface="Arial"/>
                <a:cs typeface="Arial"/>
              </a:rPr>
              <a:t>キャリブレーションで射影行列を求めた後は、この方程式を用いて三角測量を行い、三次元座標を推定します。</a:t>
            </a:r>
            <a:br>
              <a:rPr sz="2000" dirty="0">
                <a:cs typeface="+mn-lt"/>
              </a:rPr>
            </a:br>
            <a:r>
              <a:rPr lang="ja-JP" sz="2000" b="0" u="none" strike="noStrike">
                <a:solidFill>
                  <a:srgbClr val="000000"/>
                </a:solidFill>
                <a:effectLst/>
                <a:uFillTx/>
                <a:latin typeface="Arial"/>
                <a:cs typeface="Arial"/>
              </a:rPr>
              <a:t>ここで スモール</a:t>
            </a:r>
            <a:r>
              <a:rPr lang="en-US" sz="2000" b="0" i="1" u="none" strike="noStrike" dirty="0">
                <a:solidFill>
                  <a:srgbClr val="000000"/>
                </a:solidFill>
                <a:effectLst/>
                <a:uFillTx/>
                <a:latin typeface="Arial"/>
                <a:cs typeface="Arial"/>
              </a:rPr>
              <a:t>x</a:t>
            </a:r>
            <a:r>
              <a:rPr lang="en-US" sz="2000" b="0" u="none" strike="noStrike" dirty="0">
                <a:solidFill>
                  <a:srgbClr val="000000"/>
                </a:solidFill>
                <a:effectLst/>
                <a:uFillTx/>
                <a:latin typeface="Arial"/>
                <a:cs typeface="Arial"/>
              </a:rPr>
              <a:t> </a:t>
            </a:r>
            <a:r>
              <a:rPr lang="ja-JP" sz="2000" b="0" u="none" strike="noStrike">
                <a:solidFill>
                  <a:srgbClr val="000000"/>
                </a:solidFill>
                <a:effectLst/>
                <a:uFillTx/>
                <a:latin typeface="Arial"/>
                <a:cs typeface="Arial"/>
              </a:rPr>
              <a:t>は映像上の二次元座標、ラージ</a:t>
            </a:r>
            <a:r>
              <a:rPr lang="en-US" sz="2000" b="0" i="1" u="none" strike="noStrike" dirty="0">
                <a:solidFill>
                  <a:srgbClr val="000000"/>
                </a:solidFill>
                <a:effectLst/>
                <a:uFillTx/>
                <a:latin typeface="Arial"/>
                <a:cs typeface="Arial"/>
              </a:rPr>
              <a:t>X</a:t>
            </a:r>
            <a:r>
              <a:rPr lang="en-US" sz="2000" b="0" u="none" strike="noStrike" dirty="0">
                <a:solidFill>
                  <a:srgbClr val="000000"/>
                </a:solidFill>
                <a:effectLst/>
                <a:uFillTx/>
                <a:latin typeface="Arial"/>
                <a:cs typeface="Arial"/>
              </a:rPr>
              <a:t> </a:t>
            </a:r>
            <a:r>
              <a:rPr lang="ja-JP" sz="2000" b="0" u="none" strike="noStrike">
                <a:solidFill>
                  <a:srgbClr val="000000"/>
                </a:solidFill>
                <a:effectLst/>
                <a:uFillTx/>
                <a:latin typeface="Arial"/>
                <a:cs typeface="Arial"/>
              </a:rPr>
              <a:t>は求める三次元座標、そして </a:t>
            </a:r>
            <a:r>
              <a:rPr lang="en-US" sz="2000" b="0" i="1" u="none" strike="noStrike" dirty="0">
                <a:solidFill>
                  <a:srgbClr val="000000"/>
                </a:solidFill>
                <a:effectLst/>
                <a:uFillTx/>
                <a:latin typeface="Arial"/>
                <a:cs typeface="Arial"/>
              </a:rPr>
              <a:t>P₁</a:t>
            </a:r>
            <a:r>
              <a:rPr lang="ja-JP" sz="2000" b="0" u="none" strike="noStrike">
                <a:solidFill>
                  <a:srgbClr val="000000"/>
                </a:solidFill>
                <a:effectLst/>
                <a:uFillTx/>
                <a:latin typeface="Arial"/>
                <a:cs typeface="Arial"/>
              </a:rPr>
              <a:t>・</a:t>
            </a:r>
            <a:r>
              <a:rPr lang="en-US" sz="2000" b="0" i="1" u="none" strike="noStrike" dirty="0">
                <a:solidFill>
                  <a:srgbClr val="000000"/>
                </a:solidFill>
                <a:effectLst/>
                <a:uFillTx/>
                <a:latin typeface="Arial"/>
                <a:cs typeface="Arial"/>
              </a:rPr>
              <a:t>P₂</a:t>
            </a:r>
            <a:r>
              <a:rPr lang="en-US" sz="2000" b="0" u="none" strike="noStrike" dirty="0">
                <a:solidFill>
                  <a:srgbClr val="000000"/>
                </a:solidFill>
                <a:effectLst/>
                <a:uFillTx/>
                <a:latin typeface="Arial"/>
                <a:cs typeface="Arial"/>
              </a:rPr>
              <a:t> </a:t>
            </a:r>
            <a:r>
              <a:rPr lang="ja-JP" sz="2000" b="0" u="none" strike="noStrike">
                <a:solidFill>
                  <a:srgbClr val="000000"/>
                </a:solidFill>
                <a:effectLst/>
                <a:uFillTx/>
                <a:latin typeface="Arial"/>
                <a:cs typeface="Arial"/>
              </a:rPr>
              <a:t>は左右カメラの射影行列を表します。</a:t>
            </a:r>
            <a:endParaRPr lang="en-US" sz="2000" b="0" u="none" strike="noStrike">
              <a:solidFill>
                <a:srgbClr val="000000"/>
              </a:solidFill>
              <a:effectLst/>
              <a:uFillTx/>
              <a:latin typeface="Arial"/>
              <a:cs typeface="Arial"/>
            </a:endParaRPr>
          </a:p>
          <a:p>
            <a:pPr indent="0">
              <a:lnSpc>
                <a:spcPct val="100000"/>
              </a:lnSpc>
              <a:buNone/>
            </a:pPr>
            <a:r>
              <a:rPr lang="ja-JP" sz="2000" b="0" u="none" strike="noStrike">
                <a:solidFill>
                  <a:srgbClr val="000000"/>
                </a:solidFill>
                <a:effectLst/>
                <a:uFillTx/>
                <a:latin typeface="Arial"/>
                <a:cs typeface="Arial"/>
              </a:rPr>
              <a:t>射影行列は、</a:t>
            </a:r>
            <a:r>
              <a:rPr lang="en-US" sz="2000" b="0" u="none" strike="noStrike" dirty="0">
                <a:solidFill>
                  <a:srgbClr val="000000"/>
                </a:solidFill>
                <a:effectLst/>
                <a:uFillTx/>
                <a:latin typeface="Arial"/>
                <a:cs typeface="Arial"/>
              </a:rPr>
              <a:t>3</a:t>
            </a:r>
            <a:r>
              <a:rPr lang="ja-JP" sz="2000" b="0" u="none" strike="noStrike">
                <a:solidFill>
                  <a:srgbClr val="000000"/>
                </a:solidFill>
                <a:effectLst/>
                <a:uFillTx/>
                <a:latin typeface="Arial"/>
                <a:cs typeface="Arial"/>
              </a:rPr>
              <a:t>次元</a:t>
            </a:r>
            <a:r>
              <a:rPr lang="ja-JP" altLang="en-US" sz="2000">
                <a:solidFill>
                  <a:srgbClr val="000000"/>
                </a:solidFill>
                <a:latin typeface="Arial"/>
                <a:cs typeface="Arial"/>
              </a:rPr>
              <a:t>座標</a:t>
            </a:r>
            <a:r>
              <a:rPr lang="ja-JP" sz="2000" b="0" u="none" strike="noStrike">
                <a:solidFill>
                  <a:srgbClr val="000000"/>
                </a:solidFill>
                <a:effectLst/>
                <a:uFillTx/>
                <a:latin typeface="Arial"/>
                <a:cs typeface="Arial"/>
              </a:rPr>
              <a:t>を画像上の</a:t>
            </a:r>
            <a:r>
              <a:rPr lang="en-US" sz="2000" b="0" u="none" strike="noStrike" dirty="0">
                <a:solidFill>
                  <a:srgbClr val="000000"/>
                </a:solidFill>
                <a:effectLst/>
                <a:uFillTx/>
                <a:latin typeface="Arial"/>
                <a:cs typeface="Arial"/>
              </a:rPr>
              <a:t>2</a:t>
            </a:r>
            <a:r>
              <a:rPr lang="ja-JP" sz="2000" b="0" u="none" strike="noStrike">
                <a:solidFill>
                  <a:srgbClr val="000000"/>
                </a:solidFill>
                <a:effectLst/>
                <a:uFillTx/>
                <a:latin typeface="Arial"/>
                <a:cs typeface="Arial"/>
              </a:rPr>
              <a:t>次元座標に変換する行列です。</a:t>
            </a:r>
            <a:br>
              <a:rPr sz="2000" dirty="0">
                <a:cs typeface="+mn-lt"/>
              </a:rPr>
            </a:br>
            <a:r>
              <a:rPr lang="ja-JP" sz="2000" b="0" u="none" strike="noStrike">
                <a:solidFill>
                  <a:srgbClr val="000000"/>
                </a:solidFill>
                <a:effectLst/>
                <a:uFillTx/>
                <a:latin typeface="Arial"/>
                <a:cs typeface="Arial"/>
              </a:rPr>
              <a:t>そのため、世界座標 ラージ</a:t>
            </a:r>
            <a:r>
              <a:rPr lang="en-US" sz="2000" b="0" i="1" u="none" strike="noStrike" dirty="0">
                <a:solidFill>
                  <a:srgbClr val="000000"/>
                </a:solidFill>
                <a:effectLst/>
                <a:uFillTx/>
                <a:latin typeface="Arial"/>
                <a:cs typeface="Arial"/>
              </a:rPr>
              <a:t>X</a:t>
            </a:r>
            <a:r>
              <a:rPr lang="en-US" sz="2000" b="0" u="none" strike="noStrike" dirty="0">
                <a:solidFill>
                  <a:srgbClr val="000000"/>
                </a:solidFill>
                <a:effectLst/>
                <a:uFillTx/>
                <a:latin typeface="Arial"/>
                <a:cs typeface="Arial"/>
              </a:rPr>
              <a:t> </a:t>
            </a:r>
            <a:r>
              <a:rPr lang="ja-JP" sz="2000" b="0" u="none" strike="noStrike">
                <a:solidFill>
                  <a:srgbClr val="000000"/>
                </a:solidFill>
                <a:effectLst/>
                <a:uFillTx/>
                <a:latin typeface="Arial"/>
                <a:cs typeface="Arial"/>
              </a:rPr>
              <a:t>に射影行列 </a:t>
            </a:r>
            <a:r>
              <a:rPr lang="en-US" sz="2000" b="0" i="1" u="none" strike="noStrike" dirty="0">
                <a:solidFill>
                  <a:srgbClr val="000000"/>
                </a:solidFill>
                <a:effectLst/>
                <a:uFillTx/>
                <a:latin typeface="Arial"/>
                <a:cs typeface="Arial"/>
              </a:rPr>
              <a:t>P</a:t>
            </a:r>
            <a:r>
              <a:rPr lang="en-US" sz="2000" b="0" u="none" strike="noStrike" dirty="0">
                <a:solidFill>
                  <a:srgbClr val="000000"/>
                </a:solidFill>
                <a:effectLst/>
                <a:uFillTx/>
                <a:latin typeface="Arial"/>
                <a:cs typeface="Arial"/>
              </a:rPr>
              <a:t> </a:t>
            </a:r>
            <a:r>
              <a:rPr lang="ja-JP" sz="2000" b="0" u="none" strike="noStrike">
                <a:solidFill>
                  <a:srgbClr val="000000"/>
                </a:solidFill>
                <a:effectLst/>
                <a:uFillTx/>
                <a:latin typeface="Arial"/>
                <a:cs typeface="Arial"/>
              </a:rPr>
              <a:t>をかけることで 二次元座標スモール</a:t>
            </a:r>
            <a:r>
              <a:rPr lang="en-US" sz="2000" b="0" i="1" u="none" strike="noStrike" dirty="0">
                <a:solidFill>
                  <a:srgbClr val="000000"/>
                </a:solidFill>
                <a:effectLst/>
                <a:uFillTx/>
                <a:latin typeface="Arial"/>
                <a:cs typeface="Arial"/>
              </a:rPr>
              <a:t>x</a:t>
            </a:r>
            <a:r>
              <a:rPr lang="en-US" sz="2000" b="0" u="none" strike="noStrike" dirty="0">
                <a:solidFill>
                  <a:srgbClr val="000000"/>
                </a:solidFill>
                <a:effectLst/>
                <a:uFillTx/>
                <a:latin typeface="Arial"/>
                <a:cs typeface="Arial"/>
              </a:rPr>
              <a:t> </a:t>
            </a:r>
            <a:r>
              <a:rPr lang="ja-JP" sz="2000" b="0" u="none" strike="noStrike" dirty="0">
                <a:solidFill>
                  <a:srgbClr val="000000"/>
                </a:solidFill>
                <a:effectLst/>
                <a:uFillTx/>
                <a:latin typeface="Arial"/>
                <a:cs typeface="Arial"/>
              </a:rPr>
              <a:t>が得られ、この関係から三角測量の方程式を立てることができます。</a:t>
            </a:r>
            <a:endParaRPr lang="en-US" sz="2000" b="0" u="none" strike="noStrike" dirty="0">
              <a:solidFill>
                <a:srgbClr val="000000"/>
              </a:solidFill>
              <a:effectLst/>
              <a:uFillTx/>
              <a:latin typeface="Arial"/>
              <a:cs typeface="Arial"/>
            </a:endParaRPr>
          </a:p>
          <a:p>
            <a:pPr indent="0">
              <a:lnSpc>
                <a:spcPct val="100000"/>
              </a:lnSpc>
              <a:buNone/>
            </a:pPr>
            <a:r>
              <a:rPr lang="en-US" sz="2000" b="0" u="none" strike="noStrike" dirty="0">
                <a:solidFill>
                  <a:srgbClr val="000000"/>
                </a:solidFill>
                <a:effectLst/>
                <a:uFillTx/>
                <a:latin typeface="Arial"/>
                <a:cs typeface="Arial"/>
              </a:rPr>
              <a:t>535</a:t>
            </a:r>
          </a:p>
          <a:p>
            <a:pPr indent="0">
              <a:lnSpc>
                <a:spcPct val="100000"/>
              </a:lnSpc>
              <a:buNone/>
            </a:pPr>
            <a:endParaRPr lang="en-US" sz="2000" b="0" u="none" strike="noStrike">
              <a:solidFill>
                <a:srgbClr val="000000"/>
              </a:solidFill>
              <a:effectLst/>
              <a:uFillTx/>
              <a:latin typeface="Arial"/>
            </a:endParaRPr>
          </a:p>
        </p:txBody>
      </p:sp>
      <p:sp>
        <p:nvSpPr>
          <p:cNvPr id="186" name="PlaceHolder 3"/>
          <p:cNvSpPr>
            <a:spLocks noGrp="1"/>
          </p:cNvSpPr>
          <p:nvPr>
            <p:ph type="sldNum" idx="50"/>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6C470CD5-D188-49EC-B421-027AA8C77F8C}" type="slidenum">
              <a:rPr lang="en-US" sz="1400" b="0" u="none" strike="noStrike">
                <a:solidFill>
                  <a:srgbClr val="000000"/>
                </a:solidFill>
                <a:effectLst/>
                <a:uFillTx/>
                <a:latin typeface="Noto Serif CJK JP"/>
              </a:rPr>
              <a:t>10</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PlaceHolder 1"/>
          <p:cNvSpPr>
            <a:spLocks noGrp="1" noRot="1" noChangeAspect="1"/>
          </p:cNvSpPr>
          <p:nvPr>
            <p:ph type="sldImg"/>
          </p:nvPr>
        </p:nvSpPr>
        <p:spPr>
          <a:xfrm>
            <a:off x="0" y="812880"/>
            <a:ext cx="0" cy="0"/>
          </a:xfrm>
          <a:prstGeom prst="rect">
            <a:avLst/>
          </a:prstGeom>
          <a:ln w="0">
            <a:noFill/>
          </a:ln>
        </p:spPr>
      </p:sp>
      <p:sp>
        <p:nvSpPr>
          <p:cNvPr id="188"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pPr>
            <a:r>
              <a:rPr lang="ja-JP" sz="2000" b="0" u="none" strike="noStrike">
                <a:solidFill>
                  <a:srgbClr val="000000"/>
                </a:solidFill>
                <a:effectLst/>
                <a:uFillTx/>
                <a:latin typeface="Arial"/>
              </a:rPr>
              <a:t>研究の現状です。現時点でリアルタイムでの三次元座標推定が実装できました。</a:t>
            </a:r>
            <a:endParaRPr lang="en-US" sz="20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Arial"/>
              </a:rPr>
              <a:t>画像のようにキーボードのホームポジションに置いた両手の各座標点が、３</a:t>
            </a:r>
            <a:r>
              <a:rPr lang="en-US" sz="2000" b="0" u="none" strike="noStrike">
                <a:solidFill>
                  <a:srgbClr val="000000"/>
                </a:solidFill>
                <a:effectLst/>
                <a:uFillTx/>
                <a:latin typeface="Arial"/>
              </a:rPr>
              <a:t>d</a:t>
            </a:r>
            <a:r>
              <a:rPr lang="ja-JP" sz="2000" b="0" u="none" strike="noStrike">
                <a:solidFill>
                  <a:srgbClr val="000000"/>
                </a:solidFill>
                <a:effectLst/>
                <a:uFillTx/>
                <a:latin typeface="Arial"/>
              </a:rPr>
              <a:t>グラフとして表示できています。</a:t>
            </a:r>
            <a:endParaRPr lang="en-US" sz="2000" b="0" u="none" strike="noStrike">
              <a:solidFill>
                <a:srgbClr val="000000"/>
              </a:solidFill>
              <a:effectLst/>
              <a:uFillTx/>
              <a:latin typeface="Arial"/>
            </a:endParaRPr>
          </a:p>
          <a:p>
            <a:pPr indent="0">
              <a:lnSpc>
                <a:spcPct val="100000"/>
              </a:lnSpc>
              <a:buNone/>
            </a:pPr>
            <a:r>
              <a:rPr lang="en-US" sz="2000" b="0" u="none" strike="noStrike">
                <a:solidFill>
                  <a:srgbClr val="000000"/>
                </a:solidFill>
                <a:effectLst/>
                <a:uFillTx/>
                <a:latin typeface="Arial"/>
              </a:rPr>
              <a:t> 555</a:t>
            </a:r>
          </a:p>
        </p:txBody>
      </p:sp>
      <p:sp>
        <p:nvSpPr>
          <p:cNvPr id="189" name="PlaceHolder 3"/>
          <p:cNvSpPr>
            <a:spLocks noGrp="1"/>
          </p:cNvSpPr>
          <p:nvPr>
            <p:ph type="sldNum" idx="51"/>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789B8D29-6982-4C17-BBFA-7A4D2D2FFE2C}" type="slidenum">
              <a:rPr lang="en-US" sz="1400" b="0" u="none" strike="noStrike">
                <a:solidFill>
                  <a:srgbClr val="000000"/>
                </a:solidFill>
                <a:effectLst/>
                <a:uFillTx/>
                <a:latin typeface="Noto Serif CJK JP"/>
              </a:rPr>
              <a:t>11</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PlaceHolder 1"/>
          <p:cNvSpPr>
            <a:spLocks noGrp="1" noRot="1" noChangeAspect="1"/>
          </p:cNvSpPr>
          <p:nvPr>
            <p:ph type="sldImg"/>
          </p:nvPr>
        </p:nvSpPr>
        <p:spPr>
          <a:xfrm>
            <a:off x="0" y="812880"/>
            <a:ext cx="0" cy="0"/>
          </a:xfrm>
          <a:prstGeom prst="rect">
            <a:avLst/>
          </a:prstGeom>
          <a:ln w="0">
            <a:noFill/>
          </a:ln>
        </p:spPr>
      </p:sp>
      <p:sp>
        <p:nvSpPr>
          <p:cNvPr id="191"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pPr>
            <a:r>
              <a:rPr lang="en-US" sz="2000" b="0" u="none" strike="noStrike">
                <a:solidFill>
                  <a:srgbClr val="000000"/>
                </a:solidFill>
                <a:effectLst/>
                <a:uFillTx/>
                <a:latin typeface="Arial"/>
              </a:rPr>
              <a:t> MediaPipe Hand Landmarker</a:t>
            </a:r>
            <a:r>
              <a:rPr lang="ja-JP" sz="2000" b="0" u="none" strike="noStrike">
                <a:solidFill>
                  <a:srgbClr val="000000"/>
                </a:solidFill>
                <a:effectLst/>
                <a:uFillTx/>
                <a:latin typeface="Arial"/>
              </a:rPr>
              <a:t>の懸念点であった</a:t>
            </a:r>
            <a:r>
              <a:rPr lang="en-US" sz="2000" b="0" u="none" strike="noStrike">
                <a:solidFill>
                  <a:srgbClr val="000000"/>
                </a:solidFill>
                <a:effectLst/>
                <a:uFillTx/>
                <a:latin typeface="Arial"/>
              </a:rPr>
              <a:t>Z</a:t>
            </a:r>
            <a:r>
              <a:rPr lang="ja-JP" sz="2000" b="0" u="none" strike="noStrike">
                <a:solidFill>
                  <a:srgbClr val="000000"/>
                </a:solidFill>
                <a:effectLst/>
                <a:uFillTx/>
                <a:latin typeface="Arial"/>
              </a:rPr>
              <a:t>軸座標の推定についても改善できました。</a:t>
            </a:r>
            <a:endParaRPr lang="en-US" sz="20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Arial"/>
              </a:rPr>
              <a:t>平面に置いた両手の座標を推定してみると、先行研究に比べ各座標点の</a:t>
            </a:r>
            <a:r>
              <a:rPr lang="en-US" sz="2000" b="0" u="none" strike="noStrike">
                <a:solidFill>
                  <a:srgbClr val="000000"/>
                </a:solidFill>
                <a:effectLst/>
                <a:uFillTx/>
                <a:latin typeface="Arial"/>
              </a:rPr>
              <a:t>Z</a:t>
            </a:r>
            <a:r>
              <a:rPr lang="ja-JP" sz="2000" b="0" u="none" strike="noStrike">
                <a:solidFill>
                  <a:srgbClr val="000000"/>
                </a:solidFill>
                <a:effectLst/>
                <a:uFillTx/>
                <a:latin typeface="Arial"/>
              </a:rPr>
              <a:t>軸方向のばらつきが大幅に小さくなっていることがわかります。</a:t>
            </a:r>
            <a:endParaRPr lang="en-US" sz="2000" b="0" u="none" strike="noStrike">
              <a:solidFill>
                <a:srgbClr val="000000"/>
              </a:solidFill>
              <a:effectLst/>
              <a:uFillTx/>
              <a:latin typeface="Arial"/>
            </a:endParaRPr>
          </a:p>
          <a:p>
            <a:pPr indent="0">
              <a:lnSpc>
                <a:spcPct val="100000"/>
              </a:lnSpc>
              <a:buNone/>
            </a:pPr>
            <a:r>
              <a:rPr lang="en-US" sz="2000" b="0" u="none" strike="noStrike">
                <a:solidFill>
                  <a:srgbClr val="000000"/>
                </a:solidFill>
                <a:effectLst/>
                <a:uFillTx/>
                <a:latin typeface="Arial"/>
              </a:rPr>
              <a:t>615</a:t>
            </a:r>
          </a:p>
        </p:txBody>
      </p:sp>
      <p:sp>
        <p:nvSpPr>
          <p:cNvPr id="192" name="PlaceHolder 3"/>
          <p:cNvSpPr>
            <a:spLocks noGrp="1"/>
          </p:cNvSpPr>
          <p:nvPr>
            <p:ph type="sldNum" idx="52"/>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02016AEC-320F-48D4-AAD9-975C36B376CA}" type="slidenum">
              <a:rPr lang="en-US" sz="1400" b="0" u="none" strike="noStrike">
                <a:solidFill>
                  <a:srgbClr val="000000"/>
                </a:solidFill>
                <a:effectLst/>
                <a:uFillTx/>
                <a:latin typeface="Noto Serif CJK JP"/>
              </a:rPr>
              <a:t>12</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PlaceHolder 1"/>
          <p:cNvSpPr>
            <a:spLocks noGrp="1" noRot="1" noChangeAspect="1"/>
          </p:cNvSpPr>
          <p:nvPr>
            <p:ph type="sldImg"/>
          </p:nvPr>
        </p:nvSpPr>
        <p:spPr>
          <a:xfrm>
            <a:off x="0" y="812880"/>
            <a:ext cx="0" cy="0"/>
          </a:xfrm>
          <a:prstGeom prst="rect">
            <a:avLst/>
          </a:prstGeom>
          <a:ln w="0">
            <a:noFill/>
          </a:ln>
        </p:spPr>
      </p:sp>
      <p:sp>
        <p:nvSpPr>
          <p:cNvPr id="194"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00000"/>
              </a:lnSpc>
              <a:buNone/>
            </a:pPr>
            <a:r>
              <a:rPr lang="ja-JP" sz="2000" b="0" u="none" strike="noStrike">
                <a:solidFill>
                  <a:srgbClr val="000000"/>
                </a:solidFill>
                <a:effectLst/>
                <a:uFillTx/>
                <a:latin typeface="Arial"/>
              </a:rPr>
              <a:t>今後の方針として、まず座標推定の評価を行います。</a:t>
            </a:r>
            <a:br>
              <a:rPr sz="2000"/>
            </a:br>
            <a:r>
              <a:rPr lang="ja-JP" sz="2000" b="0" u="none" strike="noStrike">
                <a:solidFill>
                  <a:srgbClr val="000000"/>
                </a:solidFill>
                <a:effectLst/>
                <a:uFillTx/>
                <a:latin typeface="Arial"/>
              </a:rPr>
              <a:t>具体的には、映像取得から推定完了までの遅延時間や、推定された座標の誤差を測定し、誤差が大きい場合にはキャリブレーション手法やカメラ間隔の調整によって精度の改善を図ります。</a:t>
            </a:r>
            <a:endParaRPr lang="en-US" sz="20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Arial"/>
              </a:rPr>
              <a:t>また、三角測量で得られる座標はカメラ基準のカメラ座標系となるため、実際のシステムに組み込むには、キーボードを基準とした世界座標系へ変換する必要があります。</a:t>
            </a:r>
            <a:br>
              <a:rPr sz="2000"/>
            </a:br>
            <a:r>
              <a:rPr lang="ja-JP" sz="2000" b="0" u="none" strike="noStrike">
                <a:solidFill>
                  <a:srgbClr val="000000"/>
                </a:solidFill>
                <a:effectLst/>
                <a:uFillTx/>
                <a:latin typeface="Arial"/>
              </a:rPr>
              <a:t>この部分は共同研究との連携が重要であり、座標評価と並行して進めていきます。</a:t>
            </a:r>
            <a:endParaRPr lang="en-US" sz="2000" b="0" u="none" strike="noStrike">
              <a:solidFill>
                <a:srgbClr val="000000"/>
              </a:solidFill>
              <a:effectLst/>
              <a:uFillTx/>
              <a:latin typeface="Arial"/>
            </a:endParaRPr>
          </a:p>
          <a:p>
            <a:pPr indent="0">
              <a:lnSpc>
                <a:spcPct val="100000"/>
              </a:lnSpc>
              <a:buNone/>
            </a:pPr>
            <a:r>
              <a:rPr lang="ja-JP" sz="2000" b="0" u="none" strike="noStrike">
                <a:solidFill>
                  <a:srgbClr val="000000"/>
                </a:solidFill>
                <a:effectLst/>
                <a:uFillTx/>
                <a:latin typeface="Arial"/>
              </a:rPr>
              <a:t>以上で発表を終わります。</a:t>
            </a:r>
            <a:br>
              <a:rPr sz="2000"/>
            </a:br>
            <a:r>
              <a:rPr lang="ja-JP" sz="2000" b="0" u="none" strike="noStrike">
                <a:solidFill>
                  <a:srgbClr val="000000"/>
                </a:solidFill>
                <a:effectLst/>
                <a:uFillTx/>
                <a:latin typeface="Arial"/>
              </a:rPr>
              <a:t>ご清聴ありがとうございました。</a:t>
            </a:r>
            <a:endParaRPr lang="en-US" sz="2000" b="0" u="none" strike="noStrike">
              <a:solidFill>
                <a:srgbClr val="000000"/>
              </a:solidFill>
              <a:effectLst/>
              <a:uFillTx/>
              <a:latin typeface="Arial"/>
            </a:endParaRPr>
          </a:p>
          <a:p>
            <a:pPr indent="0">
              <a:lnSpc>
                <a:spcPct val="100000"/>
              </a:lnSpc>
              <a:buNone/>
            </a:pPr>
            <a:r>
              <a:rPr lang="en-US" sz="2000" b="0" u="none" strike="noStrike">
                <a:solidFill>
                  <a:srgbClr val="000000"/>
                </a:solidFill>
                <a:effectLst/>
                <a:uFillTx/>
                <a:latin typeface="Arial"/>
              </a:rPr>
              <a:t>657</a:t>
            </a:r>
          </a:p>
        </p:txBody>
      </p:sp>
      <p:sp>
        <p:nvSpPr>
          <p:cNvPr id="195" name="PlaceHolder 3"/>
          <p:cNvSpPr>
            <a:spLocks noGrp="1"/>
          </p:cNvSpPr>
          <p:nvPr>
            <p:ph type="sldNum" idx="53"/>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Noto Serif CJK JP"/>
              </a:defRPr>
            </a:lvl1pPr>
          </a:lstStyle>
          <a:p>
            <a:pPr indent="0" algn="r">
              <a:lnSpc>
                <a:spcPct val="100000"/>
              </a:lnSpc>
              <a:buNone/>
              <a:tabLst>
                <a:tab pos="0" algn="l"/>
              </a:tabLst>
            </a:pPr>
            <a:fld id="{2D5F29EE-EA85-40DA-BE32-4339AD63213F}" type="slidenum">
              <a:rPr lang="en-US" sz="1400" b="0" u="none" strike="noStrike">
                <a:solidFill>
                  <a:srgbClr val="000000"/>
                </a:solidFill>
                <a:effectLst/>
                <a:uFillTx/>
                <a:latin typeface="Noto Serif CJK JP"/>
              </a:rPr>
              <a:t>13</a:t>
            </a:fld>
            <a:endParaRPr lang="en-US" sz="1400" b="0" u="none" strike="noStrike">
              <a:solidFill>
                <a:srgbClr val="000000"/>
              </a:solidFill>
              <a:effectLst/>
              <a:uFillTx/>
              <a:latin typeface="Noto Serif CJK J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2 つのコンテンツ">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6"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1"/>
          </p:nvPr>
        </p:nvSpPr>
        <p:spPr/>
        <p:txBody>
          <a:bodyPr/>
          <a:lstStyle/>
          <a:p>
            <a:r>
              <a:t>Footer</a:t>
            </a:r>
          </a:p>
        </p:txBody>
      </p:sp>
      <p:sp>
        <p:nvSpPr>
          <p:cNvPr id="2" name="PlaceHolder 4"/>
          <p:cNvSpPr>
            <a:spLocks noGrp="1"/>
          </p:cNvSpPr>
          <p:nvPr>
            <p:ph type="sldNum" idx="2"/>
          </p:nvPr>
        </p:nvSpPr>
        <p:spPr/>
        <p:txBody>
          <a:bodyPr/>
          <a:lstStyle/>
          <a:p>
            <a:fld id="{F350B28B-72DE-4893-B7B3-F5A1FA019355}" type="slidenum">
              <a:t>‹#›</a:t>
            </a:fld>
            <a:endParaRPr/>
          </a:p>
        </p:txBody>
      </p:sp>
      <p:sp>
        <p:nvSpPr>
          <p:cNvPr id="3"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比較">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13"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4"/>
          </p:nvPr>
        </p:nvSpPr>
        <p:spPr/>
        <p:txBody>
          <a:bodyPr/>
          <a:lstStyle/>
          <a:p>
            <a:r>
              <a:t>Footer</a:t>
            </a:r>
          </a:p>
        </p:txBody>
      </p:sp>
      <p:sp>
        <p:nvSpPr>
          <p:cNvPr id="5" name="PlaceHolder 4"/>
          <p:cNvSpPr>
            <a:spLocks noGrp="1"/>
          </p:cNvSpPr>
          <p:nvPr>
            <p:ph type="sldNum" idx="5"/>
          </p:nvPr>
        </p:nvSpPr>
        <p:spPr/>
        <p:txBody>
          <a:bodyPr/>
          <a:lstStyle/>
          <a:p>
            <a:fld id="{8982843B-CC40-421C-9BFB-5B2C286D8352}" type="slidenum">
              <a:t>‹#›</a:t>
            </a:fld>
            <a:endParaRPr/>
          </a:p>
        </p:txBody>
      </p:sp>
      <p:sp>
        <p:nvSpPr>
          <p:cNvPr id="6" name="PlaceHolder 5"/>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タイトルのみ">
    <p:spTree>
      <p:nvGrpSpPr>
        <p:cNvPr id="1" name=""/>
        <p:cNvGrpSpPr/>
        <p:nvPr/>
      </p:nvGrpSpPr>
      <p:grpSpPr>
        <a:xfrm>
          <a:off x="0" y="0"/>
          <a:ext cx="0" cy="0"/>
          <a:chOff x="0" y="0"/>
          <a:chExt cx="0" cy="0"/>
        </a:xfrm>
      </p:grpSpPr>
      <p:sp>
        <p:nvSpPr>
          <p:cNvPr id="19"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20"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7"/>
          </p:nvPr>
        </p:nvSpPr>
        <p:spPr/>
        <p:txBody>
          <a:bodyPr/>
          <a:lstStyle/>
          <a:p>
            <a:r>
              <a:t>Footer</a:t>
            </a:r>
          </a:p>
        </p:txBody>
      </p:sp>
      <p:sp>
        <p:nvSpPr>
          <p:cNvPr id="5" name="PlaceHolder 4"/>
          <p:cNvSpPr>
            <a:spLocks noGrp="1"/>
          </p:cNvSpPr>
          <p:nvPr>
            <p:ph type="sldNum" idx="8"/>
          </p:nvPr>
        </p:nvSpPr>
        <p:spPr/>
        <p:txBody>
          <a:bodyPr/>
          <a:lstStyle/>
          <a:p>
            <a:fld id="{EF6DBE67-A371-4875-8962-DA08543EE897}" type="slidenum">
              <a:t>‹#›</a:t>
            </a:fld>
            <a:endParaRPr/>
          </a:p>
        </p:txBody>
      </p:sp>
      <p:sp>
        <p:nvSpPr>
          <p:cNvPr id="6" name="PlaceHolder 5"/>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白紙">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2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16EA700C-A3D0-463A-90FC-8B57456E51DC}" type="slidenum">
              <a:t>‹#›</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タイトル スライド">
    <p:spTree>
      <p:nvGrpSpPr>
        <p:cNvPr id="1" name=""/>
        <p:cNvGrpSpPr/>
        <p:nvPr/>
      </p:nvGrpSpPr>
      <p:grpSpPr>
        <a:xfrm>
          <a:off x="0" y="0"/>
          <a:ext cx="0" cy="0"/>
          <a:chOff x="0" y="0"/>
          <a:chExt cx="0" cy="0"/>
        </a:xfrm>
      </p:grpSpPr>
      <p:sp>
        <p:nvSpPr>
          <p:cNvPr id="33"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3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13"/>
          </p:nvPr>
        </p:nvSpPr>
        <p:spPr/>
        <p:txBody>
          <a:bodyPr/>
          <a:lstStyle/>
          <a:p>
            <a:r>
              <a:t>Footer</a:t>
            </a:r>
          </a:p>
        </p:txBody>
      </p:sp>
      <p:sp>
        <p:nvSpPr>
          <p:cNvPr id="5" name="PlaceHolder 4"/>
          <p:cNvSpPr>
            <a:spLocks noGrp="1"/>
          </p:cNvSpPr>
          <p:nvPr>
            <p:ph type="sldNum" idx="14"/>
          </p:nvPr>
        </p:nvSpPr>
        <p:spPr/>
        <p:txBody>
          <a:bodyPr/>
          <a:lstStyle/>
          <a:p>
            <a:fld id="{0A9D9C43-0862-4794-8A45-33F5FBFF182D}" type="slidenum">
              <a:t>‹#›</a:t>
            </a:fld>
            <a:endParaRPr/>
          </a:p>
        </p:txBody>
      </p:sp>
      <p:sp>
        <p:nvSpPr>
          <p:cNvPr id="6" name="PlaceHolder 5"/>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標準">
    <p:spTree>
      <p:nvGrpSpPr>
        <p:cNvPr id="1" name=""/>
        <p:cNvGrpSpPr/>
        <p:nvPr/>
      </p:nvGrpSpPr>
      <p:grpSpPr>
        <a:xfrm>
          <a:off x="0" y="0"/>
          <a:ext cx="0" cy="0"/>
          <a:chOff x="0" y="0"/>
          <a:chExt cx="0" cy="0"/>
        </a:xfrm>
      </p:grpSpPr>
      <p:sp>
        <p:nvSpPr>
          <p:cNvPr id="40"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41"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16"/>
          </p:nvPr>
        </p:nvSpPr>
        <p:spPr/>
        <p:txBody>
          <a:bodyPr/>
          <a:lstStyle/>
          <a:p>
            <a:r>
              <a:t>Footer</a:t>
            </a:r>
          </a:p>
        </p:txBody>
      </p:sp>
      <p:sp>
        <p:nvSpPr>
          <p:cNvPr id="5" name="PlaceHolder 4"/>
          <p:cNvSpPr>
            <a:spLocks noGrp="1"/>
          </p:cNvSpPr>
          <p:nvPr>
            <p:ph type="sldNum" idx="17"/>
          </p:nvPr>
        </p:nvSpPr>
        <p:spPr/>
        <p:txBody>
          <a:bodyPr/>
          <a:lstStyle/>
          <a:p>
            <a:fld id="{AA3D5960-E1D3-4CCF-B6BC-2A7E8C700086}" type="slidenum">
              <a:t>‹#›</a:t>
            </a:fld>
            <a:endParaRPr/>
          </a:p>
        </p:txBody>
      </p:sp>
      <p:sp>
        <p:nvSpPr>
          <p:cNvPr id="6" name="PlaceHolder 5"/>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標準 1">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4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19"/>
          </p:nvPr>
        </p:nvSpPr>
        <p:spPr/>
        <p:txBody>
          <a:bodyPr/>
          <a:lstStyle/>
          <a:p>
            <a:r>
              <a:t>Footer</a:t>
            </a:r>
          </a:p>
        </p:txBody>
      </p:sp>
      <p:sp>
        <p:nvSpPr>
          <p:cNvPr id="5" name="PlaceHolder 4"/>
          <p:cNvSpPr>
            <a:spLocks noGrp="1"/>
          </p:cNvSpPr>
          <p:nvPr>
            <p:ph type="sldNum" idx="20"/>
          </p:nvPr>
        </p:nvSpPr>
        <p:spPr/>
        <p:txBody>
          <a:bodyPr/>
          <a:lstStyle/>
          <a:p>
            <a:fld id="{996CB8F0-AC77-4D8B-9D9D-7F439F28DD59}" type="slidenum">
              <a:t>‹#›</a:t>
            </a:fld>
            <a:endParaRPr/>
          </a:p>
        </p:txBody>
      </p:sp>
      <p:sp>
        <p:nvSpPr>
          <p:cNvPr id="6" name="PlaceHolder 5"/>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標準 1">
    <p:spTree>
      <p:nvGrpSpPr>
        <p:cNvPr id="1" name=""/>
        <p:cNvGrpSpPr/>
        <p:nvPr/>
      </p:nvGrpSpPr>
      <p:grpSpPr>
        <a:xfrm>
          <a:off x="0" y="0"/>
          <a:ext cx="0" cy="0"/>
          <a:chOff x="0" y="0"/>
          <a:chExt cx="0" cy="0"/>
        </a:xfrm>
      </p:grpSpPr>
      <p:sp>
        <p:nvSpPr>
          <p:cNvPr id="49"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50" name="PlaceHolder 2"/>
          <p:cNvSpPr>
            <a:spLocks noGrp="1"/>
          </p:cNvSpPr>
          <p:nvPr>
            <p:ph type="subTitle"/>
          </p:nvPr>
        </p:nvSpPr>
        <p:spPr>
          <a:xfrm>
            <a:off x="838080" y="1825560"/>
            <a:ext cx="10514160" cy="4349880"/>
          </a:xfrm>
          <a:prstGeom prst="rect">
            <a:avLst/>
          </a:prstGeom>
          <a:noFill/>
          <a:ln w="0">
            <a:noFill/>
          </a:ln>
        </p:spPr>
        <p:txBody>
          <a:bodyPr lIns="0" tIns="0" rIns="0" bIns="0" anchor="ctr">
            <a:spAutoFit/>
          </a:bodyPr>
          <a:lstStyle/>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19"/>
          </p:nvPr>
        </p:nvSpPr>
        <p:spPr/>
        <p:txBody>
          <a:bodyPr/>
          <a:lstStyle/>
          <a:p>
            <a:r>
              <a:t>Footer</a:t>
            </a:r>
          </a:p>
        </p:txBody>
      </p:sp>
      <p:sp>
        <p:nvSpPr>
          <p:cNvPr id="5" name="PlaceHolder 4"/>
          <p:cNvSpPr>
            <a:spLocks noGrp="1"/>
          </p:cNvSpPr>
          <p:nvPr>
            <p:ph type="sldNum" idx="20"/>
          </p:nvPr>
        </p:nvSpPr>
        <p:spPr/>
        <p:txBody>
          <a:bodyPr/>
          <a:lstStyle/>
          <a:p>
            <a:fld id="{569C03C9-0AA1-41B1-A251-43B7607EA2FE}" type="slidenum">
              <a:t>‹#›</a:t>
            </a:fld>
            <a:endParaRPr/>
          </a:p>
        </p:txBody>
      </p:sp>
      <p:sp>
        <p:nvSpPr>
          <p:cNvPr id="6" name="PlaceHolder 5"/>
          <p:cNvSpPr>
            <a:spLocks noGrp="1"/>
          </p:cNvSpPr>
          <p:nvPr>
            <p:ph type="dt" idx="21"/>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タイトル付きのコンテンツ">
    <p:spTree>
      <p:nvGrpSpPr>
        <p:cNvPr id="1" name=""/>
        <p:cNvGrpSpPr/>
        <p:nvPr/>
      </p:nvGrpSpPr>
      <p:grpSpPr>
        <a:xfrm>
          <a:off x="0" y="0"/>
          <a:ext cx="0" cy="0"/>
          <a:chOff x="0" y="0"/>
          <a:chExt cx="0" cy="0"/>
        </a:xfrm>
      </p:grpSpPr>
      <p:sp>
        <p:nvSpPr>
          <p:cNvPr id="56"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5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22"/>
          </p:nvPr>
        </p:nvSpPr>
        <p:spPr/>
        <p:txBody>
          <a:bodyPr/>
          <a:lstStyle/>
          <a:p>
            <a:r>
              <a:t>Footer</a:t>
            </a:r>
          </a:p>
        </p:txBody>
      </p:sp>
      <p:sp>
        <p:nvSpPr>
          <p:cNvPr id="5" name="PlaceHolder 4"/>
          <p:cNvSpPr>
            <a:spLocks noGrp="1"/>
          </p:cNvSpPr>
          <p:nvPr>
            <p:ph type="sldNum" idx="23"/>
          </p:nvPr>
        </p:nvSpPr>
        <p:spPr/>
        <p:txBody>
          <a:bodyPr/>
          <a:lstStyle/>
          <a:p>
            <a:fld id="{7B575901-8F5C-4331-8063-180BBF0AC8AA}" type="slidenum">
              <a:t>‹#›</a:t>
            </a:fld>
            <a:endParaRPr/>
          </a:p>
        </p:txBody>
      </p:sp>
      <p:sp>
        <p:nvSpPr>
          <p:cNvPr id="6" name="PlaceHolder 5"/>
          <p:cNvSpPr>
            <a:spLocks noGrp="1"/>
          </p:cNvSpPr>
          <p:nvPr>
            <p:ph type="dt" idx="24"/>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タイトル付きの図">
    <p:spTree>
      <p:nvGrpSpPr>
        <p:cNvPr id="1" name=""/>
        <p:cNvGrpSpPr/>
        <p:nvPr/>
      </p:nvGrpSpPr>
      <p:grpSpPr>
        <a:xfrm>
          <a:off x="0" y="0"/>
          <a:ext cx="0" cy="0"/>
          <a:chOff x="0" y="0"/>
          <a:chExt cx="0" cy="0"/>
        </a:xfrm>
      </p:grpSpPr>
      <p:sp>
        <p:nvSpPr>
          <p:cNvPr id="63"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6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25"/>
          </p:nvPr>
        </p:nvSpPr>
        <p:spPr/>
        <p:txBody>
          <a:bodyPr/>
          <a:lstStyle/>
          <a:p>
            <a:r>
              <a:t>Footer</a:t>
            </a:r>
          </a:p>
        </p:txBody>
      </p:sp>
      <p:sp>
        <p:nvSpPr>
          <p:cNvPr id="5" name="PlaceHolder 4"/>
          <p:cNvSpPr>
            <a:spLocks noGrp="1"/>
          </p:cNvSpPr>
          <p:nvPr>
            <p:ph type="sldNum" idx="26"/>
          </p:nvPr>
        </p:nvSpPr>
        <p:spPr/>
        <p:txBody>
          <a:bodyPr/>
          <a:lstStyle/>
          <a:p>
            <a:fld id="{1DE58DC8-2EFF-4D12-BF7A-CAE4E82E701E}" type="slidenum">
              <a:t>‹#›</a:t>
            </a:fld>
            <a:endParaRPr/>
          </a:p>
        </p:txBody>
      </p:sp>
      <p:sp>
        <p:nvSpPr>
          <p:cNvPr id="6" name="PlaceHolder 5"/>
          <p:cNvSpPr>
            <a:spLocks noGrp="1"/>
          </p:cNvSpPr>
          <p:nvPr>
            <p:ph type="dt" idx="27"/>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タイトルと縦書きテキスト">
    <p:spTree>
      <p:nvGrpSpPr>
        <p:cNvPr id="1" name=""/>
        <p:cNvGrpSpPr/>
        <p:nvPr/>
      </p:nvGrpSpPr>
      <p:grpSpPr>
        <a:xfrm>
          <a:off x="0" y="0"/>
          <a:ext cx="0" cy="0"/>
          <a:chOff x="0" y="0"/>
          <a:chExt cx="0" cy="0"/>
        </a:xfrm>
      </p:grpSpPr>
      <p:sp>
        <p:nvSpPr>
          <p:cNvPr id="70"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71"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28"/>
          </p:nvPr>
        </p:nvSpPr>
        <p:spPr/>
        <p:txBody>
          <a:bodyPr/>
          <a:lstStyle/>
          <a:p>
            <a:r>
              <a:t>Footer</a:t>
            </a:r>
          </a:p>
        </p:txBody>
      </p:sp>
      <p:sp>
        <p:nvSpPr>
          <p:cNvPr id="5" name="PlaceHolder 4"/>
          <p:cNvSpPr>
            <a:spLocks noGrp="1"/>
          </p:cNvSpPr>
          <p:nvPr>
            <p:ph type="sldNum" idx="29"/>
          </p:nvPr>
        </p:nvSpPr>
        <p:spPr/>
        <p:txBody>
          <a:bodyPr/>
          <a:lstStyle/>
          <a:p>
            <a:fld id="{1E860E7B-666C-4007-82F6-AC90E6968EB4}" type="slidenum">
              <a:t>‹#›</a:t>
            </a:fld>
            <a:endParaRPr/>
          </a:p>
        </p:txBody>
      </p:sp>
      <p:sp>
        <p:nvSpPr>
          <p:cNvPr id="6" name="PlaceHolder 5"/>
          <p:cNvSpPr>
            <a:spLocks noGrp="1"/>
          </p:cNvSpPr>
          <p:nvPr>
            <p:ph type="dt" idx="30"/>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標準 2">
    <p:spTree>
      <p:nvGrpSpPr>
        <p:cNvPr id="1" name=""/>
        <p:cNvGrpSpPr/>
        <p:nvPr/>
      </p:nvGrpSpPr>
      <p:grpSpPr>
        <a:xfrm>
          <a:off x="0" y="0"/>
          <a:ext cx="0" cy="0"/>
          <a:chOff x="0" y="0"/>
          <a:chExt cx="0" cy="0"/>
        </a:xfrm>
      </p:grpSpPr>
      <p:sp>
        <p:nvSpPr>
          <p:cNvPr id="77"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7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31"/>
          </p:nvPr>
        </p:nvSpPr>
        <p:spPr/>
        <p:txBody>
          <a:bodyPr/>
          <a:lstStyle/>
          <a:p>
            <a:r>
              <a:t>Footer</a:t>
            </a:r>
          </a:p>
        </p:txBody>
      </p:sp>
      <p:sp>
        <p:nvSpPr>
          <p:cNvPr id="5" name="PlaceHolder 4"/>
          <p:cNvSpPr>
            <a:spLocks noGrp="1"/>
          </p:cNvSpPr>
          <p:nvPr>
            <p:ph type="sldNum" idx="32"/>
          </p:nvPr>
        </p:nvSpPr>
        <p:spPr/>
        <p:txBody>
          <a:bodyPr/>
          <a:lstStyle/>
          <a:p>
            <a:fld id="{4927FEF7-9BEE-45DD-87F3-2EC6C93B3C52}" type="slidenum">
              <a:t>‹#›</a:t>
            </a:fld>
            <a:endParaRPr/>
          </a:p>
        </p:txBody>
      </p:sp>
      <p:sp>
        <p:nvSpPr>
          <p:cNvPr id="6" name="PlaceHolder 5"/>
          <p:cNvSpPr>
            <a:spLocks noGrp="1"/>
          </p:cNvSpPr>
          <p:nvPr>
            <p:ph type="dt" idx="33"/>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標準 2">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EC663C9-55CD-4CBA-9442-069541DA17FF}" type="slidenum">
              <a:t>‹#›</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縦書きタイトルと&#10;縦書きテキスト">
    <p:spTree>
      <p:nvGrpSpPr>
        <p:cNvPr id="1" name=""/>
        <p:cNvGrpSpPr/>
        <p:nvPr/>
      </p:nvGrpSpPr>
      <p:grpSpPr>
        <a:xfrm>
          <a:off x="0" y="0"/>
          <a:ext cx="0" cy="0"/>
          <a:chOff x="0" y="0"/>
          <a:chExt cx="0" cy="0"/>
        </a:xfrm>
      </p:grpSpPr>
      <p:sp>
        <p:nvSpPr>
          <p:cNvPr id="84"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85"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C5E82F6C-DFA1-460F-AFBF-D9379F5E669E}" type="slidenum">
              <a:t>‹#›</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889560"/>
            <a:ext cx="10514160" cy="274680"/>
          </a:xfrm>
          <a:prstGeom prst="rect">
            <a:avLst/>
          </a:prstGeom>
          <a:noFill/>
          <a:ln w="0">
            <a:noFill/>
          </a:ln>
        </p:spPr>
        <p:txBody>
          <a:bodyPr lIns="0" tIns="0" rIns="0" bIns="0" anchor="ctr">
            <a:spAutoFit/>
          </a:bodyPr>
          <a:lstStyle/>
          <a:p>
            <a:pPr indent="0">
              <a:buNone/>
            </a:pPr>
            <a:endParaRPr lang="en-US" sz="1800" b="0" u="none" strike="noStrike">
              <a:solidFill>
                <a:schemeClr val="dk1"/>
              </a:solidFill>
              <a:effectLst/>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u="none" strike="noStrike">
              <a:solidFill>
                <a:schemeClr val="dk1"/>
              </a:solidFill>
              <a:effectLst/>
              <a:uFillTx/>
              <a:latin typeface="Arial"/>
            </a:endParaRPr>
          </a:p>
        </p:txBody>
      </p:sp>
      <p:sp>
        <p:nvSpPr>
          <p:cNvPr id="4" name="PlaceHolder 3"/>
          <p:cNvSpPr>
            <a:spLocks noGrp="1"/>
          </p:cNvSpPr>
          <p:nvPr>
            <p:ph type="ftr" idx="37"/>
          </p:nvPr>
        </p:nvSpPr>
        <p:spPr/>
        <p:txBody>
          <a:bodyPr/>
          <a:lstStyle/>
          <a:p>
            <a:r>
              <a:t>Footer</a:t>
            </a:r>
          </a:p>
        </p:txBody>
      </p:sp>
      <p:sp>
        <p:nvSpPr>
          <p:cNvPr id="5" name="PlaceHolder 4"/>
          <p:cNvSpPr>
            <a:spLocks noGrp="1"/>
          </p:cNvSpPr>
          <p:nvPr>
            <p:ph type="sldNum" idx="38"/>
          </p:nvPr>
        </p:nvSpPr>
        <p:spPr/>
        <p:txBody>
          <a:bodyPr/>
          <a:lstStyle/>
          <a:p>
            <a:fld id="{37EA0DB9-CD7F-4EF9-908D-9294CBAD43D9}" type="slidenum">
              <a:t>‹#›</a:t>
            </a:fld>
            <a:endParaRPr/>
          </a:p>
        </p:txBody>
      </p:sp>
      <p:sp>
        <p:nvSpPr>
          <p:cNvPr id="6" name="PlaceHolder 5"/>
          <p:cNvSpPr>
            <a:spLocks noGrp="1"/>
          </p:cNvSpPr>
          <p:nvPr>
            <p:ph type="dt" idx="39"/>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3" Type="http://schemas.openxmlformats.org/officeDocument/2006/relationships/theme" Target="../theme/theme7.xml"/><Relationship Id="rId2" Type="http://schemas.openxmlformats.org/officeDocument/2006/relationships/slideLayout" Target="../slideLayouts/slideLayout8.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9.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10.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1.xml"/></Relationships>
</file>

<file path=ppt/slideMasters/_rels/slideMaster11.xml.rels><?xml version="1.0" encoding="UTF-8" standalone="yes"?>
<Relationships xmlns="http://schemas.openxmlformats.org/package/2006/relationships"><Relationship Id="rId3" Type="http://schemas.openxmlformats.org/officeDocument/2006/relationships/theme" Target="../theme/theme11.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4.xml"/></Relationships>
</file>

<file path=ppt/slideMasters/_rels/slideMaster13.xml.rels><?xml version="1.0" encoding="UTF-8" standalone="yes"?>
<Relationships xmlns="http://schemas.openxmlformats.org/package/2006/relationships"><Relationship Id="rId2" Type="http://schemas.openxmlformats.org/officeDocument/2006/relationships/theme" Target="../theme/theme13.xml"/><Relationship Id="rId1"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6"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2" name="PlaceHolder 3"/>
          <p:cNvSpPr>
            <a:spLocks noGrp="1"/>
          </p:cNvSpPr>
          <p:nvPr>
            <p:ph type="ftr" idx="1"/>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3" name="PlaceHolder 4"/>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B44F55FA-2770-40F0-9473-AD7C4FBA7CAD}"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4" name="PlaceHolder 5"/>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8"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9" name="PlaceHolder 3"/>
          <p:cNvSpPr>
            <a:spLocks noGrp="1"/>
          </p:cNvSpPr>
          <p:nvPr>
            <p:ph type="ftr" idx="4"/>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10" name="PlaceHolder 4"/>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E55A87D9-BB2B-4644-8E73-A424DF9C5A8D}"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11" name="PlaceHolder 5"/>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1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16" name="PlaceHolder 3"/>
          <p:cNvSpPr>
            <a:spLocks noGrp="1"/>
          </p:cNvSpPr>
          <p:nvPr>
            <p:ph type="ftr" idx="7"/>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17" name="PlaceHolder 4"/>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302F91F9-8F60-495F-B9B1-68D22B941E22}"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18" name="PlaceHolder 5"/>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2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23" name="PlaceHolder 3"/>
          <p:cNvSpPr>
            <a:spLocks noGrp="1"/>
          </p:cNvSpPr>
          <p:nvPr>
            <p:ph type="ftr" idx="10"/>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24"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AF5EF178-728C-4824-8640-5A0B8E7DBF96}"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25"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29"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30" name="PlaceHolder 3"/>
          <p:cNvSpPr>
            <a:spLocks noGrp="1"/>
          </p:cNvSpPr>
          <p:nvPr>
            <p:ph type="ftr" idx="13"/>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31" name="PlaceHolder 4"/>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040BD7D7-666A-4F00-8FA5-F2E4696A7F8A}"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32" name="PlaceHolder 5"/>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36"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37" name="PlaceHolder 3"/>
          <p:cNvSpPr>
            <a:spLocks noGrp="1"/>
          </p:cNvSpPr>
          <p:nvPr>
            <p:ph type="ftr" idx="16"/>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38" name="PlaceHolder 4"/>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E799CE08-85BC-4604-B575-4D114A33009E}"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39" name="PlaceHolder 5"/>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43" name="PlaceHolder 2"/>
          <p:cNvSpPr>
            <a:spLocks noGrp="1"/>
          </p:cNvSpPr>
          <p:nvPr>
            <p:ph type="ftr" idx="19"/>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44" name="PlaceHolder 3"/>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66AED387-1CB9-4787-8EBD-0374C82BEFF4}"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45" name="PlaceHolder 4"/>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
        <p:nvSpPr>
          <p:cNvPr id="4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5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53" name="PlaceHolder 3"/>
          <p:cNvSpPr>
            <a:spLocks noGrp="1"/>
          </p:cNvSpPr>
          <p:nvPr>
            <p:ph type="ftr" idx="22"/>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54" name="PlaceHolder 4"/>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C9C27558-1A83-4514-A854-25409C184AD1}"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55" name="PlaceHolder 5"/>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59"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60" name="PlaceHolder 3"/>
          <p:cNvSpPr>
            <a:spLocks noGrp="1"/>
          </p:cNvSpPr>
          <p:nvPr>
            <p:ph type="ftr" idx="25"/>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61" name="PlaceHolder 4"/>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9582644D-EAFB-4A0B-91F9-7202F6A1F50F}"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62" name="PlaceHolder 5"/>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66"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5"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66"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67" name="PlaceHolder 3"/>
          <p:cNvSpPr>
            <a:spLocks noGrp="1"/>
          </p:cNvSpPr>
          <p:nvPr>
            <p:ph type="ftr" idx="28"/>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68" name="PlaceHolder 4"/>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6362D9EE-0EA5-477E-8863-E45DB20F93EC}"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69" name="PlaceHolder 5"/>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68"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2" name="PlaceHolder 1"/>
          <p:cNvSpPr>
            <a:spLocks noGrp="1"/>
          </p:cNvSpPr>
          <p:nvPr>
            <p:ph type="ftr" idx="31"/>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73"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0865E010-19BC-4146-AD03-21D6AEA61B38}"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74"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
        <p:nvSpPr>
          <p:cNvPr id="75"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7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70" r:id="rId1"/>
    <p:sldLayoutId id="2147483671" r:id="rId2"/>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8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81" name="PlaceHolder 3"/>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82" name="PlaceHolder 4"/>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98620234-3876-41C3-BB9A-9295B2654881}"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83" name="PlaceHolder 5"/>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889560"/>
            <a:ext cx="10514160" cy="274680"/>
          </a:xfrm>
          <a:prstGeom prst="rect">
            <a:avLst/>
          </a:prstGeom>
          <a:noFill/>
          <a:ln w="0">
            <a:noFill/>
          </a:ln>
        </p:spPr>
        <p:txBody>
          <a:bodyPr lIns="0" tIns="0" rIns="0" bIns="0" anchor="ctr">
            <a:noAutofit/>
          </a:bodyPr>
          <a:lstStyle/>
          <a:p>
            <a:pPr indent="0">
              <a:buNone/>
            </a:pPr>
            <a:r>
              <a:rPr lang="ja-JP" sz="1800" b="0" u="none" strike="noStrike">
                <a:solidFill>
                  <a:schemeClr val="dk1"/>
                </a:solidFill>
                <a:effectLst/>
                <a:uFillTx/>
                <a:latin typeface="Arial"/>
              </a:rPr>
              <a:t>クリックしてタイトルテキストを編集</a:t>
            </a:r>
            <a:endParaRPr lang="en-US" sz="1800" b="0" u="none" strike="noStrike">
              <a:solidFill>
                <a:schemeClr val="dk1"/>
              </a:solidFill>
              <a:effectLst/>
              <a:uFillTx/>
              <a:latin typeface="Arial"/>
            </a:endParaRPr>
          </a:p>
        </p:txBody>
      </p:sp>
      <p:sp>
        <p:nvSpPr>
          <p:cNvPr id="87"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chemeClr val="dk1"/>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chemeClr val="dk1"/>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chemeClr val="dk1"/>
              </a:solidFill>
              <a:effectLst/>
              <a:uFillTx/>
              <a:latin typeface="Arial"/>
            </a:endParaRPr>
          </a:p>
        </p:txBody>
      </p:sp>
      <p:sp>
        <p:nvSpPr>
          <p:cNvPr id="88" name="PlaceHolder 3"/>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89" name="PlaceHolder 4"/>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23A15745-58C6-46E7-B3C5-C57EA2E18901}"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90" name="PlaceHolder 5"/>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&lt;日付/時刻&gt;</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5.xml"/><Relationship Id="rId5" Type="http://schemas.openxmlformats.org/officeDocument/2006/relationships/hyperlink" Target="https://ai.google.dev/edge/mediapipe/solutions/vision/hand_landmarker?hl=ja" TargetMode="Externa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5.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9.wmf"/><Relationship Id="rId7"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5.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5.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5.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1523880" y="1392840"/>
            <a:ext cx="9142560" cy="2386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ja-JP" sz="4800" b="0" u="none" strike="noStrike">
                <a:solidFill>
                  <a:schemeClr val="dk1"/>
                </a:solidFill>
                <a:effectLst/>
                <a:uFillTx/>
                <a:latin typeface="ＭＳ Ｐゴシック"/>
                <a:ea typeface="ＭＳ Ｐゴシック"/>
              </a:rPr>
              <a:t>両眼カメラによる</a:t>
            </a:r>
            <a:r>
              <a:rPr lang="en-US" sz="4800" b="0" u="none" strike="noStrike">
                <a:solidFill>
                  <a:schemeClr val="dk1"/>
                </a:solidFill>
                <a:effectLst/>
                <a:uFillTx/>
                <a:latin typeface="ＭＳ Ｐゴシック"/>
                <a:ea typeface="ＭＳ Ｐゴシック"/>
              </a:rPr>
              <a:t>MediaPipe Hand Landmarker</a:t>
            </a:r>
            <a:r>
              <a:rPr lang="ja-JP" sz="4800" b="0" u="none" strike="noStrike">
                <a:solidFill>
                  <a:schemeClr val="dk1"/>
                </a:solidFill>
                <a:effectLst/>
                <a:uFillTx/>
                <a:latin typeface="ＭＳ Ｐゴシック"/>
                <a:ea typeface="ＭＳ Ｐゴシック"/>
              </a:rPr>
              <a:t>タスクの精度向上</a:t>
            </a:r>
            <a:endParaRPr lang="en-US" sz="4800" b="0" u="none" strike="noStrike">
              <a:solidFill>
                <a:schemeClr val="dk1"/>
              </a:solidFill>
              <a:effectLst/>
              <a:uFillTx/>
              <a:latin typeface="Arial"/>
            </a:endParaRPr>
          </a:p>
        </p:txBody>
      </p:sp>
      <p:sp>
        <p:nvSpPr>
          <p:cNvPr id="100" name="PlaceHolder 2"/>
          <p:cNvSpPr>
            <a:spLocks noGrp="1"/>
          </p:cNvSpPr>
          <p:nvPr>
            <p:ph type="subTitle"/>
          </p:nvPr>
        </p:nvSpPr>
        <p:spPr>
          <a:xfrm>
            <a:off x="1523880" y="4320000"/>
            <a:ext cx="9142560" cy="1654200"/>
          </a:xfrm>
          <a:prstGeom prst="rect">
            <a:avLst/>
          </a:prstGeom>
          <a:noFill/>
          <a:ln w="0">
            <a:noFill/>
          </a:ln>
        </p:spPr>
        <p:txBody>
          <a:bodyPr lIns="91440" tIns="45720" rIns="91440" bIns="45720" anchor="t">
            <a:normAutofit/>
          </a:bodyPr>
          <a:lstStyle/>
          <a:p>
            <a:pPr marL="228600" indent="0" algn="ctr"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箕浦研究室　</a:t>
            </a:r>
            <a:r>
              <a:rPr lang="en-US" sz="3200" b="0" u="none" strike="noStrike">
                <a:solidFill>
                  <a:schemeClr val="dk1"/>
                </a:solidFill>
                <a:effectLst/>
                <a:uFillTx/>
                <a:latin typeface="ＭＳ Ｐゴシック"/>
                <a:ea typeface="ＭＳ Ｐゴシック"/>
              </a:rPr>
              <a:t>5I25 </a:t>
            </a:r>
            <a:r>
              <a:rPr lang="ja-JP" sz="3200" b="0" u="none" strike="noStrike">
                <a:solidFill>
                  <a:schemeClr val="dk1"/>
                </a:solidFill>
                <a:effectLst/>
                <a:uFillTx/>
                <a:latin typeface="ＭＳ Ｐゴシック"/>
                <a:ea typeface="ＭＳ Ｐゴシック"/>
              </a:rPr>
              <a:t>萩 郁人</a:t>
            </a:r>
            <a:endParaRPr lang="en-US" sz="32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Aptos Display"/>
                <a:ea typeface="DejaVu Sans"/>
              </a:rPr>
              <a:t>背景</a:t>
            </a:r>
            <a:endParaRPr lang="en-US" sz="4400" b="0" u="none" strike="noStrike">
              <a:solidFill>
                <a:schemeClr val="dk1"/>
              </a:solidFill>
              <a:effectLst/>
              <a:uFillTx/>
              <a:latin typeface="Arial"/>
            </a:endParaRPr>
          </a:p>
        </p:txBody>
      </p:sp>
      <p:sp>
        <p:nvSpPr>
          <p:cNvPr id="102" name="PlaceHolder 2"/>
          <p:cNvSpPr>
            <a:spLocks noGrp="1"/>
          </p:cNvSpPr>
          <p:nvPr>
            <p:ph/>
          </p:nvPr>
        </p:nvSpPr>
        <p:spPr>
          <a:xfrm>
            <a:off x="838080" y="1825560"/>
            <a:ext cx="10514160" cy="4349880"/>
          </a:xfrm>
          <a:prstGeom prst="rect">
            <a:avLst/>
          </a:prstGeom>
          <a:noFill/>
          <a:ln w="0">
            <a:noFill/>
          </a:ln>
        </p:spPr>
        <p:txBody>
          <a:bodyPr vert="eaVert" lIns="45720" tIns="91440" rIns="45720" bIns="91440" anchor="t" anchorCtr="1">
            <a:noAutofit/>
          </a:bodyPr>
          <a:lstStyle/>
          <a:p>
            <a:pPr indent="0" defTabSz="914400">
              <a:lnSpc>
                <a:spcPct val="90000"/>
              </a:lnSpc>
              <a:spcBef>
                <a:spcPts val="1001"/>
              </a:spcBef>
              <a:buNone/>
              <a:tabLst>
                <a:tab pos="0" algn="l"/>
              </a:tabLst>
            </a:pPr>
            <a:r>
              <a:rPr lang="ja-JP" sz="2800" b="0" u="none" strike="noStrike">
                <a:solidFill>
                  <a:schemeClr val="dk1"/>
                </a:solidFill>
                <a:effectLst/>
                <a:uFillTx/>
                <a:latin typeface="Aptos"/>
                <a:ea typeface="DejaVu Sans"/>
              </a:rPr>
              <a:t>タイピングにおいてホームポジションに則った入力はタイピング速度の向上やタイプミスの減少などが期待できる。</a:t>
            </a:r>
            <a:endParaRPr lang="en-US" sz="2800" b="0" u="none" strike="noStrike">
              <a:solidFill>
                <a:schemeClr val="dk1"/>
              </a:solidFill>
              <a:effectLst/>
              <a:uFillTx/>
              <a:latin typeface="Arial"/>
            </a:endParaRPr>
          </a:p>
          <a:p>
            <a:pPr indent="0" defTabSz="914400">
              <a:lnSpc>
                <a:spcPct val="90000"/>
              </a:lnSpc>
              <a:spcBef>
                <a:spcPts val="1001"/>
              </a:spcBef>
              <a:buNone/>
              <a:tabLst>
                <a:tab pos="0" algn="l"/>
              </a:tabLst>
            </a:pPr>
            <a:r>
              <a:rPr lang="ja-JP" sz="2800" b="0" u="none" strike="noStrike">
                <a:solidFill>
                  <a:schemeClr val="dk1"/>
                </a:solidFill>
                <a:effectLst/>
                <a:uFillTx/>
                <a:latin typeface="Aptos"/>
                <a:ea typeface="DejaVu Sans"/>
              </a:rPr>
              <a:t>しかし、現在のタイピング練習ソフトでは入力の速度や正確さを測定するのみで、正しい入力方法かどうかは判定できない。</a:t>
            </a:r>
            <a:endParaRPr lang="en-US" sz="28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2800" b="0" u="none" strike="noStrike">
              <a:solidFill>
                <a:schemeClr val="dk1"/>
              </a:solidFill>
              <a:effectLst/>
              <a:uFillTx/>
              <a:latin typeface="Arial"/>
            </a:endParaRPr>
          </a:p>
          <a:p>
            <a:pPr indent="0" defTabSz="914400">
              <a:lnSpc>
                <a:spcPct val="90000"/>
              </a:lnSpc>
              <a:spcBef>
                <a:spcPts val="1001"/>
              </a:spcBef>
              <a:buNone/>
              <a:tabLst>
                <a:tab pos="0" algn="l"/>
              </a:tabLst>
            </a:pPr>
            <a:r>
              <a:rPr lang="en-US" sz="2800" b="0" u="none" strike="noStrike">
                <a:solidFill>
                  <a:schemeClr val="dk1"/>
                </a:solidFill>
                <a:effectLst/>
                <a:uFillTx/>
                <a:latin typeface="Aptos"/>
                <a:ea typeface="DejaVu Sans"/>
              </a:rPr>
              <a:t>→入力を行う手やキーボードの映像から正しい入力が行われているか判定するシステムを開発する。</a:t>
            </a:r>
            <a:endParaRPr lang="en-US" sz="28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2800" b="0" u="none" strike="noStrike">
              <a:solidFill>
                <a:schemeClr val="dk1"/>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PlaceHolder 1"/>
          <p:cNvSpPr>
            <a:spLocks noGrp="1"/>
          </p:cNvSpPr>
          <p:nvPr>
            <p:ph type="title"/>
          </p:nvPr>
        </p:nvSpPr>
        <p:spPr>
          <a:xfrm>
            <a:off x="838080" y="722520"/>
            <a:ext cx="10514160" cy="609120"/>
          </a:xfrm>
          <a:prstGeom prst="rect">
            <a:avLst/>
          </a:prstGeom>
          <a:noFill/>
          <a:ln w="0">
            <a:noFill/>
          </a:ln>
        </p:spPr>
        <p:txBody>
          <a:bodyPr lIns="0" tIns="0" rIns="0" bIns="0" anchor="ctr">
            <a:noAutofit/>
          </a:bodyPr>
          <a:lstStyle/>
          <a:p>
            <a:pPr indent="0" defTabSz="914400">
              <a:lnSpc>
                <a:spcPct val="90000"/>
              </a:lnSpc>
              <a:buNone/>
            </a:pPr>
            <a:r>
              <a:rPr lang="ja-JP" sz="4400" b="0" u="none" strike="noStrike">
                <a:solidFill>
                  <a:schemeClr val="dk1"/>
                </a:solidFill>
                <a:effectLst/>
                <a:uFillTx/>
                <a:latin typeface="Arial"/>
                <a:ea typeface="DejaVu Sans"/>
              </a:rPr>
              <a:t>システム概要</a:t>
            </a:r>
            <a:endParaRPr lang="en-US" sz="4400" b="0" u="none" strike="noStrike">
              <a:solidFill>
                <a:schemeClr val="dk1"/>
              </a:solidFill>
              <a:effectLst/>
              <a:uFillTx/>
              <a:latin typeface="Arial"/>
            </a:endParaRPr>
          </a:p>
        </p:txBody>
      </p:sp>
      <p:pic>
        <p:nvPicPr>
          <p:cNvPr id="104" name="コンテンツ プレースホルダー 4" descr="テーブル が含まれている画像&#10;&#10;AI 生成コンテンツは誤りを含む可能性があります。"/>
          <p:cNvPicPr/>
          <p:nvPr/>
        </p:nvPicPr>
        <p:blipFill>
          <a:blip r:embed="rId3"/>
          <a:stretch/>
        </p:blipFill>
        <p:spPr>
          <a:xfrm>
            <a:off x="5068080" y="416160"/>
            <a:ext cx="5728320" cy="3646800"/>
          </a:xfrm>
          <a:prstGeom prst="rect">
            <a:avLst/>
          </a:prstGeom>
          <a:noFill/>
          <a:ln w="0">
            <a:noFill/>
          </a:ln>
        </p:spPr>
      </p:pic>
      <p:sp>
        <p:nvSpPr>
          <p:cNvPr id="105" name="テキスト ボックス 6"/>
          <p:cNvSpPr/>
          <p:nvPr/>
        </p:nvSpPr>
        <p:spPr>
          <a:xfrm>
            <a:off x="838080" y="4533120"/>
            <a:ext cx="11087640" cy="155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200" b="0" u="none" strike="noStrike">
                <a:solidFill>
                  <a:schemeClr val="dk1"/>
                </a:solidFill>
                <a:effectLst/>
                <a:uFillTx/>
                <a:latin typeface="Arial"/>
                <a:ea typeface="DejaVu Sans"/>
              </a:rPr>
              <a:t>①</a:t>
            </a:r>
            <a:r>
              <a:rPr lang="ja-JP" sz="3200" b="0" u="sng" strike="noStrike">
                <a:solidFill>
                  <a:schemeClr val="dk1"/>
                </a:solidFill>
                <a:effectLst/>
                <a:uFillTx/>
                <a:latin typeface="Arial"/>
                <a:ea typeface="DejaVu Sans"/>
              </a:rPr>
              <a:t>カメラの映像から指先の座標を推定（担当）</a:t>
            </a:r>
            <a:endParaRPr lang="en-US" sz="3200" b="0" u="none" strike="noStrike">
              <a:solidFill>
                <a:srgbClr val="000000"/>
              </a:solidFill>
              <a:effectLst/>
              <a:uFillTx/>
              <a:latin typeface="Arial"/>
            </a:endParaRPr>
          </a:p>
          <a:p>
            <a:pPr defTabSz="914400">
              <a:lnSpc>
                <a:spcPct val="100000"/>
              </a:lnSpc>
            </a:pPr>
            <a:r>
              <a:rPr lang="en-US" sz="3200" b="0" u="none" strike="noStrike">
                <a:solidFill>
                  <a:schemeClr val="dk1"/>
                </a:solidFill>
                <a:effectLst/>
                <a:uFillTx/>
                <a:latin typeface="Arial"/>
                <a:ea typeface="DejaVu Sans"/>
              </a:rPr>
              <a:t>②指先の座標をキーボード基準の座標に変換</a:t>
            </a:r>
            <a:endParaRPr lang="en-US" sz="3200" b="0" u="none" strike="noStrike">
              <a:solidFill>
                <a:srgbClr val="000000"/>
              </a:solidFill>
              <a:effectLst/>
              <a:uFillTx/>
              <a:latin typeface="Arial"/>
            </a:endParaRPr>
          </a:p>
          <a:p>
            <a:pPr defTabSz="914400">
              <a:lnSpc>
                <a:spcPct val="100000"/>
              </a:lnSpc>
            </a:pPr>
            <a:r>
              <a:rPr lang="en-US" sz="3200" b="0" u="none" strike="noStrike">
                <a:solidFill>
                  <a:schemeClr val="dk1"/>
                </a:solidFill>
                <a:effectLst/>
                <a:uFillTx/>
                <a:latin typeface="Arial"/>
                <a:ea typeface="DejaVu Sans"/>
              </a:rPr>
              <a:t>③同一座標系にある指先座標とキー座標から入力を判定</a:t>
            </a:r>
            <a:endParaRPr lang="en-US" sz="3200" b="0" u="none" strike="noStrike">
              <a:solidFill>
                <a:srgbClr val="000000"/>
              </a:solidFill>
              <a:effectLst/>
              <a:uFillTx/>
              <a:latin typeface="Arial"/>
            </a:endParaRPr>
          </a:p>
        </p:txBody>
      </p:sp>
      <p:sp>
        <p:nvSpPr>
          <p:cNvPr id="106" name="テキスト ボックス 7"/>
          <p:cNvSpPr/>
          <p:nvPr/>
        </p:nvSpPr>
        <p:spPr>
          <a:xfrm>
            <a:off x="8957520" y="559800"/>
            <a:ext cx="545400" cy="578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3200" b="0" u="none" strike="noStrike">
                <a:solidFill>
                  <a:schemeClr val="dk1"/>
                </a:solidFill>
                <a:effectLst/>
                <a:uFillTx/>
                <a:latin typeface="Arial"/>
                <a:ea typeface="DejaVu Sans"/>
              </a:rPr>
              <a:t>①</a:t>
            </a:r>
            <a:endParaRPr lang="en-US" sz="3200" b="0" u="none" strike="noStrike">
              <a:solidFill>
                <a:srgbClr val="000000"/>
              </a:solidFill>
              <a:effectLst/>
              <a:uFillTx/>
              <a:latin typeface="Arial"/>
            </a:endParaRPr>
          </a:p>
        </p:txBody>
      </p:sp>
      <p:sp>
        <p:nvSpPr>
          <p:cNvPr id="107" name="テキスト ボックス 9"/>
          <p:cNvSpPr/>
          <p:nvPr/>
        </p:nvSpPr>
        <p:spPr>
          <a:xfrm>
            <a:off x="4511880" y="3421080"/>
            <a:ext cx="479520" cy="578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200" b="0" u="none" strike="noStrike">
                <a:solidFill>
                  <a:schemeClr val="dk1"/>
                </a:solidFill>
                <a:effectLst/>
                <a:uFillTx/>
                <a:latin typeface="Arial"/>
                <a:ea typeface="DejaVu Sans"/>
              </a:rPr>
              <a:t>②</a:t>
            </a:r>
            <a:endParaRPr lang="en-US" sz="32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US" sz="4400" b="0" u="none" strike="noStrike">
                <a:solidFill>
                  <a:schemeClr val="dk1"/>
                </a:solidFill>
                <a:effectLst/>
                <a:uFillTx/>
                <a:latin typeface="ＭＳ Ｐゴシック"/>
                <a:ea typeface="ＭＳ Ｐゴシック"/>
              </a:rPr>
              <a:t> MediaPipe Hand Landmarker</a:t>
            </a:r>
            <a:r>
              <a:rPr lang="ja-JP" sz="4400" b="0" u="none" strike="noStrike">
                <a:solidFill>
                  <a:schemeClr val="dk1"/>
                </a:solidFill>
                <a:effectLst/>
                <a:uFillTx/>
                <a:latin typeface="ＭＳ Ｐゴシック"/>
                <a:ea typeface="ＭＳ Ｐゴシック"/>
              </a:rPr>
              <a:t>について</a:t>
            </a:r>
            <a:endParaRPr lang="en-US" sz="4400" b="0" u="none" strike="noStrike">
              <a:solidFill>
                <a:schemeClr val="dk1"/>
              </a:solidFill>
              <a:effectLst/>
              <a:uFillTx/>
              <a:latin typeface="Arial"/>
            </a:endParaRPr>
          </a:p>
        </p:txBody>
      </p:sp>
      <p:sp>
        <p:nvSpPr>
          <p:cNvPr id="109" name="PlaceHolder 2"/>
          <p:cNvSpPr>
            <a:spLocks noGrp="1"/>
          </p:cNvSpPr>
          <p:nvPr>
            <p:ph/>
          </p:nvPr>
        </p:nvSpPr>
        <p:spPr>
          <a:xfrm>
            <a:off x="838080" y="169020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ＭＳ Ｐゴシック"/>
                <a:ea typeface="ＭＳ Ｐゴシック"/>
              </a:rPr>
              <a:t>MediaPipe</a:t>
            </a:r>
            <a:r>
              <a:rPr lang="ja-JP" sz="3200" b="0" u="none" strike="noStrike">
                <a:solidFill>
                  <a:schemeClr val="dk1"/>
                </a:solidFill>
                <a:effectLst/>
                <a:uFillTx/>
                <a:latin typeface="ＭＳ Ｐゴシック"/>
                <a:ea typeface="ＭＳ Ｐゴシック"/>
              </a:rPr>
              <a:t>とは、</a:t>
            </a:r>
            <a:r>
              <a:rPr lang="en-US" sz="3200" b="0" u="none" strike="noStrike">
                <a:solidFill>
                  <a:schemeClr val="dk1"/>
                </a:solidFill>
                <a:effectLst/>
                <a:uFillTx/>
                <a:latin typeface="ＭＳ Ｐゴシック"/>
                <a:ea typeface="ＭＳ Ｐゴシック"/>
              </a:rPr>
              <a:t>Google</a:t>
            </a:r>
            <a:r>
              <a:rPr lang="ja-JP" sz="3200" b="0" u="none" strike="noStrike">
                <a:solidFill>
                  <a:schemeClr val="dk1"/>
                </a:solidFill>
                <a:effectLst/>
                <a:uFillTx/>
                <a:latin typeface="ＭＳ Ｐゴシック"/>
                <a:ea typeface="ＭＳ Ｐゴシック"/>
              </a:rPr>
              <a:t>社が提供するライブメディア処理のためのオープンソース機械学習ソリューション</a:t>
            </a:r>
            <a:endParaRPr lang="en-US" sz="3200" b="0" u="none" strike="noStrike">
              <a:solidFill>
                <a:schemeClr val="dk1"/>
              </a:solidFill>
              <a:effectLst/>
              <a:uFillTx/>
              <a:latin typeface="Arial"/>
            </a:endParaRPr>
          </a:p>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ＭＳ Ｐゴシック"/>
                <a:ea typeface="ＭＳ Ｐゴシック"/>
              </a:rPr>
              <a:t>Hand Landmarker</a:t>
            </a:r>
            <a:r>
              <a:rPr lang="ja-JP" sz="3200" b="0" u="none" strike="noStrike">
                <a:solidFill>
                  <a:schemeClr val="dk1"/>
                </a:solidFill>
                <a:effectLst/>
                <a:uFillTx/>
                <a:latin typeface="ＭＳ Ｐゴシック"/>
                <a:ea typeface="ＭＳ Ｐゴシック"/>
              </a:rPr>
              <a:t>は手の位置と</a:t>
            </a:r>
            <a:r>
              <a:rPr lang="en-US" sz="3200" b="0" u="none" strike="noStrike">
                <a:solidFill>
                  <a:schemeClr val="dk1"/>
                </a:solidFill>
                <a:effectLst/>
                <a:uFillTx/>
                <a:latin typeface="ＭＳ Ｐゴシック"/>
                <a:ea typeface="ＭＳ Ｐゴシック"/>
              </a:rPr>
              <a:t>21</a:t>
            </a:r>
            <a:r>
              <a:rPr lang="ja-JP" sz="3200" b="0" u="none" strike="noStrike">
                <a:solidFill>
                  <a:schemeClr val="dk1"/>
                </a:solidFill>
                <a:effectLst/>
                <a:uFillTx/>
                <a:latin typeface="ＭＳ Ｐゴシック"/>
                <a:ea typeface="ＭＳ Ｐゴシック"/>
              </a:rPr>
              <a:t>個のランドマーク</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関節点</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をリアルタイムに推定</a:t>
            </a:r>
            <a:endParaRPr lang="en-US" sz="3200" b="0" u="none" strike="noStrike">
              <a:solidFill>
                <a:schemeClr val="dk1"/>
              </a:solidFill>
              <a:effectLst/>
              <a:uFillTx/>
              <a:latin typeface="Arial"/>
            </a:endParaRPr>
          </a:p>
        </p:txBody>
      </p:sp>
      <p:pic>
        <p:nvPicPr>
          <p:cNvPr id="110" name="図 8" descr="歯ブラシを持っている手&#10;&#10;AI 生成コンテンツは誤りを含む可能性があります。"/>
          <p:cNvPicPr/>
          <p:nvPr/>
        </p:nvPicPr>
        <p:blipFill>
          <a:blip r:embed="rId3"/>
          <a:stretch/>
        </p:blipFill>
        <p:spPr>
          <a:xfrm>
            <a:off x="6863040" y="3735000"/>
            <a:ext cx="3980520" cy="2230560"/>
          </a:xfrm>
          <a:prstGeom prst="rect">
            <a:avLst/>
          </a:prstGeom>
          <a:noFill/>
          <a:ln w="0">
            <a:noFill/>
          </a:ln>
        </p:spPr>
      </p:pic>
      <p:pic>
        <p:nvPicPr>
          <p:cNvPr id="111" name="図 10" descr="グラフ&#10;&#10;AI 生成コンテンツは誤りを含む可能性があります。"/>
          <p:cNvPicPr/>
          <p:nvPr/>
        </p:nvPicPr>
        <p:blipFill>
          <a:blip r:embed="rId4"/>
          <a:stretch/>
        </p:blipFill>
        <p:spPr>
          <a:xfrm>
            <a:off x="3444480" y="3713040"/>
            <a:ext cx="2649960" cy="2274480"/>
          </a:xfrm>
          <a:prstGeom prst="rect">
            <a:avLst/>
          </a:prstGeom>
          <a:noFill/>
          <a:ln w="0">
            <a:noFill/>
          </a:ln>
        </p:spPr>
      </p:pic>
      <p:sp>
        <p:nvSpPr>
          <p:cNvPr id="112" name="テキスト ボックス 11"/>
          <p:cNvSpPr/>
          <p:nvPr/>
        </p:nvSpPr>
        <p:spPr>
          <a:xfrm>
            <a:off x="1260000" y="6206040"/>
            <a:ext cx="8818920" cy="41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ja-JP" sz="2100" b="0" u="none" strike="noStrike">
                <a:solidFill>
                  <a:schemeClr val="dk1"/>
                </a:solidFill>
                <a:effectLst/>
                <a:uFillTx/>
                <a:latin typeface="ＭＳ Ｐゴシック"/>
                <a:ea typeface="ＭＳ Ｐゴシック"/>
              </a:rPr>
              <a:t>画像出典：</a:t>
            </a:r>
            <a:r>
              <a:rPr lang="ja-JP" sz="2100" b="0" u="sng" strike="noStrike">
                <a:solidFill>
                  <a:schemeClr val="dk1"/>
                </a:solidFill>
                <a:effectLst/>
                <a:uFillTx/>
                <a:latin typeface="ＭＳ Ｐゴシック"/>
                <a:ea typeface="ＭＳ Ｐゴシック"/>
                <a:hlinkClick r:id="rId5"/>
              </a:rPr>
              <a:t>手のランドマーク検出ガイド </a:t>
            </a:r>
            <a:r>
              <a:rPr lang="en-US" sz="2100" b="0" u="sng" strike="noStrike">
                <a:solidFill>
                  <a:schemeClr val="dk1"/>
                </a:solidFill>
                <a:effectLst/>
                <a:uFillTx/>
                <a:latin typeface="ＭＳ Ｐゴシック"/>
                <a:ea typeface="ＭＳ Ｐゴシック"/>
                <a:hlinkClick r:id="rId5"/>
              </a:rPr>
              <a:t>| Google AI Edge</a:t>
            </a:r>
            <a:endParaRPr lang="en-US" sz="21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先行研究の課題</a:t>
            </a:r>
            <a:endParaRPr lang="en-US" sz="4400" b="0" u="none" strike="noStrike">
              <a:solidFill>
                <a:schemeClr val="dk1"/>
              </a:solidFill>
              <a:effectLst/>
              <a:uFillTx/>
              <a:latin typeface="Arial"/>
            </a:endParaRPr>
          </a:p>
        </p:txBody>
      </p:sp>
      <p:sp>
        <p:nvSpPr>
          <p:cNvPr id="114" name="PlaceHolder 2"/>
          <p:cNvSpPr>
            <a:spLocks noGrp="1"/>
          </p:cNvSpPr>
          <p:nvPr>
            <p:ph/>
          </p:nvPr>
        </p:nvSpPr>
        <p:spPr>
          <a:xfrm>
            <a:off x="824760" y="158904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a:t>
            </a:r>
            <a:r>
              <a:rPr lang="en-US" sz="3200" b="0" u="none" strike="noStrike">
                <a:solidFill>
                  <a:schemeClr val="dk1"/>
                </a:solidFill>
                <a:effectLst/>
                <a:uFillTx/>
                <a:latin typeface="ＭＳ Ｐゴシック"/>
                <a:ea typeface="ＭＳ Ｐゴシック"/>
              </a:rPr>
              <a:t>Media Pipe Hand Landmarker</a:t>
            </a:r>
            <a:r>
              <a:rPr lang="ja-JP" sz="3200" b="0" u="none" strike="noStrike">
                <a:solidFill>
                  <a:schemeClr val="dk1"/>
                </a:solidFill>
                <a:effectLst/>
                <a:uFillTx/>
                <a:latin typeface="ＭＳ Ｐゴシック"/>
                <a:ea typeface="ＭＳ Ｐゴシック"/>
              </a:rPr>
              <a:t>単体で三次元座標を推定</a:t>
            </a: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→Z</a:t>
            </a:r>
            <a:r>
              <a:rPr lang="ja-JP" sz="3200" b="0" u="none" strike="noStrike">
                <a:solidFill>
                  <a:schemeClr val="dk1"/>
                </a:solidFill>
                <a:effectLst/>
                <a:uFillTx/>
                <a:latin typeface="ＭＳ Ｐゴシック"/>
                <a:ea typeface="ＭＳ Ｐゴシック"/>
              </a:rPr>
              <a:t>軸</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奥行方向</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の精度が悪い</a:t>
            </a: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2800" b="0" u="none" strike="noStrike">
              <a:solidFill>
                <a:schemeClr val="dk1"/>
              </a:solidFill>
              <a:effectLst/>
              <a:uFillTx/>
              <a:latin typeface="Arial"/>
            </a:endParaRPr>
          </a:p>
        </p:txBody>
      </p:sp>
      <p:pic>
        <p:nvPicPr>
          <p:cNvPr id="115" name="図 66"/>
          <p:cNvPicPr/>
          <p:nvPr/>
        </p:nvPicPr>
        <p:blipFill>
          <a:blip r:embed="rId3"/>
          <a:stretch/>
        </p:blipFill>
        <p:spPr>
          <a:xfrm>
            <a:off x="1260000" y="2520000"/>
            <a:ext cx="3179160" cy="2383920"/>
          </a:xfrm>
          <a:prstGeom prst="rect">
            <a:avLst/>
          </a:prstGeom>
          <a:noFill/>
          <a:ln w="0">
            <a:noFill/>
          </a:ln>
        </p:spPr>
      </p:pic>
      <p:sp>
        <p:nvSpPr>
          <p:cNvPr id="116" name="矢印: 右 67"/>
          <p:cNvSpPr/>
          <p:nvPr/>
        </p:nvSpPr>
        <p:spPr>
          <a:xfrm>
            <a:off x="4860000" y="3600000"/>
            <a:ext cx="1618920" cy="35892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a typeface="DejaVu Sans"/>
            </a:endParaRPr>
          </a:p>
        </p:txBody>
      </p:sp>
      <p:pic>
        <p:nvPicPr>
          <p:cNvPr id="117" name="図 68"/>
          <p:cNvPicPr/>
          <p:nvPr/>
        </p:nvPicPr>
        <p:blipFill>
          <a:blip r:embed="rId4"/>
          <a:stretch/>
        </p:blipFill>
        <p:spPr>
          <a:xfrm>
            <a:off x="6660000" y="2160000"/>
            <a:ext cx="3958920" cy="2932560"/>
          </a:xfrm>
          <a:prstGeom prst="rect">
            <a:avLst/>
          </a:prstGeom>
          <a:noFill/>
          <a:ln w="0">
            <a:noFill/>
          </a:ln>
        </p:spPr>
      </p:pic>
      <p:sp>
        <p:nvSpPr>
          <p:cNvPr id="118" name="テキスト ボックス 69"/>
          <p:cNvSpPr/>
          <p:nvPr/>
        </p:nvSpPr>
        <p:spPr>
          <a:xfrm>
            <a:off x="2102040" y="5059440"/>
            <a:ext cx="1379880" cy="37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90000"/>
              </a:lnSpc>
              <a:spcBef>
                <a:spcPts val="1001"/>
              </a:spcBef>
              <a:tabLst>
                <a:tab pos="0" algn="l"/>
              </a:tabLst>
            </a:pPr>
            <a:r>
              <a:rPr lang="ja-JP" sz="2100" b="0" u="none" strike="noStrike">
                <a:solidFill>
                  <a:schemeClr val="dk1"/>
                </a:solidFill>
                <a:effectLst/>
                <a:uFillTx/>
                <a:latin typeface="ＭＳ Ｐゴシック"/>
                <a:ea typeface="ＭＳ Ｐゴシック"/>
              </a:rPr>
              <a:t>カメラ映像</a:t>
            </a:r>
            <a:endParaRPr lang="en-US" sz="2100" b="0" u="none" strike="noStrike">
              <a:solidFill>
                <a:srgbClr val="000000"/>
              </a:solidFill>
              <a:effectLst/>
              <a:uFillTx/>
              <a:latin typeface="Arial"/>
            </a:endParaRPr>
          </a:p>
        </p:txBody>
      </p:sp>
      <p:sp>
        <p:nvSpPr>
          <p:cNvPr id="119" name="テキスト ボックス 70"/>
          <p:cNvSpPr/>
          <p:nvPr/>
        </p:nvSpPr>
        <p:spPr>
          <a:xfrm>
            <a:off x="8272440" y="5093640"/>
            <a:ext cx="1379880" cy="41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100" b="0" u="none" strike="noStrike">
                <a:solidFill>
                  <a:schemeClr val="dk1"/>
                </a:solidFill>
                <a:effectLst/>
                <a:uFillTx/>
                <a:latin typeface="ＭＳ Ｐゴシック"/>
                <a:ea typeface="ＭＳ Ｐゴシック"/>
              </a:rPr>
              <a:t>ｘｚ座標</a:t>
            </a:r>
            <a:endParaRPr lang="en-US" sz="2100" b="0" u="none" strike="noStrike">
              <a:solidFill>
                <a:srgbClr val="000000"/>
              </a:solidFill>
              <a:effectLst/>
              <a:uFillTx/>
              <a:latin typeface="Arial"/>
            </a:endParaRPr>
          </a:p>
        </p:txBody>
      </p:sp>
      <p:sp>
        <p:nvSpPr>
          <p:cNvPr id="120" name="テキスト ボックス 71"/>
          <p:cNvSpPr/>
          <p:nvPr/>
        </p:nvSpPr>
        <p:spPr>
          <a:xfrm>
            <a:off x="3420000" y="6120000"/>
            <a:ext cx="11158920" cy="730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100" b="0" u="none" strike="noStrike">
                <a:solidFill>
                  <a:schemeClr val="dk1"/>
                </a:solidFill>
                <a:effectLst/>
                <a:uFillTx/>
                <a:latin typeface="ＭＳ Ｐゴシック"/>
                <a:ea typeface="ＭＳ Ｐゴシック"/>
              </a:rPr>
              <a:t>画像出典：岡崎優斗　”キーボード入力時の手形状検出と指先座標の推定”</a:t>
            </a:r>
            <a:endParaRPr lang="en-US" sz="2100" b="0" u="none" strike="noStrike">
              <a:solidFill>
                <a:srgbClr val="000000"/>
              </a:solidFill>
              <a:effectLst/>
              <a:uFillTx/>
              <a:latin typeface="Arial"/>
            </a:endParaRPr>
          </a:p>
          <a:p>
            <a:pPr defTabSz="914400">
              <a:lnSpc>
                <a:spcPct val="100000"/>
              </a:lnSpc>
            </a:pPr>
            <a:r>
              <a:rPr lang="en-US" sz="2100" b="0" u="none" strike="noStrike">
                <a:solidFill>
                  <a:schemeClr val="dk1"/>
                </a:solidFill>
                <a:effectLst/>
                <a:uFillTx/>
                <a:latin typeface="ＭＳ Ｐゴシック"/>
                <a:ea typeface="ＭＳ Ｐゴシック"/>
              </a:rPr>
              <a:t>	</a:t>
            </a:r>
            <a:r>
              <a:rPr lang="ja-JP" sz="2100" b="0" u="none" strike="noStrike">
                <a:solidFill>
                  <a:schemeClr val="dk1"/>
                </a:solidFill>
                <a:effectLst/>
                <a:uFillTx/>
                <a:latin typeface="ＭＳ Ｐゴシック"/>
                <a:ea typeface="ＭＳ Ｐゴシック"/>
              </a:rPr>
              <a:t>　鈴鹿工業高等専門学校卒業研究論文　</a:t>
            </a:r>
            <a:r>
              <a:rPr lang="en-US" sz="2100" b="0" u="none" strike="noStrike">
                <a:solidFill>
                  <a:schemeClr val="dk1"/>
                </a:solidFill>
                <a:effectLst/>
                <a:uFillTx/>
                <a:latin typeface="ＭＳ Ｐゴシック"/>
                <a:ea typeface="ＭＳ Ｐゴシック"/>
              </a:rPr>
              <a:t>2024 </a:t>
            </a:r>
            <a:r>
              <a:rPr lang="ja-JP" sz="2100" b="0" u="none" strike="noStrike">
                <a:solidFill>
                  <a:schemeClr val="dk1"/>
                </a:solidFill>
                <a:effectLst/>
                <a:uFillTx/>
                <a:latin typeface="ＭＳ Ｐゴシック"/>
                <a:ea typeface="ＭＳ Ｐゴシック"/>
              </a:rPr>
              <a:t>年度</a:t>
            </a:r>
            <a:endParaRPr lang="en-US" sz="21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目的</a:t>
            </a:r>
            <a:endParaRPr lang="en-US" sz="4400" b="0" u="none" strike="noStrike">
              <a:solidFill>
                <a:schemeClr val="dk1"/>
              </a:solidFill>
              <a:effectLst/>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100000"/>
              </a:lnSpc>
              <a:spcBef>
                <a:spcPts val="1001"/>
              </a:spcBef>
              <a:buNone/>
              <a:tabLst>
                <a:tab pos="0" algn="l"/>
              </a:tabLst>
            </a:pPr>
            <a:r>
              <a:rPr lang="ja-JP" sz="3200" b="0" u="none" strike="noStrike">
                <a:solidFill>
                  <a:schemeClr val="dk1"/>
                </a:solidFill>
                <a:effectLst/>
                <a:uFillTx/>
                <a:latin typeface="Aptos"/>
                <a:ea typeface="DejaVu Sans"/>
              </a:rPr>
              <a:t>・入力を行う手やキーボードの映像から正しい入力が行われているか判定するシステムを開発する。</a:t>
            </a: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3200" b="0" u="none" strike="noStrike">
              <a:solidFill>
                <a:schemeClr val="dk1"/>
              </a:solidFill>
              <a:effectLst/>
              <a:uFillTx/>
              <a:latin typeface="Arial"/>
            </a:endParaRPr>
          </a:p>
          <a:p>
            <a:pPr marL="228600" indent="-228600" defTabSz="914400">
              <a:lnSpc>
                <a:spcPct val="90000"/>
              </a:lnSpc>
              <a:spcBef>
                <a:spcPts val="1001"/>
              </a:spcBef>
              <a:buClr>
                <a:srgbClr val="000000"/>
              </a:buClr>
              <a:buFont typeface="Arial"/>
              <a:buChar char="•"/>
              <a:tabLst>
                <a:tab pos="0" algn="l"/>
              </a:tabLst>
            </a:pPr>
            <a:r>
              <a:rPr lang="ja-JP" sz="3200" b="0" u="none" strike="noStrike">
                <a:solidFill>
                  <a:schemeClr val="dk1"/>
                </a:solidFill>
                <a:effectLst/>
                <a:uFillTx/>
                <a:latin typeface="ＭＳ Ｐゴシック"/>
                <a:ea typeface="ＭＳ Ｐゴシック"/>
              </a:rPr>
              <a:t>座標推定の精度改善</a:t>
            </a: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→両眼カメラによる三角測量を用いて三次元座標を推定し</a:t>
            </a: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精度を評価する。</a:t>
            </a:r>
            <a:endParaRPr lang="en-US" sz="3200" b="0" u="none" strike="noStrike">
              <a:solidFill>
                <a:schemeClr val="dk1"/>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座標推定概要</a:t>
            </a:r>
            <a:endParaRPr lang="en-US" sz="4400" b="0" u="none" strike="noStrike">
              <a:solidFill>
                <a:schemeClr val="dk1"/>
              </a:solidFill>
              <a:effectLst/>
              <a:uFillTx/>
              <a:latin typeface="Arial"/>
            </a:endParaRPr>
          </a:p>
        </p:txBody>
      </p:sp>
      <p:sp>
        <p:nvSpPr>
          <p:cNvPr id="124" name="PlaceHolder 2"/>
          <p:cNvSpPr>
            <a:spLocks noGrp="1"/>
          </p:cNvSpPr>
          <p:nvPr>
            <p:ph/>
          </p:nvPr>
        </p:nvSpPr>
        <p:spPr>
          <a:xfrm>
            <a:off x="690120" y="398880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①2</a:t>
            </a:r>
            <a:r>
              <a:rPr lang="ja-JP" sz="3200" b="0" u="none" strike="noStrike">
                <a:solidFill>
                  <a:schemeClr val="dk1"/>
                </a:solidFill>
                <a:effectLst/>
                <a:uFillTx/>
                <a:latin typeface="ＭＳ Ｐゴシック"/>
                <a:ea typeface="ＭＳ Ｐゴシック"/>
              </a:rPr>
              <a:t>台の</a:t>
            </a:r>
            <a:r>
              <a:rPr lang="en-US" sz="3200" b="0" u="none" strike="noStrike">
                <a:solidFill>
                  <a:schemeClr val="dk1"/>
                </a:solidFill>
                <a:effectLst/>
                <a:uFillTx/>
                <a:latin typeface="ＭＳ Ｐゴシック"/>
                <a:ea typeface="ＭＳ Ｐゴシック"/>
              </a:rPr>
              <a:t>Web</a:t>
            </a:r>
            <a:r>
              <a:rPr lang="ja-JP" sz="3200" b="0" u="none" strike="noStrike">
                <a:solidFill>
                  <a:schemeClr val="dk1"/>
                </a:solidFill>
                <a:effectLst/>
                <a:uFillTx/>
                <a:latin typeface="ＭＳ Ｐゴシック"/>
                <a:ea typeface="ＭＳ Ｐゴシック"/>
              </a:rPr>
              <a:t>カメラから映像を取得</a:t>
            </a: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②MediaPipe Hand Landmarker</a:t>
            </a:r>
            <a:r>
              <a:rPr lang="ja-JP" sz="3200" b="0" u="none" strike="noStrike">
                <a:solidFill>
                  <a:schemeClr val="dk1"/>
                </a:solidFill>
                <a:effectLst/>
                <a:uFillTx/>
                <a:latin typeface="ＭＳ Ｐゴシック"/>
                <a:ea typeface="ＭＳ Ｐゴシック"/>
              </a:rPr>
              <a:t>によりそれぞれの手の二次元座標を推定</a:t>
            </a:r>
            <a:endParaRPr lang="en-US" sz="3200" b="0" u="none" strike="noStrike">
              <a:solidFill>
                <a:schemeClr val="dk1"/>
              </a:solidFill>
              <a:effectLst/>
              <a:uFillTx/>
              <a:latin typeface="Arial"/>
            </a:endParaRPr>
          </a:p>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③OpenCV</a:t>
            </a:r>
            <a:r>
              <a:rPr lang="ja-JP" sz="3200" b="0" u="none" strike="noStrike">
                <a:solidFill>
                  <a:schemeClr val="dk1"/>
                </a:solidFill>
                <a:effectLst/>
                <a:uFillTx/>
                <a:latin typeface="ＭＳ Ｐゴシック"/>
                <a:ea typeface="ＭＳ Ｐゴシック"/>
              </a:rPr>
              <a:t>の関数を用いて三角測量を行い三次元座標を推定する</a:t>
            </a:r>
            <a:endParaRPr lang="en-US" sz="3200" b="0" u="none" strike="noStrike">
              <a:solidFill>
                <a:schemeClr val="dk1"/>
              </a:solidFill>
              <a:effectLst/>
              <a:uFillTx/>
              <a:latin typeface="Arial"/>
            </a:endParaRPr>
          </a:p>
        </p:txBody>
      </p:sp>
      <p:pic>
        <p:nvPicPr>
          <p:cNvPr id="125" name="図 16" descr="ダイアグラム&#10;&#10;AI 生成コンテンツは誤りを含む可能性があります。"/>
          <p:cNvPicPr/>
          <p:nvPr/>
        </p:nvPicPr>
        <p:blipFill>
          <a:blip r:embed="rId3"/>
          <a:stretch/>
        </p:blipFill>
        <p:spPr>
          <a:xfrm>
            <a:off x="3554640" y="1551960"/>
            <a:ext cx="4785120" cy="2240280"/>
          </a:xfrm>
          <a:prstGeom prst="rect">
            <a:avLst/>
          </a:prstGeom>
          <a:noFill/>
          <a:ln w="0">
            <a:noFill/>
          </a:ln>
        </p:spPr>
      </p:pic>
      <p:sp>
        <p:nvSpPr>
          <p:cNvPr id="126" name="正方形/長方形 17"/>
          <p:cNvSpPr/>
          <p:nvPr/>
        </p:nvSpPr>
        <p:spPr>
          <a:xfrm>
            <a:off x="3613320" y="1451520"/>
            <a:ext cx="4963680" cy="2438640"/>
          </a:xfrm>
          <a:prstGeom prst="rect">
            <a:avLst/>
          </a:prstGeom>
          <a:noFill/>
          <a:ln w="936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chemeClr val="dk1"/>
              </a:solidFill>
              <a:effectLst/>
              <a:uFillTx/>
              <a:latin typeface="Aptos"/>
              <a:ea typeface="DejaVu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キャリブレーション</a:t>
            </a:r>
            <a:endParaRPr lang="en-US" sz="4400" b="0" u="none" strike="noStrike">
              <a:solidFill>
                <a:schemeClr val="dk1"/>
              </a:solidFill>
              <a:effectLst/>
              <a:uFillTx/>
              <a:latin typeface="Arial"/>
            </a:endParaRPr>
          </a:p>
        </p:txBody>
      </p:sp>
      <p:pic>
        <p:nvPicPr>
          <p:cNvPr id="128" name="図 97"/>
          <p:cNvPicPr/>
          <p:nvPr/>
        </p:nvPicPr>
        <p:blipFill>
          <a:blip r:embed="rId3"/>
          <a:stretch/>
        </p:blipFill>
        <p:spPr>
          <a:xfrm>
            <a:off x="6415200" y="3060000"/>
            <a:ext cx="4383720" cy="3238920"/>
          </a:xfrm>
          <a:prstGeom prst="rect">
            <a:avLst/>
          </a:prstGeom>
          <a:noFill/>
          <a:ln w="0">
            <a:noFill/>
          </a:ln>
        </p:spPr>
      </p:pic>
      <p:sp>
        <p:nvSpPr>
          <p:cNvPr id="129" name="テキスト ボックス 98"/>
          <p:cNvSpPr/>
          <p:nvPr/>
        </p:nvSpPr>
        <p:spPr>
          <a:xfrm>
            <a:off x="720360" y="4140000"/>
            <a:ext cx="5218920" cy="155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3200" b="0" u="none" strike="noStrike">
                <a:solidFill>
                  <a:schemeClr val="dk1"/>
                </a:solidFill>
                <a:effectLst/>
                <a:uFillTx/>
                <a:latin typeface="ＭＳ Ｐゴシック"/>
                <a:ea typeface="ＭＳ Ｐゴシック"/>
              </a:rPr>
              <a:t>チェスボードを様々な視点で撮影し、コーナー座標を検出</a:t>
            </a:r>
            <a:endParaRPr lang="en-US" sz="3200" b="0" u="none" strike="noStrike">
              <a:solidFill>
                <a:srgbClr val="000000"/>
              </a:solidFill>
              <a:effectLst/>
              <a:uFillTx/>
              <a:latin typeface="Arial"/>
            </a:endParaRPr>
          </a:p>
          <a:p>
            <a:pPr defTabSz="914400">
              <a:lnSpc>
                <a:spcPct val="100000"/>
              </a:lnSpc>
            </a:pPr>
            <a:r>
              <a:rPr lang="ja-JP" sz="3200" b="0" u="none" strike="noStrike">
                <a:solidFill>
                  <a:schemeClr val="dk1"/>
                </a:solidFill>
                <a:effectLst/>
                <a:uFillTx/>
                <a:latin typeface="ＭＳ Ｐゴシック"/>
                <a:ea typeface="ＭＳ Ｐゴシック"/>
              </a:rPr>
              <a:t>キャリブレーションに用いる</a:t>
            </a:r>
            <a:endParaRPr lang="en-US" sz="3200" b="0" u="none" strike="noStrike">
              <a:solidFill>
                <a:srgbClr val="000000"/>
              </a:solidFill>
              <a:effectLst/>
              <a:uFillTx/>
              <a:latin typeface="Arial"/>
            </a:endParaRPr>
          </a:p>
        </p:txBody>
      </p:sp>
      <p:sp>
        <p:nvSpPr>
          <p:cNvPr id="130" name="正方形/長方形 118"/>
          <p:cNvSpPr/>
          <p:nvPr/>
        </p:nvSpPr>
        <p:spPr>
          <a:xfrm>
            <a:off x="349920" y="1673640"/>
            <a:ext cx="12011400" cy="155376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3200" b="0" u="none" strike="noStrike">
                <a:solidFill>
                  <a:schemeClr val="dk1"/>
                </a:solidFill>
                <a:effectLst/>
                <a:uFillTx/>
                <a:latin typeface="ＭＳ Ｐゴシック"/>
                <a:ea typeface="ＭＳ Ｐゴシック"/>
              </a:rPr>
              <a:t>・内部パラメータ</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レンズの歪み等の補正</a:t>
            </a:r>
            <a:r>
              <a:rPr lang="en-US" sz="3200" b="0" u="none" strike="noStrike">
                <a:solidFill>
                  <a:schemeClr val="dk1"/>
                </a:solidFill>
                <a:effectLst/>
                <a:uFillTx/>
                <a:latin typeface="ＭＳ Ｐゴシック"/>
                <a:ea typeface="ＭＳ Ｐゴシック"/>
              </a:rPr>
              <a:t>) → </a:t>
            </a:r>
            <a:r>
              <a:rPr lang="ja-JP" sz="3200" b="0" u="none" strike="noStrike">
                <a:solidFill>
                  <a:schemeClr val="dk1"/>
                </a:solidFill>
                <a:effectLst/>
                <a:uFillTx/>
                <a:latin typeface="ＭＳ Ｐゴシック"/>
                <a:ea typeface="ＭＳ Ｐゴシック"/>
              </a:rPr>
              <a:t>カメラキャリブレーション</a:t>
            </a:r>
            <a:endParaRPr lang="en-US" sz="3200" b="0" u="none" strike="noStrike">
              <a:solidFill>
                <a:srgbClr val="000000"/>
              </a:solidFill>
              <a:effectLst/>
              <a:uFillTx/>
              <a:latin typeface="Arial"/>
            </a:endParaRPr>
          </a:p>
          <a:p>
            <a:pPr defTabSz="914400">
              <a:lnSpc>
                <a:spcPct val="100000"/>
              </a:lnSpc>
            </a:pPr>
            <a:r>
              <a:rPr lang="ja-JP" sz="3200" b="0" u="none" strike="noStrike">
                <a:solidFill>
                  <a:schemeClr val="dk1"/>
                </a:solidFill>
                <a:effectLst/>
                <a:uFillTx/>
                <a:latin typeface="ＭＳ Ｐゴシック"/>
                <a:ea typeface="ＭＳ Ｐゴシック"/>
              </a:rPr>
              <a:t>・外部パラメータ</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カメラ間の位置関係</a:t>
            </a:r>
            <a:r>
              <a:rPr lang="en-US" sz="3200" b="0" u="none" strike="noStrike">
                <a:solidFill>
                  <a:schemeClr val="dk1"/>
                </a:solidFill>
                <a:effectLst/>
                <a:uFillTx/>
                <a:latin typeface="ＭＳ Ｐゴシック"/>
                <a:ea typeface="ＭＳ Ｐゴシック"/>
              </a:rPr>
              <a:t>) → </a:t>
            </a:r>
            <a:r>
              <a:rPr lang="ja-JP" sz="3200" b="0" u="none" strike="noStrike">
                <a:solidFill>
                  <a:schemeClr val="dk1"/>
                </a:solidFill>
                <a:effectLst/>
                <a:uFillTx/>
                <a:latin typeface="ＭＳ Ｐゴシック"/>
                <a:ea typeface="ＭＳ Ｐゴシック"/>
              </a:rPr>
              <a:t>ステレオキャリブレーション</a:t>
            </a:r>
            <a:endParaRPr lang="en-US" sz="3200" b="0" u="none" strike="noStrike">
              <a:solidFill>
                <a:srgbClr val="000000"/>
              </a:solidFill>
              <a:effectLst/>
              <a:uFillTx/>
              <a:latin typeface="Arial"/>
            </a:endParaRPr>
          </a:p>
          <a:p>
            <a:pPr defTabSz="914400">
              <a:lnSpc>
                <a:spcPct val="100000"/>
              </a:lnSpc>
            </a:pPr>
            <a:r>
              <a:rPr lang="ja-JP" sz="3200" b="0" u="none" strike="noStrike">
                <a:solidFill>
                  <a:schemeClr val="dk1"/>
                </a:solidFill>
                <a:effectLst/>
                <a:uFillTx/>
                <a:latin typeface="ＭＳ Ｐゴシック"/>
                <a:ea typeface="ＭＳ Ｐゴシック"/>
              </a:rPr>
              <a:t>でそれぞれ計算　</a:t>
            </a:r>
            <a:endParaRPr lang="en-US" sz="3200" b="0" u="none" strike="noStrike">
              <a:solidFill>
                <a:srgbClr val="000000"/>
              </a:solidFill>
              <a:effectLst/>
              <a:uFillTx/>
              <a:latin typeface="Arial"/>
            </a:endParaRPr>
          </a:p>
        </p:txBody>
      </p:sp>
      <p:sp>
        <p:nvSpPr>
          <p:cNvPr id="131" name="正方形/長方形 119"/>
          <p:cNvSpPr/>
          <p:nvPr/>
        </p:nvSpPr>
        <p:spPr>
          <a:xfrm>
            <a:off x="540000" y="3461400"/>
            <a:ext cx="2747160" cy="578160"/>
          </a:xfrm>
          <a:prstGeom prst="rect">
            <a:avLst/>
          </a:prstGeom>
          <a:noFill/>
          <a:ln w="3600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3200" b="0" u="none" strike="noStrike">
                <a:solidFill>
                  <a:srgbClr val="000000"/>
                </a:solidFill>
                <a:effectLst/>
                <a:uFillTx/>
                <a:latin typeface="Arial"/>
                <a:ea typeface="DejaVu Sans"/>
              </a:rPr>
              <a:t>・</a:t>
            </a:r>
            <a:r>
              <a:rPr lang="en-US" sz="3200" b="0" u="none" strike="noStrike">
                <a:solidFill>
                  <a:srgbClr val="000000"/>
                </a:solidFill>
                <a:effectLst/>
                <a:uFillTx/>
                <a:latin typeface="Arial"/>
                <a:ea typeface="DejaVu Sans"/>
              </a:rPr>
              <a:t>Zhang</a:t>
            </a:r>
            <a:r>
              <a:rPr lang="ja-JP" sz="3200" b="0" u="none" strike="noStrike">
                <a:solidFill>
                  <a:srgbClr val="000000"/>
                </a:solidFill>
                <a:effectLst/>
                <a:uFillTx/>
                <a:latin typeface="Arial"/>
                <a:ea typeface="DejaVu Sans"/>
              </a:rPr>
              <a:t>の方法</a:t>
            </a:r>
            <a:endParaRPr lang="en-US" sz="32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射影行列</a:t>
            </a:r>
            <a:r>
              <a:rPr lang="en-US" sz="4400" b="0" u="none" strike="noStrike">
                <a:solidFill>
                  <a:schemeClr val="dk1"/>
                </a:solidFill>
                <a:effectLst/>
                <a:uFillTx/>
                <a:latin typeface="ＭＳ Ｐゴシック"/>
                <a:ea typeface="ＭＳ Ｐゴシック"/>
              </a:rPr>
              <a:t>P</a:t>
            </a:r>
            <a:endParaRPr lang="en-US" sz="4400" b="0" u="none" strike="noStrike">
              <a:solidFill>
                <a:schemeClr val="dk1"/>
              </a:solidFill>
              <a:effectLst/>
              <a:uFillTx/>
              <a:latin typeface="Arial"/>
            </a:endParaRPr>
          </a:p>
        </p:txBody>
      </p:sp>
      <p:sp>
        <p:nvSpPr>
          <p:cNvPr id="133" name="テキスト ボックス 87"/>
          <p:cNvSpPr/>
          <p:nvPr/>
        </p:nvSpPr>
        <p:spPr>
          <a:xfrm>
            <a:off x="1080000" y="3079800"/>
            <a:ext cx="2747520" cy="699480"/>
          </a:xfrm>
          <a:prstGeom prst="rect">
            <a:avLst/>
          </a:pr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
        <p:nvSpPr>
          <p:cNvPr id="134" name="テキスト ボックス 94"/>
          <p:cNvSpPr/>
          <p:nvPr/>
        </p:nvSpPr>
        <p:spPr>
          <a:xfrm>
            <a:off x="1080000" y="1620000"/>
            <a:ext cx="10618920" cy="1065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3200" b="0" u="none" strike="noStrike">
                <a:solidFill>
                  <a:schemeClr val="dk1"/>
                </a:solidFill>
                <a:effectLst/>
                <a:uFillTx/>
                <a:latin typeface="ＭＳ Ｐゴシック"/>
                <a:ea typeface="ＭＳ Ｐゴシック"/>
              </a:rPr>
              <a:t>・三次元座標系から画像座標系への変換</a:t>
            </a:r>
            <a:endParaRPr lang="en-US" sz="3200" b="0" u="none" strike="noStrike">
              <a:solidFill>
                <a:srgbClr val="000000"/>
              </a:solidFill>
              <a:effectLst/>
              <a:uFillTx/>
              <a:latin typeface="Arial"/>
            </a:endParaRPr>
          </a:p>
          <a:p>
            <a:pPr defTabSz="914400">
              <a:lnSpc>
                <a:spcPct val="100000"/>
              </a:lnSpc>
            </a:pPr>
            <a:r>
              <a:rPr lang="ja-JP" sz="3200" b="0" u="none" strike="noStrike">
                <a:solidFill>
                  <a:schemeClr val="dk1"/>
                </a:solidFill>
                <a:effectLst/>
                <a:uFillTx/>
                <a:latin typeface="ＭＳ Ｐゴシック"/>
                <a:ea typeface="ＭＳ Ｐゴシック"/>
              </a:rPr>
              <a:t>　次の式で表される。</a:t>
            </a:r>
            <a:endParaRPr lang="en-US" sz="3200" b="0" u="none" strike="noStrike">
              <a:solidFill>
                <a:srgbClr val="000000"/>
              </a:solidFill>
              <a:effectLst/>
              <a:uFillTx/>
              <a:latin typeface="Arial"/>
            </a:endParaRPr>
          </a:p>
        </p:txBody>
      </p:sp>
      <p:sp>
        <p:nvSpPr>
          <p:cNvPr id="135" name="フリーフォーム: 図形 123"/>
          <p:cNvSpPr/>
          <p:nvPr/>
        </p:nvSpPr>
        <p:spPr>
          <a:xfrm>
            <a:off x="6743520" y="4837320"/>
            <a:ext cx="358920" cy="1154520"/>
          </a:xfrm>
          <a:custGeom>
            <a:avLst/>
            <a:gdLst>
              <a:gd name="textAreaLeft" fmla="*/ 0 w 358920"/>
              <a:gd name="textAreaRight" fmla="*/ 129960 w 358920"/>
              <a:gd name="textAreaTop" fmla="*/ 29880 h 1154520"/>
              <a:gd name="textAreaBottom" fmla="*/ 1125360 h 1154520"/>
              <a:gd name="GluePoint1X" fmla="*/ 0 w 21600"/>
              <a:gd name="GluePoint1Y" fmla="*/ 0 h 21600"/>
              <a:gd name="GluePoint2X" fmla="*/ 0 w 21600"/>
              <a:gd name="GluePoint2Y" fmla="*/ 21600 h 21600"/>
              <a:gd name="GluePoint3X" fmla="*/ 21600 w 21600"/>
              <a:gd name="GluePoint3Y" fmla="*/ 10800 h 21600"/>
            </a:gdLst>
            <a:ahLst/>
            <a:cxnLst>
              <a:cxn ang="0">
                <a:pos x="GluePoint1X" y="GluePoint1Y"/>
              </a:cxn>
              <a:cxn ang="0">
                <a:pos x="GluePoint2X" y="GluePoint2Y"/>
              </a:cxn>
              <a:cxn ang="0">
                <a:pos x="GluePoint3X" y="GluePoint3Y"/>
              </a:cxn>
            </a:cxnLst>
            <a:rect l="textAreaLeft" t="textAreaTop" r="textAreaRight" b="textAreaBottom"/>
            <a:pathLst>
              <a:path w="21600" h="21600">
                <a:moveTo>
                  <a:pt x="0" y="0"/>
                </a:moveTo>
                <a:cubicBezTo>
                  <a:pt x="5400" y="0"/>
                  <a:pt x="10800" y="900"/>
                  <a:pt x="10800" y="1800"/>
                </a:cubicBezTo>
                <a:lnTo>
                  <a:pt x="10800" y="9000"/>
                </a:lnTo>
                <a:cubicBezTo>
                  <a:pt x="10800" y="9900"/>
                  <a:pt x="16200" y="10800"/>
                  <a:pt x="21600" y="10800"/>
                </a:cubicBezTo>
                <a:cubicBezTo>
                  <a:pt x="16200" y="10800"/>
                  <a:pt x="10800" y="11700"/>
                  <a:pt x="10800" y="12600"/>
                </a:cubicBezTo>
                <a:lnTo>
                  <a:pt x="10800" y="19800"/>
                </a:lnTo>
                <a:cubicBezTo>
                  <a:pt x="10800" y="20700"/>
                  <a:pt x="5400" y="21600"/>
                  <a:pt x="0" y="21600"/>
                </a:cubicBezTo>
              </a:path>
            </a:pathLst>
          </a:custGeom>
          <a:noFill/>
          <a:ln w="360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a typeface="DejaVu Sans"/>
            </a:endParaRPr>
          </a:p>
        </p:txBody>
      </p:sp>
      <p:sp>
        <p:nvSpPr>
          <p:cNvPr id="136" name="テキスト ボックス 1"/>
          <p:cNvSpPr/>
          <p:nvPr/>
        </p:nvSpPr>
        <p:spPr>
          <a:xfrm>
            <a:off x="7103160" y="4954680"/>
            <a:ext cx="10618920" cy="94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800" b="0" u="none" strike="noStrike">
                <a:solidFill>
                  <a:schemeClr val="dk1"/>
                </a:solidFill>
                <a:effectLst/>
                <a:uFillTx/>
                <a:latin typeface="ＭＳ Ｐゴシック"/>
                <a:ea typeface="ＭＳ Ｐゴシック"/>
              </a:rPr>
              <a:t>外部パラメータ</a:t>
            </a:r>
            <a:endParaRPr lang="en-US" sz="2800" b="0" u="none" strike="noStrike">
              <a:solidFill>
                <a:srgbClr val="000000"/>
              </a:solidFill>
              <a:effectLst/>
              <a:uFillTx/>
              <a:latin typeface="Arial"/>
            </a:endParaRPr>
          </a:p>
          <a:p>
            <a:pPr defTabSz="914400">
              <a:lnSpc>
                <a:spcPct val="100000"/>
              </a:lnSpc>
            </a:pPr>
            <a:r>
              <a:rPr lang="ja-JP" sz="2800" b="0" u="none" strike="noStrike">
                <a:solidFill>
                  <a:schemeClr val="dk1"/>
                </a:solidFill>
                <a:effectLst/>
                <a:uFillTx/>
                <a:latin typeface="ＭＳ Ｐゴシック"/>
                <a:ea typeface="ＭＳ Ｐゴシック"/>
              </a:rPr>
              <a:t>カメラ間の位置関係</a:t>
            </a:r>
            <a:endParaRPr lang="en-US" sz="2800" b="0" u="none" strike="noStrike">
              <a:solidFill>
                <a:srgbClr val="000000"/>
              </a:solidFill>
              <a:effectLst/>
              <a:uFillTx/>
              <a:latin typeface="Arial"/>
            </a:endParaRPr>
          </a:p>
        </p:txBody>
      </p:sp>
      <p:sp>
        <p:nvSpPr>
          <p:cNvPr id="137" name="正方形/長方形 125"/>
          <p:cNvSpPr/>
          <p:nvPr/>
        </p:nvSpPr>
        <p:spPr>
          <a:xfrm>
            <a:off x="1163880" y="4860000"/>
            <a:ext cx="4955040" cy="51732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2800" b="0" u="none" strike="noStrike">
                <a:solidFill>
                  <a:schemeClr val="dk1"/>
                </a:solidFill>
                <a:effectLst/>
                <a:uFillTx/>
                <a:latin typeface="ＭＳ Ｐゴシック"/>
                <a:ea typeface="ＭＳ Ｐゴシック"/>
              </a:rPr>
              <a:t>R: </a:t>
            </a:r>
            <a:r>
              <a:rPr lang="ja-JP" sz="2800" b="0" u="none" strike="noStrike">
                <a:solidFill>
                  <a:schemeClr val="dk1"/>
                </a:solidFill>
                <a:effectLst/>
                <a:uFillTx/>
                <a:latin typeface="ＭＳ Ｐゴシック"/>
                <a:ea typeface="ＭＳ Ｐゴシック"/>
              </a:rPr>
              <a:t>回転行列、カメラの姿勢</a:t>
            </a:r>
            <a:endParaRPr lang="en-US" sz="2800" b="0" u="none" strike="noStrike">
              <a:solidFill>
                <a:srgbClr val="000000"/>
              </a:solidFill>
              <a:effectLst/>
              <a:uFillTx/>
              <a:latin typeface="Arial"/>
            </a:endParaRPr>
          </a:p>
        </p:txBody>
      </p:sp>
      <p:sp>
        <p:nvSpPr>
          <p:cNvPr id="138" name="正方形/長方形 126"/>
          <p:cNvSpPr/>
          <p:nvPr/>
        </p:nvSpPr>
        <p:spPr>
          <a:xfrm>
            <a:off x="1260000" y="5400000"/>
            <a:ext cx="5059800" cy="51732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800" b="0" u="none" strike="noStrike">
                <a:solidFill>
                  <a:schemeClr val="dk1"/>
                </a:solidFill>
                <a:effectLst/>
                <a:uFillTx/>
                <a:latin typeface="ＭＳ Ｐゴシック"/>
                <a:ea typeface="ＭＳ Ｐゴシック"/>
              </a:rPr>
              <a:t>ｔ</a:t>
            </a:r>
            <a:r>
              <a:rPr lang="en-US" sz="2800" b="0" u="none" strike="noStrike">
                <a:solidFill>
                  <a:schemeClr val="dk1"/>
                </a:solidFill>
                <a:effectLst/>
                <a:uFillTx/>
                <a:latin typeface="ＭＳ Ｐゴシック"/>
                <a:ea typeface="ＭＳ Ｐゴシック"/>
              </a:rPr>
              <a:t>: </a:t>
            </a:r>
            <a:r>
              <a:rPr lang="ja-JP" sz="2800" b="0" u="none" strike="noStrike">
                <a:solidFill>
                  <a:schemeClr val="dk1"/>
                </a:solidFill>
                <a:effectLst/>
                <a:uFillTx/>
                <a:latin typeface="ＭＳ Ｐゴシック"/>
                <a:ea typeface="ＭＳ Ｐゴシック"/>
              </a:rPr>
              <a:t>並進ベクトル、カメラの位置   </a:t>
            </a:r>
            <a:endParaRPr lang="en-US" sz="2800" b="0" u="none" strike="noStrike">
              <a:solidFill>
                <a:srgbClr val="000000"/>
              </a:solidFill>
              <a:effectLst/>
              <a:uFillTx/>
              <a:latin typeface="Arial"/>
            </a:endParaRPr>
          </a:p>
        </p:txBody>
      </p:sp>
      <p:sp>
        <p:nvSpPr>
          <p:cNvPr id="139" name="正方形/長方形 127"/>
          <p:cNvSpPr/>
          <p:nvPr/>
        </p:nvSpPr>
        <p:spPr>
          <a:xfrm>
            <a:off x="1163880" y="4320000"/>
            <a:ext cx="6479280" cy="51732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2800" b="0" u="none" strike="noStrike">
                <a:solidFill>
                  <a:schemeClr val="dk1"/>
                </a:solidFill>
                <a:effectLst/>
                <a:uFillTx/>
                <a:latin typeface="ＭＳ Ｐゴシック"/>
                <a:ea typeface="ＭＳ Ｐゴシック"/>
              </a:rPr>
              <a:t>K: </a:t>
            </a:r>
            <a:r>
              <a:rPr lang="ja-JP" sz="2800" b="0" u="none" strike="noStrike">
                <a:solidFill>
                  <a:schemeClr val="dk1"/>
                </a:solidFill>
                <a:effectLst/>
                <a:uFillTx/>
                <a:latin typeface="ＭＳ Ｐゴシック"/>
                <a:ea typeface="ＭＳ Ｐゴシック"/>
              </a:rPr>
              <a:t>内部パラメータ、レンズの歪み等の補正</a:t>
            </a:r>
            <a:endParaRPr lang="en-US" sz="280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 name="PlaceHolder 1"/>
          <p:cNvSpPr>
            <a:spLocks noGrp="1"/>
          </p:cNvSpPr>
          <p:nvPr>
            <p:ph type="title"/>
          </p:nvPr>
        </p:nvSpPr>
        <p:spPr>
          <a:xfrm>
            <a:off x="824760" y="2948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三角測量</a:t>
            </a:r>
            <a:endParaRPr lang="en-US" sz="4400" b="0" u="none" strike="noStrike">
              <a:solidFill>
                <a:schemeClr val="dk1"/>
              </a:solidFill>
              <a:effectLst/>
              <a:uFillTx/>
              <a:latin typeface="Arial"/>
            </a:endParaRPr>
          </a:p>
        </p:txBody>
      </p:sp>
      <p:sp>
        <p:nvSpPr>
          <p:cNvPr id="141" name="PlaceHolder 2"/>
          <p:cNvSpPr>
            <a:spLocks noGrp="1"/>
          </p:cNvSpPr>
          <p:nvPr>
            <p:ph/>
          </p:nvPr>
        </p:nvSpPr>
        <p:spPr>
          <a:xfrm>
            <a:off x="900000" y="1800000"/>
            <a:ext cx="10514160" cy="4349880"/>
          </a:xfrm>
          <a:prstGeom prst="rect">
            <a:avLst/>
          </a:prstGeom>
          <a:noFill/>
          <a:ln w="0">
            <a:noFill/>
          </a:ln>
        </p:spPr>
        <p:txBody>
          <a:bodyPr lIns="91440" tIns="45720" rIns="91440" bIns="45720" anchor="t">
            <a:noAutofit/>
          </a:bodyPr>
          <a:lstStyle/>
          <a:p>
            <a:pPr marL="228600" indent="0" defTabSz="914400">
              <a:lnSpc>
                <a:spcPct val="90000"/>
              </a:lnSpc>
              <a:spcBef>
                <a:spcPts val="1191"/>
              </a:spcBef>
              <a:spcAft>
                <a:spcPts val="992"/>
              </a:spcAft>
              <a:buNone/>
              <a:tabLst>
                <a:tab pos="0" algn="l"/>
              </a:tabLst>
            </a:pPr>
            <a:r>
              <a:rPr lang="ja-JP" sz="2800" b="0" u="none" strike="noStrike">
                <a:solidFill>
                  <a:schemeClr val="dk1"/>
                </a:solidFill>
                <a:effectLst/>
                <a:uFillTx/>
                <a:latin typeface="ＭＳ Ｐゴシック"/>
                <a:ea typeface="ＭＳ Ｐゴシック"/>
              </a:rPr>
              <a:t>以下のような方程式を解き、既知である二次元座標</a:t>
            </a:r>
            <a:r>
              <a:rPr lang="en-US" sz="2800" b="0" u="none" strike="noStrike">
                <a:solidFill>
                  <a:schemeClr val="dk1"/>
                </a:solidFill>
                <a:effectLst/>
                <a:uFillTx/>
                <a:latin typeface="ＭＳ Ｐゴシック"/>
                <a:ea typeface="ＭＳ Ｐゴシック"/>
              </a:rPr>
              <a:t>x</a:t>
            </a:r>
            <a:r>
              <a:rPr lang="ja-JP" sz="2800" b="0" u="none" strike="noStrike">
                <a:solidFill>
                  <a:schemeClr val="dk1"/>
                </a:solidFill>
                <a:effectLst/>
                <a:uFillTx/>
                <a:latin typeface="ＭＳ Ｐゴシック"/>
                <a:ea typeface="ＭＳ Ｐゴシック"/>
              </a:rPr>
              <a:t>と射影行列</a:t>
            </a:r>
            <a:r>
              <a:rPr lang="en-US" sz="2800" b="0" u="none" strike="noStrike">
                <a:solidFill>
                  <a:schemeClr val="dk1"/>
                </a:solidFill>
                <a:effectLst/>
                <a:uFillTx/>
                <a:latin typeface="ＭＳ Ｐゴシック"/>
                <a:ea typeface="ＭＳ Ｐゴシック"/>
              </a:rPr>
              <a:t>P</a:t>
            </a:r>
            <a:r>
              <a:rPr lang="ja-JP" sz="2800" b="0" u="none" strike="noStrike">
                <a:solidFill>
                  <a:schemeClr val="dk1"/>
                </a:solidFill>
                <a:effectLst/>
                <a:uFillTx/>
                <a:latin typeface="ＭＳ Ｐゴシック"/>
                <a:ea typeface="ＭＳ Ｐゴシック"/>
              </a:rPr>
              <a:t>から三次元座標</a:t>
            </a:r>
            <a:r>
              <a:rPr lang="en-US" sz="2800" b="0" u="none" strike="noStrike">
                <a:solidFill>
                  <a:schemeClr val="dk1"/>
                </a:solidFill>
                <a:effectLst/>
                <a:uFillTx/>
                <a:latin typeface="ＭＳ Ｐゴシック"/>
                <a:ea typeface="ＭＳ Ｐゴシック"/>
              </a:rPr>
              <a:t>X</a:t>
            </a:r>
            <a:r>
              <a:rPr lang="ja-JP" sz="2800" b="0" u="none" strike="noStrike">
                <a:solidFill>
                  <a:schemeClr val="dk1"/>
                </a:solidFill>
                <a:effectLst/>
                <a:uFillTx/>
                <a:latin typeface="ＭＳ Ｐゴシック"/>
                <a:ea typeface="ＭＳ Ｐゴシック"/>
              </a:rPr>
              <a:t>を推定している。</a:t>
            </a:r>
            <a:endParaRPr lang="en-US" sz="2800" b="0" u="none" strike="noStrike">
              <a:solidFill>
                <a:schemeClr val="dk1"/>
              </a:solidFill>
              <a:effectLst/>
              <a:uFillTx/>
              <a:latin typeface="Arial"/>
            </a:endParaRPr>
          </a:p>
          <a:p>
            <a:pPr marL="228600" indent="0" defTabSz="914400">
              <a:lnSpc>
                <a:spcPct val="90000"/>
              </a:lnSpc>
              <a:spcBef>
                <a:spcPts val="1191"/>
              </a:spcBef>
              <a:spcAft>
                <a:spcPts val="992"/>
              </a:spcAft>
              <a:buNone/>
              <a:tabLst>
                <a:tab pos="0" algn="l"/>
              </a:tabLst>
            </a:pPr>
            <a:endParaRPr lang="en-US" sz="2800" b="0" u="none" strike="noStrike">
              <a:solidFill>
                <a:schemeClr val="dk1"/>
              </a:solidFill>
              <a:effectLst/>
              <a:uFillTx/>
              <a:latin typeface="Arial"/>
            </a:endParaRPr>
          </a:p>
        </p:txBody>
      </p:sp>
      <p:sp>
        <p:nvSpPr>
          <p:cNvPr id="142" name="正方形/長方形 130"/>
          <p:cNvSpPr/>
          <p:nvPr/>
        </p:nvSpPr>
        <p:spPr>
          <a:xfrm>
            <a:off x="5515560" y="3147840"/>
            <a:ext cx="1268640" cy="218880"/>
          </a:xfrm>
          <a:prstGeom prst="rect">
            <a:avLst/>
          </a:pr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a typeface="DejaVu Sans"/>
            </a:endParaRPr>
          </a:p>
        </p:txBody>
      </p:sp>
      <p:sp>
        <p:nvSpPr>
          <p:cNvPr id="143" name="テキスト ボックス 79"/>
          <p:cNvSpPr/>
          <p:nvPr/>
        </p:nvSpPr>
        <p:spPr>
          <a:xfrm>
            <a:off x="720000" y="3061800"/>
            <a:ext cx="5579640" cy="897840"/>
          </a:xfrm>
          <a:prstGeom prst="rect">
            <a:avLst/>
          </a:prstGeom>
          <a:blipFill rotWithShape="0">
            <a:blip r:embed="rId4"/>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
        <p:nvSpPr>
          <p:cNvPr id="144" name="テキスト ボックス 83"/>
          <p:cNvSpPr/>
          <p:nvPr/>
        </p:nvSpPr>
        <p:spPr>
          <a:xfrm>
            <a:off x="1183680" y="4267800"/>
            <a:ext cx="7364160" cy="951480"/>
          </a:xfrm>
          <a:prstGeom prst="rect">
            <a:avLst/>
          </a:prstGeom>
          <a:blipFill rotWithShape="0">
            <a:blip r:embed="rId5"/>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
        <p:nvSpPr>
          <p:cNvPr id="145" name="テキスト ボックス 84"/>
          <p:cNvSpPr/>
          <p:nvPr/>
        </p:nvSpPr>
        <p:spPr>
          <a:xfrm>
            <a:off x="1440000" y="4920480"/>
            <a:ext cx="7364160" cy="951480"/>
          </a:xfrm>
          <a:prstGeom prst="rect">
            <a:avLst/>
          </a:prstGeom>
          <a:blipFill rotWithShape="0">
            <a:blip r:embed="rId6"/>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
        <p:nvSpPr>
          <p:cNvPr id="146" name="テキスト ボックス 85"/>
          <p:cNvSpPr/>
          <p:nvPr/>
        </p:nvSpPr>
        <p:spPr>
          <a:xfrm>
            <a:off x="900000" y="5527800"/>
            <a:ext cx="7364160" cy="951480"/>
          </a:xfrm>
          <a:prstGeom prst="rect">
            <a:avLst/>
          </a:prstGeom>
          <a:blipFill rotWithShape="0">
            <a:blip r:embed="rId7"/>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研究の現状</a:t>
            </a:r>
            <a:endParaRPr lang="en-US" sz="4400" b="0" u="none" strike="noStrike">
              <a:solidFill>
                <a:schemeClr val="dk1"/>
              </a:solidFill>
              <a:effectLst/>
              <a:uFillTx/>
              <a:latin typeface="Arial"/>
            </a:endParaRPr>
          </a:p>
        </p:txBody>
      </p:sp>
      <p:sp>
        <p:nvSpPr>
          <p:cNvPr id="148" name="PlaceHolder 2"/>
          <p:cNvSpPr>
            <a:spLocks noGrp="1"/>
          </p:cNvSpPr>
          <p:nvPr>
            <p:ph/>
          </p:nvPr>
        </p:nvSpPr>
        <p:spPr>
          <a:xfrm>
            <a:off x="838080" y="158940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リアルタイムでの三次元座標推定は実装できた</a:t>
            </a:r>
            <a:endParaRPr lang="en-US" sz="2800" b="0" u="none" strike="noStrike">
              <a:solidFill>
                <a:schemeClr val="dk1"/>
              </a:solidFill>
              <a:effectLst/>
              <a:uFillTx/>
              <a:latin typeface="Arial"/>
            </a:endParaRPr>
          </a:p>
        </p:txBody>
      </p:sp>
      <p:pic>
        <p:nvPicPr>
          <p:cNvPr id="149" name="図 4" descr="グラフ&#10;&#10;AI 生成コンテンツは誤りを含む可能性があります。"/>
          <p:cNvPicPr/>
          <p:nvPr/>
        </p:nvPicPr>
        <p:blipFill>
          <a:blip r:embed="rId3"/>
          <a:stretch/>
        </p:blipFill>
        <p:spPr>
          <a:xfrm>
            <a:off x="7533360" y="2218320"/>
            <a:ext cx="3985920" cy="4260960"/>
          </a:xfrm>
          <a:prstGeom prst="rect">
            <a:avLst/>
          </a:prstGeom>
          <a:noFill/>
          <a:ln w="0">
            <a:noFill/>
          </a:ln>
        </p:spPr>
      </p:pic>
      <p:pic>
        <p:nvPicPr>
          <p:cNvPr id="150" name="図 6" descr="キーボードとマウス&#10;&#10;AI 生成コンテンツは誤りを含む可能性があります。"/>
          <p:cNvPicPr/>
          <p:nvPr/>
        </p:nvPicPr>
        <p:blipFill>
          <a:blip r:embed="rId4"/>
          <a:stretch/>
        </p:blipFill>
        <p:spPr>
          <a:xfrm>
            <a:off x="900000" y="2610000"/>
            <a:ext cx="4679280" cy="3509280"/>
          </a:xfrm>
          <a:prstGeom prst="rect">
            <a:avLst/>
          </a:prstGeom>
          <a:noFill/>
          <a:ln w="0">
            <a:noFill/>
          </a:ln>
        </p:spPr>
      </p:pic>
      <p:sp>
        <p:nvSpPr>
          <p:cNvPr id="151" name="矢印: 右 1"/>
          <p:cNvSpPr/>
          <p:nvPr/>
        </p:nvSpPr>
        <p:spPr>
          <a:xfrm>
            <a:off x="5760000" y="4140000"/>
            <a:ext cx="1618920" cy="35892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a typeface="DejaVu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研究の現状</a:t>
            </a:r>
            <a:endParaRPr lang="en-US" sz="4400" b="0" u="none" strike="noStrike">
              <a:solidFill>
                <a:schemeClr val="dk1"/>
              </a:solidFill>
              <a:effectLst/>
              <a:uFillTx/>
              <a:latin typeface="Arial"/>
            </a:endParaRPr>
          </a:p>
        </p:txBody>
      </p:sp>
      <p:sp>
        <p:nvSpPr>
          <p:cNvPr id="153" name="PlaceHolder 2"/>
          <p:cNvSpPr>
            <a:spLocks noGrp="1"/>
          </p:cNvSpPr>
          <p:nvPr>
            <p:ph/>
          </p:nvPr>
        </p:nvSpPr>
        <p:spPr>
          <a:xfrm>
            <a:off x="838080" y="158940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ＭＳ Ｐゴシック"/>
                <a:ea typeface="ＭＳ Ｐゴシック"/>
              </a:rPr>
              <a:t>Z</a:t>
            </a:r>
            <a:r>
              <a:rPr lang="ja-JP" sz="2800" b="0" u="none" strike="noStrike">
                <a:solidFill>
                  <a:schemeClr val="dk1"/>
                </a:solidFill>
                <a:effectLst/>
                <a:uFillTx/>
                <a:latin typeface="ＭＳ Ｐゴシック"/>
                <a:ea typeface="ＭＳ Ｐゴシック"/>
              </a:rPr>
              <a:t>軸誤差も改善</a:t>
            </a:r>
            <a:endParaRPr lang="en-US" sz="2800" b="0" u="none" strike="noStrike">
              <a:solidFill>
                <a:schemeClr val="dk1"/>
              </a:solidFill>
              <a:effectLst/>
              <a:uFillTx/>
              <a:latin typeface="Arial"/>
            </a:endParaRPr>
          </a:p>
        </p:txBody>
      </p:sp>
      <p:sp>
        <p:nvSpPr>
          <p:cNvPr id="154" name="矢印: 右 2"/>
          <p:cNvSpPr/>
          <p:nvPr/>
        </p:nvSpPr>
        <p:spPr>
          <a:xfrm>
            <a:off x="5760360" y="4140360"/>
            <a:ext cx="1618920" cy="35892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a typeface="DejaVu Sans"/>
            </a:endParaRPr>
          </a:p>
        </p:txBody>
      </p:sp>
      <p:pic>
        <p:nvPicPr>
          <p:cNvPr id="155" name="図 143"/>
          <p:cNvPicPr/>
          <p:nvPr/>
        </p:nvPicPr>
        <p:blipFill>
          <a:blip r:embed="rId3"/>
          <a:stretch/>
        </p:blipFill>
        <p:spPr>
          <a:xfrm>
            <a:off x="900000" y="2610000"/>
            <a:ext cx="4679280" cy="3509280"/>
          </a:xfrm>
          <a:prstGeom prst="rect">
            <a:avLst/>
          </a:prstGeom>
          <a:noFill/>
          <a:ln w="36000">
            <a:noFill/>
          </a:ln>
        </p:spPr>
      </p:pic>
      <p:pic>
        <p:nvPicPr>
          <p:cNvPr id="156" name="図 144"/>
          <p:cNvPicPr/>
          <p:nvPr/>
        </p:nvPicPr>
        <p:blipFill>
          <a:blip r:embed="rId4"/>
          <a:srcRect l="26169" r="15385" b="13173"/>
          <a:stretch/>
        </p:blipFill>
        <p:spPr>
          <a:xfrm>
            <a:off x="7740000" y="1800000"/>
            <a:ext cx="3959280" cy="4411440"/>
          </a:xfrm>
          <a:prstGeom prst="rect">
            <a:avLst/>
          </a:prstGeom>
          <a:noFill/>
          <a:ln w="3600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今後の方針・課題</a:t>
            </a:r>
            <a:endParaRPr lang="en-US" sz="4400" b="0" u="none" strike="noStrike">
              <a:solidFill>
                <a:schemeClr val="dk1"/>
              </a:solidFill>
              <a:effectLst/>
              <a:uFillTx/>
              <a:latin typeface="Arial"/>
            </a:endParaRPr>
          </a:p>
        </p:txBody>
      </p:sp>
      <p:sp>
        <p:nvSpPr>
          <p:cNvPr id="1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座標推定の遅延、誤差を評価</a:t>
            </a:r>
            <a:endParaRPr lang="en-US" sz="2800" b="0" u="none" strike="noStrike">
              <a:solidFill>
                <a:schemeClr val="dk1"/>
              </a:solidFill>
              <a:effectLst/>
              <a:uFillTx/>
              <a:latin typeface="Arial"/>
            </a:endParaRPr>
          </a:p>
          <a:p>
            <a:pPr indent="0" defTabSz="914400">
              <a:lnSpc>
                <a:spcPct val="90000"/>
              </a:lnSpc>
              <a:spcBef>
                <a:spcPts val="1001"/>
              </a:spcBef>
              <a:buNone/>
              <a:tabLst>
                <a:tab pos="0" algn="l"/>
              </a:tabLst>
            </a:pPr>
            <a:r>
              <a:rPr lang="en-US" sz="2800" b="0" u="none" strike="noStrike">
                <a:solidFill>
                  <a:schemeClr val="dk1"/>
                </a:solidFill>
                <a:effectLst/>
                <a:uFillTx/>
                <a:latin typeface="ＭＳ Ｐゴシック"/>
                <a:ea typeface="ＭＳ Ｐゴシック"/>
              </a:rPr>
              <a:t>→キャリブレーション手法、カメラ間隔の調整等</a:t>
            </a:r>
            <a:endParaRPr lang="en-US" sz="2800" b="0" u="none" strike="noStrike">
              <a:solidFill>
                <a:schemeClr val="dk1"/>
              </a:solidFill>
              <a:effectLst/>
              <a:uFillTx/>
              <a:latin typeface="Arial"/>
            </a:endParaRPr>
          </a:p>
          <a:p>
            <a:pPr indent="0" defTabSz="914400">
              <a:lnSpc>
                <a:spcPct val="90000"/>
              </a:lnSpc>
              <a:spcBef>
                <a:spcPts val="1001"/>
              </a:spcBef>
              <a:buNone/>
              <a:tabLst>
                <a:tab pos="0" algn="l"/>
              </a:tabLst>
            </a:pPr>
            <a:endParaRPr lang="en-US" sz="2800" b="0" u="none" strike="noStrike">
              <a:solidFill>
                <a:schemeClr val="dk1"/>
              </a:solidFill>
              <a:effectLst/>
              <a:uFillTx/>
              <a:latin typeface="Arial"/>
            </a:endParaRPr>
          </a:p>
          <a:p>
            <a:pPr indent="0" defTabSz="914400">
              <a:lnSpc>
                <a:spcPct val="90000"/>
              </a:lnSpc>
              <a:spcBef>
                <a:spcPts val="1001"/>
              </a:spcBef>
              <a:buNone/>
              <a:tabLst>
                <a:tab pos="0" algn="l"/>
              </a:tabLst>
            </a:pPr>
            <a:r>
              <a:rPr lang="ja-JP" sz="2800" b="0" u="none" strike="noStrike">
                <a:solidFill>
                  <a:schemeClr val="dk1"/>
                </a:solidFill>
                <a:effectLst/>
                <a:uFillTx/>
                <a:latin typeface="ＭＳ Ｐゴシック"/>
                <a:ea typeface="ＭＳ Ｐゴシック"/>
              </a:rPr>
              <a:t>・カメラを基準としたカメラ座標系からキーボードを基準とした世界座標系への変換</a:t>
            </a:r>
            <a:endParaRPr lang="en-US" sz="2800" b="0" u="none" strike="noStrike">
              <a:solidFill>
                <a:schemeClr val="dk1"/>
              </a:solidFill>
              <a:effectLst/>
              <a:uFillTx/>
              <a:latin typeface="Arial"/>
            </a:endParaRPr>
          </a:p>
          <a:p>
            <a:pPr indent="0" defTabSz="914400">
              <a:lnSpc>
                <a:spcPct val="90000"/>
              </a:lnSpc>
              <a:spcBef>
                <a:spcPts val="1001"/>
              </a:spcBef>
              <a:buNone/>
              <a:tabLst>
                <a:tab pos="0" algn="l"/>
              </a:tabLst>
            </a:pPr>
            <a:r>
              <a:rPr lang="en-US" sz="2800" b="0" u="none" strike="noStrike">
                <a:solidFill>
                  <a:schemeClr val="dk1"/>
                </a:solidFill>
                <a:effectLst/>
                <a:uFillTx/>
                <a:latin typeface="ＭＳ Ｐゴシック"/>
                <a:ea typeface="ＭＳ Ｐゴシック"/>
              </a:rPr>
              <a:t>→共同研究との統合</a:t>
            </a:r>
            <a:endParaRPr lang="en-US" sz="2800" b="0" u="none" strike="noStrike">
              <a:solidFill>
                <a:schemeClr val="dk1"/>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4.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5.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6.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7.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8.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9.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0.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1.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2.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3.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1268</TotalTime>
  <Application>Microsoft Office PowerPoint</Application>
  <PresentationFormat>ワイド画面</PresentationFormat>
  <Slides>13</Slides>
  <Notes>13</Notes>
  <HiddenSlides>0</HiddenSlides>
  <ScaleCrop>false</ScaleCrop>
  <HeadingPairs>
    <vt:vector size="4" baseType="variant">
      <vt:variant>
        <vt:lpstr>テーマ</vt:lpstr>
      </vt:variant>
      <vt:variant>
        <vt:i4>13</vt:i4>
      </vt:variant>
      <vt:variant>
        <vt:lpstr>スライド タイトル</vt:lpstr>
      </vt:variant>
      <vt:variant>
        <vt:i4>13</vt:i4>
      </vt:variant>
    </vt:vector>
  </HeadingPairs>
  <TitlesOfParts>
    <vt:vector size="26" baseType="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両眼カメラによるMediaPipe Hand Landmarkerタスクの精度向上</vt:lpstr>
      <vt:lpstr>背景</vt:lpstr>
      <vt:lpstr>システム概要</vt:lpstr>
      <vt:lpstr> MediaPipe Hand Landmarkerについて</vt:lpstr>
      <vt:lpstr>先行研究の課題</vt:lpstr>
      <vt:lpstr>目的</vt:lpstr>
      <vt:lpstr>座標推定概要</vt:lpstr>
      <vt:lpstr>キャリブレーション</vt:lpstr>
      <vt:lpstr>射影行列P</vt:lpstr>
      <vt:lpstr>三角測量</vt:lpstr>
      <vt:lpstr>研究の現状</vt:lpstr>
      <vt:lpstr>研究の現状</vt:lpstr>
      <vt:lpstr>今後の方針・課題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5I25 萩 郁人【鈴鹿】</dc:creator>
  <dc:description/>
  <cp:lastModifiedBy/>
  <cp:revision>46</cp:revision>
  <dcterms:created xsi:type="dcterms:W3CDTF">2025-10-07T12:17:36Z</dcterms:created>
  <dcterms:modified xsi:type="dcterms:W3CDTF">2025-10-10T01:03:46Z</dcterms:modified>
  <dc:language>ja-JP</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0x0101003F66480A09F15D42854004C53E6862D1</vt:lpwstr>
  </property>
  <property fmtid="{D5CDD505-2E9C-101B-9397-08002B2CF9AE}" pid="3" name="Notes">
    <vt:r8>13</vt:r8>
  </property>
  <property fmtid="{D5CDD505-2E9C-101B-9397-08002B2CF9AE}" pid="4" name="PresentationFormat">
    <vt:lpwstr>ワイド画面</vt:lpwstr>
  </property>
  <property fmtid="{D5CDD505-2E9C-101B-9397-08002B2CF9AE}" pid="5" name="Slides">
    <vt:r8>13</vt:r8>
  </property>
</Properties>
</file>