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4"/>
  </p:sldMasterIdLst>
  <p:notesMasterIdLst>
    <p:notesMasterId r:id="rId18"/>
  </p:notesMasterIdLst>
  <p:sldIdLst>
    <p:sldId id="267" r:id="rId5"/>
    <p:sldId id="257" r:id="rId6"/>
    <p:sldId id="262" r:id="rId7"/>
    <p:sldId id="266" r:id="rId8"/>
    <p:sldId id="258" r:id="rId9"/>
    <p:sldId id="270" r:id="rId10"/>
    <p:sldId id="264" r:id="rId11"/>
    <p:sldId id="263" r:id="rId12"/>
    <p:sldId id="265" r:id="rId13"/>
    <p:sldId id="269" r:id="rId14"/>
    <p:sldId id="271" r:id="rId15"/>
    <p:sldId id="259" r:id="rId16"/>
    <p:sldId id="26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7AA1EF-FDB7-5DC1-E65E-13F75C8CFDA7}" v="345" dt="2022-10-17T18:27:54.372"/>
    <p1510:client id="{21261929-ED00-800F-31FB-146F7D51D1AC}" v="585" dt="2022-10-19T06:37:01.999"/>
    <p1510:client id="{4422DD11-A245-2114-F37B-8640051182BA}" v="28" dt="2022-10-14T08:08:01.682"/>
    <p1510:client id="{4DBF0ACD-51EE-BB77-7B6F-D6257A960B23}" v="106" dt="2022-10-17T17:31:33.754"/>
    <p1510:client id="{965919F2-88FD-855B-935E-E0E2E596B9B0}" v="242" dt="2022-10-18T06:32:14.561"/>
    <p1510:client id="{9F6CC8F9-D417-6AB4-A005-CDA724FC36E4}" v="49" dt="2022-10-18T23:26:04.805"/>
    <p1510:client id="{C31E10AB-78A0-A65B-F065-2BEDCF825C68}" v="98" dt="2022-10-14T07:52:55.891"/>
    <p1510:client id="{DC2B3566-B6F9-8938-FFFF-F8331140BBE2}" v="1588" dt="2022-10-13T06:59:55.6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77668-333D-4B4E-8FC1-5CF93159707F}" type="datetimeFigureOut">
              <a:rPr kumimoji="1" lang="ja-JP" altLang="en-US" smtClean="0"/>
              <a:t>2022/10/18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BEE61B-1547-4599-BCD3-2E87EE1F6E8C}" type="slidenum">
              <a:rPr kumimoji="1" lang="ja-JP" altLang="en-US" smtClean="0"/>
              <a:t>‹#›</a:t>
            </a:fld>
            <a:endParaRPr kumimoji="1" lang="ja-JP" altLang="en-US"/>
          </a:p>
        </p:txBody>
      </p:sp>
    </p:spTree>
    <p:extLst>
      <p:ext uri="{BB962C8B-B14F-4D97-AF65-F5344CB8AC3E}">
        <p14:creationId xmlns:p14="http://schemas.microsoft.com/office/powerpoint/2010/main" val="416045465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r>
              <a:rPr lang="ja-JP" altLang="en-US">
                <a:latin typeface="Calibri"/>
                <a:ea typeface="游ゴシック"/>
                <a:cs typeface="Calibri"/>
              </a:rPr>
              <a:t>箕浦研究室5I32福岡樹人が「職人の手技の骨格モデル化に関する研究」について発表させていただきます。</a:t>
            </a:r>
            <a:endParaRPr lang="en-US" altLang="ja-JP">
              <a:latin typeface="Calibri"/>
              <a:cs typeface="Calibri"/>
            </a:endParaRPr>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1</a:t>
            </a:fld>
            <a:endParaRPr kumimoji="1" lang="ja-JP" altLang="en-US"/>
          </a:p>
        </p:txBody>
      </p:sp>
    </p:spTree>
    <p:extLst>
      <p:ext uri="{BB962C8B-B14F-4D97-AF65-F5344CB8AC3E}">
        <p14:creationId xmlns:p14="http://schemas.microsoft.com/office/powerpoint/2010/main" val="1633137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ea typeface="游ゴシック"/>
              </a:rPr>
              <a:t>画像参照：</a:t>
            </a:r>
            <a:r>
              <a:rPr lang="ja-JP"/>
              <a:t>https://tokyo2020-summer.themedia.jp/posts/4240518/</a:t>
            </a:r>
            <a:endParaRPr lang="en-US" altLang="ja-JP" sz="1200">
              <a:ea typeface="游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近年、伝統工芸が職人の高齢化や後継者不足といった理由により衰退していっているという事実がある。</a:t>
            </a:r>
            <a:endParaRPr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日本が誇る伝統工芸を消滅させてはいけないと思い、</a:t>
            </a:r>
            <a:endParaRPr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その技術の保存方法を考えた結果、伝統工芸の職人技の多くは手先を使った繊細なものが多いと感じ、</a:t>
            </a:r>
            <a:endParaRPr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ea typeface="游ゴシック"/>
              </a:rPr>
              <a:t>映像から手の形状推定等を行えればその技術</a:t>
            </a:r>
            <a:r>
              <a:rPr lang="ja-JP" altLang="en-US">
                <a:ea typeface="游ゴシック"/>
              </a:rPr>
              <a:t>の保存に貢献できるかも</a:t>
            </a:r>
            <a:r>
              <a:rPr lang="ja-JP" altLang="en-US" sz="1200">
                <a:ea typeface="游ゴシック"/>
              </a:rPr>
              <a:t>しれないと考えた。</a:t>
            </a:r>
            <a:endParaRPr kumimoji="1" lang="en-US" altLang="ja-JP" sz="2000" b="1">
              <a:latin typeface="游ゴシック"/>
              <a:ea typeface="游ゴシック"/>
            </a:endParaRPr>
          </a:p>
          <a:p>
            <a:endParaRPr kumimoji="1" lang="ja-JP" altLang="en-US"/>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2</a:t>
            </a:fld>
            <a:endParaRPr kumimoji="1" lang="ja-JP" altLang="en-US"/>
          </a:p>
        </p:txBody>
      </p:sp>
    </p:spTree>
    <p:extLst>
      <p:ext uri="{BB962C8B-B14F-4D97-AF65-F5344CB8AC3E}">
        <p14:creationId xmlns:p14="http://schemas.microsoft.com/office/powerpoint/2010/main" val="3163338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ea typeface="游ゴシック"/>
              </a:rPr>
              <a:t>画像参照：</a:t>
            </a:r>
            <a:r>
              <a:rPr lang="ja-JP"/>
              <a:t>https://www.buntobi.com/articles/entry/stationery/009049/</a:t>
            </a:r>
            <a:endParaRPr lang="en-US" altLang="ja-JP"/>
          </a:p>
          <a:p>
            <a:pPr>
              <a:defRPr/>
            </a:pPr>
            <a:r>
              <a:rPr lang="ja-JP" altLang="en-US" sz="1200">
                <a:ea typeface="游ゴシック"/>
              </a:rPr>
              <a:t>そこで</a:t>
            </a:r>
            <a:r>
              <a:rPr lang="ja-JP" altLang="en-US">
                <a:ea typeface="游ゴシック"/>
              </a:rPr>
              <a:t>、</a:t>
            </a:r>
            <a:r>
              <a:rPr lang="ja-JP">
                <a:ea typeface="游ゴシック"/>
              </a:rPr>
              <a:t>職人の手技をペン回しを例として、</a:t>
            </a:r>
            <a:endParaRPr lang="en-US" altLang="ja-JP">
              <a:ea typeface="游ゴシック"/>
            </a:endParaRPr>
          </a:p>
          <a:p>
            <a:pPr marL="0" marR="0" lvl="0" indent="0" algn="l" defTabSz="914400">
              <a:lnSpc>
                <a:spcPct val="100000"/>
              </a:lnSpc>
              <a:spcBef>
                <a:spcPts val="0"/>
              </a:spcBef>
              <a:spcAft>
                <a:spcPts val="0"/>
              </a:spcAft>
              <a:buClrTx/>
              <a:buSzTx/>
              <a:buFontTx/>
              <a:buNone/>
              <a:tabLst/>
              <a:defRPr/>
            </a:pPr>
            <a:r>
              <a:rPr lang="ja-JP">
                <a:ea typeface="游ゴシック"/>
              </a:rPr>
              <a:t>伝統工芸技術の保存の第一段階として本研究に取り組んだ。</a:t>
            </a:r>
            <a:endParaRPr lang="en-US" altLang="ja-JP">
              <a:latin typeface="游ゴシック"/>
              <a:ea typeface="游ゴシック"/>
            </a:endParaRPr>
          </a:p>
          <a:p>
            <a:endParaRPr kumimoji="1" lang="ja-JP" altLang="en-US"/>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3</a:t>
            </a:fld>
            <a:endParaRPr kumimoji="1" lang="ja-JP" altLang="en-US"/>
          </a:p>
        </p:txBody>
      </p:sp>
    </p:spTree>
    <p:extLst>
      <p:ext uri="{BB962C8B-B14F-4D97-AF65-F5344CB8AC3E}">
        <p14:creationId xmlns:p14="http://schemas.microsoft.com/office/powerpoint/2010/main" val="620221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r>
              <a:rPr lang="ja-JP" altLang="en-US" b="0" i="0">
                <a:solidFill>
                  <a:srgbClr val="202124"/>
                </a:solidFill>
                <a:effectLst/>
                <a:latin typeface="Roboto"/>
                <a:ea typeface="游ゴシック"/>
                <a:cs typeface="Roboto"/>
              </a:rPr>
              <a:t>手形状推定は</a:t>
            </a:r>
            <a:r>
              <a:rPr lang="en-US" altLang="ja-JP" b="0" i="0" err="1">
                <a:solidFill>
                  <a:srgbClr val="202124"/>
                </a:solidFill>
                <a:effectLst/>
                <a:latin typeface="Roboto"/>
                <a:ea typeface="游ゴシック"/>
                <a:cs typeface="Roboto"/>
              </a:rPr>
              <a:t>MediaPipe</a:t>
            </a:r>
            <a:r>
              <a:rPr lang="ja-JP" altLang="en-US" b="0" i="0">
                <a:solidFill>
                  <a:srgbClr val="202124"/>
                </a:solidFill>
                <a:effectLst/>
                <a:latin typeface="Roboto"/>
                <a:ea typeface="游ゴシック"/>
                <a:cs typeface="Roboto"/>
              </a:rPr>
              <a:t>の</a:t>
            </a:r>
            <a:r>
              <a:rPr lang="en-US" altLang="ja-JP" b="0" i="0">
                <a:solidFill>
                  <a:srgbClr val="202124"/>
                </a:solidFill>
                <a:effectLst/>
                <a:latin typeface="Roboto"/>
                <a:ea typeface="游ゴシック"/>
                <a:cs typeface="Roboto"/>
              </a:rPr>
              <a:t>Hands</a:t>
            </a:r>
          </a:p>
          <a:p>
            <a:r>
              <a:rPr lang="en-US" altLang="ja-JP">
                <a:solidFill>
                  <a:srgbClr val="202124"/>
                </a:solidFill>
                <a:latin typeface="Roboto"/>
                <a:ea typeface="游ゴシック"/>
                <a:cs typeface="Roboto"/>
              </a:rPr>
              <a:t>物体検出はYOLOv5</a:t>
            </a:r>
          </a:p>
          <a:p>
            <a:r>
              <a:rPr lang="en-US" altLang="ja-JP" err="1">
                <a:solidFill>
                  <a:srgbClr val="202124"/>
                </a:solidFill>
                <a:latin typeface="Roboto"/>
                <a:ea typeface="游ゴシック"/>
                <a:cs typeface="Roboto"/>
              </a:rPr>
              <a:t>機械学習に用いるための画像データ作成に、画像のアノテーションをlabelImg</a:t>
            </a:r>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4</a:t>
            </a:fld>
            <a:endParaRPr kumimoji="1" lang="ja-JP" altLang="en-US"/>
          </a:p>
        </p:txBody>
      </p:sp>
    </p:spTree>
    <p:extLst>
      <p:ext uri="{BB962C8B-B14F-4D97-AF65-F5344CB8AC3E}">
        <p14:creationId xmlns:p14="http://schemas.microsoft.com/office/powerpoint/2010/main" val="312584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a:effectLst/>
                <a:latin typeface="Courier New" panose="02070309020205020404" pitchFamily="49" charset="0"/>
              </a:rPr>
              <a:t>文章参照：</a:t>
            </a:r>
            <a:r>
              <a:rPr lang="en-US" altLang="ja-JP" sz="1200" b="0" i="0">
                <a:effectLst/>
                <a:latin typeface="Courier New" panose="02070309020205020404" pitchFamily="49" charset="0"/>
              </a:rPr>
              <a:t>https://b3s.be-s.co.jp/nocategory/4527/#:~:text=MediaPipe%E3%81%A8%E3%81%AF%EF%BC%9F,-MediaPipe%E3%81%A8%E3%81%AF&amp;text=Google%E7%A4%BE%E3%81%8C%E6%8F%90%E4%BE%9B%E3%81%99%E3%82%8B,%E7%B0%A1%E5%8D%98%E3%81%AB%E4%BD%9C%E6%88%90%E3%81%A7%E3%81%8D%E3%81%BE%E3%81%99%E3%80%82</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a:effectLst/>
                <a:latin typeface="Courier New" panose="02070309020205020404" pitchFamily="49" charset="0"/>
              </a:rPr>
              <a:t>画像参照：</a:t>
            </a:r>
            <a:r>
              <a:rPr lang="en-US" altLang="ja-JP" sz="1200" b="0" i="0">
                <a:effectLst/>
                <a:latin typeface="Courier New" panose="02070309020205020404" pitchFamily="49" charset="0"/>
              </a:rPr>
              <a:t>https://google.github.io/mediapipe/solutions/hands.html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b="0" i="0">
              <a:effectLst/>
              <a:latin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1" i="0" err="1">
                <a:solidFill>
                  <a:srgbClr val="EB5600"/>
                </a:solidFill>
                <a:effectLst/>
                <a:latin typeface="inherit"/>
                <a:ea typeface="BIZ UDPGothic"/>
              </a:rPr>
              <a:t>MediaPipe</a:t>
            </a:r>
            <a:r>
              <a:rPr lang="ja-JP" altLang="en-US" sz="1200" b="0" i="0">
                <a:solidFill>
                  <a:srgbClr val="212529"/>
                </a:solidFill>
                <a:effectLst/>
                <a:latin typeface="BIZ UDPGothic"/>
                <a:ea typeface="BIZ UDPGothic"/>
              </a:rPr>
              <a:t>とは、</a:t>
            </a:r>
            <a:br>
              <a:rPr lang="ja-JP" altLang="en-US" sz="1200">
                <a:cs typeface="+mn-lt"/>
              </a:rPr>
            </a:br>
            <a:r>
              <a:rPr lang="en-US" altLang="ja-JP" sz="1200" b="0" i="0">
                <a:solidFill>
                  <a:srgbClr val="212529"/>
                </a:solidFill>
                <a:effectLst/>
                <a:latin typeface="BIZ UDPGothic"/>
                <a:ea typeface="BIZ UDPGothic"/>
              </a:rPr>
              <a:t>Google</a:t>
            </a:r>
            <a:r>
              <a:rPr lang="ja-JP" altLang="en-US" sz="1200" b="0" i="0">
                <a:solidFill>
                  <a:srgbClr val="212529"/>
                </a:solidFill>
                <a:effectLst/>
                <a:latin typeface="BIZ UDPGothic"/>
                <a:ea typeface="BIZ UDPGothic"/>
              </a:rPr>
              <a:t>社が提供するライブストリーミングのためのオープンソースの</a:t>
            </a:r>
            <a:r>
              <a:rPr lang="en-US" altLang="ja-JP" sz="1200" b="0" i="0">
                <a:solidFill>
                  <a:srgbClr val="212529"/>
                </a:solidFill>
                <a:effectLst/>
                <a:latin typeface="BIZ UDPGothic"/>
                <a:ea typeface="BIZ UDPGothic"/>
              </a:rPr>
              <a:t>ML</a:t>
            </a:r>
            <a:r>
              <a:rPr lang="ja-JP" altLang="en-US" sz="1200" b="0" i="0">
                <a:solidFill>
                  <a:srgbClr val="212529"/>
                </a:solidFill>
                <a:effectLst/>
                <a:latin typeface="BIZ UDPGothic"/>
                <a:ea typeface="BIZ UDPGothic"/>
              </a:rPr>
              <a:t>ソリューションです。</a:t>
            </a:r>
            <a:br>
              <a:rPr lang="ja-JP" altLang="en-US" sz="1200">
                <a:cs typeface="+mn-lt"/>
              </a:rPr>
            </a:br>
            <a:r>
              <a:rPr lang="ja-JP" altLang="en-US">
                <a:solidFill>
                  <a:srgbClr val="212529"/>
                </a:solidFill>
                <a:ea typeface="BIZ UDPGothic"/>
              </a:rPr>
              <a:t>今回はこの中でもhandsという</a:t>
            </a:r>
            <a:endParaRPr lang="ja-JP" altLang="en-US" sz="1200">
              <a:solidFill>
                <a:srgbClr val="212529"/>
              </a:solidFill>
              <a:latin typeface="BIZ UDPGothic"/>
              <a:ea typeface="游ゴシック" panose="020B0400000000000000" pitchFamily="50"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5</a:t>
            </a:fld>
            <a:endParaRPr kumimoji="1" lang="ja-JP" altLang="en-US"/>
          </a:p>
        </p:txBody>
      </p:sp>
    </p:spTree>
    <p:extLst>
      <p:ext uri="{BB962C8B-B14F-4D97-AF65-F5344CB8AC3E}">
        <p14:creationId xmlns:p14="http://schemas.microsoft.com/office/powerpoint/2010/main" val="2614760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marL="0" marR="0" lvl="0" indent="0" algn="l" defTabSz="914400">
              <a:lnSpc>
                <a:spcPct val="100000"/>
              </a:lnSpc>
              <a:spcBef>
                <a:spcPts val="0"/>
              </a:spcBef>
              <a:spcAft>
                <a:spcPts val="0"/>
              </a:spcAft>
              <a:buNone/>
              <a:tabLst/>
              <a:defRPr/>
            </a:pPr>
            <a:r>
              <a:rPr lang="ja-JP" altLang="en-US"/>
              <a:t>手形状推定について実際に伝統工芸の画像を使って検出したものを貼ってせつめい</a:t>
            </a:r>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6</a:t>
            </a:fld>
            <a:endParaRPr kumimoji="1" lang="ja-JP" altLang="en-US"/>
          </a:p>
        </p:txBody>
      </p:sp>
    </p:spTree>
    <p:extLst>
      <p:ext uri="{BB962C8B-B14F-4D97-AF65-F5344CB8AC3E}">
        <p14:creationId xmlns:p14="http://schemas.microsoft.com/office/powerpoint/2010/main" val="3988396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a:defRPr/>
            </a:pPr>
            <a:r>
              <a:rPr lang="en-US" altLang="ja-JP" err="1">
                <a:latin typeface="Times New Roman"/>
                <a:ea typeface="游ゴシック"/>
                <a:cs typeface="Times New Roman"/>
              </a:rPr>
              <a:t>画像参照：</a:t>
            </a:r>
            <a:r>
              <a:rPr lang="en-US" err="1"/>
              <a:t>https</a:t>
            </a:r>
            <a:r>
              <a:rPr lang="en-US"/>
              <a:t>://www.crunchbase.com/organization/labelimg</a:t>
            </a:r>
            <a:endParaRPr lang="en-US" altLang="ja-JP">
              <a:latin typeface="Times New Roman"/>
              <a:ea typeface="游ゴシック"/>
              <a:cs typeface="Times New Roman"/>
            </a:endParaRPr>
          </a:p>
          <a:p>
            <a:pPr>
              <a:defRPr/>
            </a:pPr>
            <a:r>
              <a:rPr lang="ja-JP" altLang="en-US">
                <a:ea typeface="游ゴシック"/>
              </a:rPr>
              <a:t>・</a:t>
            </a:r>
            <a:r>
              <a:rPr lang="en-US" altLang="ja-JP" err="1">
                <a:ea typeface="游ゴシック"/>
              </a:rPr>
              <a:t>labelImg</a:t>
            </a:r>
            <a:r>
              <a:rPr lang="ja-JP" altLang="en-US">
                <a:ea typeface="游ゴシック"/>
              </a:rPr>
              <a:t>とは</a:t>
            </a:r>
          </a:p>
          <a:p>
            <a:pPr>
              <a:defRPr/>
            </a:pPr>
            <a:r>
              <a:rPr lang="ja-JP" altLang="en-US">
                <a:ea typeface="游ゴシック"/>
              </a:rPr>
              <a:t> </a:t>
            </a:r>
            <a:r>
              <a:rPr lang="en-US" altLang="ja-JP">
                <a:ea typeface="游ゴシック"/>
              </a:rPr>
              <a:t>YOLOv5</a:t>
            </a:r>
            <a:r>
              <a:rPr lang="ja-JP" altLang="en-US">
                <a:ea typeface="游ゴシック"/>
              </a:rPr>
              <a:t>などの物体や人を認識して座標まで出力してくれる物体検出モデルに学習させるためのデータ作成（アノテーション）に用いられる</a:t>
            </a:r>
            <a:endParaRPr lang="ja-JP">
              <a:ea typeface="游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7</a:t>
            </a:fld>
            <a:endParaRPr kumimoji="1" lang="ja-JP" altLang="en-US"/>
          </a:p>
        </p:txBody>
      </p:sp>
    </p:spTree>
    <p:extLst>
      <p:ext uri="{BB962C8B-B14F-4D97-AF65-F5344CB8AC3E}">
        <p14:creationId xmlns:p14="http://schemas.microsoft.com/office/powerpoint/2010/main" val="2018557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r>
              <a:rPr kumimoji="1" lang="ja-JP" altLang="en-US">
                <a:ea typeface="游ゴシック"/>
              </a:rPr>
              <a:t>文章参照：</a:t>
            </a:r>
            <a:r>
              <a:rPr lang="ja-JP"/>
              <a:t>https://axross-recipe.com/recipes/218</a:t>
            </a:r>
            <a:endParaRPr lang="en-US" altLang="ja-JP">
              <a:ea typeface="游ゴシック"/>
            </a:endParaRPr>
          </a:p>
          <a:p>
            <a:r>
              <a:rPr kumimoji="1" lang="ja-JP" altLang="en-US"/>
              <a:t>画像参照：</a:t>
            </a:r>
            <a:r>
              <a:rPr kumimoji="1" lang="en-US" altLang="ja-JP"/>
              <a:t>https://wiki.seeedstudio.com/YOLOv5-Object-Detection-Jetson/</a:t>
            </a:r>
          </a:p>
          <a:p>
            <a:r>
              <a:rPr lang="en-US" altLang="ja-JP" err="1">
                <a:ea typeface="游ゴシック"/>
              </a:rPr>
              <a:t>画像参照：</a:t>
            </a:r>
            <a:r>
              <a:rPr kumimoji="1" lang="en-US" altLang="ja-JP" err="1">
                <a:ea typeface="游ゴシック"/>
              </a:rPr>
              <a:t>https</a:t>
            </a:r>
            <a:r>
              <a:rPr kumimoji="1" lang="en-US" altLang="ja-JP">
                <a:ea typeface="游ゴシック"/>
              </a:rPr>
              <a:t>://kagglenote.com/ml-tips/yolov5/</a:t>
            </a:r>
            <a:endParaRPr lang="en-US" altLang="ja-JP">
              <a:ea typeface="游ゴシック"/>
            </a:endParaRPr>
          </a:p>
          <a:p>
            <a:endParaRPr kumimoji="1" lang="en-US" altLang="ja-JP"/>
          </a:p>
          <a:p>
            <a:r>
              <a:rPr lang="ja-JP">
                <a:ea typeface="游ゴシック"/>
              </a:rPr>
              <a:t>YOLOは、You Only Look Onceの略で、ひと</a:t>
            </a:r>
            <a:r>
              <a:rPr lang="ja-JP" altLang="en-US">
                <a:ea typeface="游ゴシック"/>
              </a:rPr>
              <a:t>目見ただけで物体検出ができることが強み</a:t>
            </a:r>
            <a:endParaRPr lang="en-US" altLang="ja-JP">
              <a:ea typeface="游ゴシック"/>
            </a:endParaRPr>
          </a:p>
          <a:p>
            <a:r>
              <a:rPr lang="ja-JP">
                <a:ea typeface="游ゴシック"/>
              </a:rPr>
              <a:t>他の物体検出モデルと比較して、処理速度が非常に早く、リアルタイムで物体検出できるのが特徴です。</a:t>
            </a:r>
            <a:endParaRPr lang="ja-JP"/>
          </a:p>
          <a:p>
            <a:endParaRPr lang="ja-JP" altLang="en-US" sz="1200">
              <a:latin typeface="游ゴシック" panose="020F0502020204030204"/>
            </a:endParaRPr>
          </a:p>
          <a:p>
            <a:endParaRPr kumimoji="1" lang="en-US" altLang="ja-JP" sz="1200">
              <a:latin typeface="+mn-ea"/>
            </a:endParaRPr>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8</a:t>
            </a:fld>
            <a:endParaRPr kumimoji="1" lang="ja-JP" altLang="en-US"/>
          </a:p>
        </p:txBody>
      </p:sp>
    </p:spTree>
    <p:extLst>
      <p:ext uri="{BB962C8B-B14F-4D97-AF65-F5344CB8AC3E}">
        <p14:creationId xmlns:p14="http://schemas.microsoft.com/office/powerpoint/2010/main" val="2307218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a:defRPr/>
            </a:pPr>
            <a:r>
              <a:rPr lang="ja-JP" altLang="en-US">
                <a:latin typeface="Courier New"/>
                <a:ea typeface="游ゴシック"/>
                <a:cs typeface="Courier New"/>
              </a:rPr>
              <a:t>画像参照：</a:t>
            </a:r>
            <a:r>
              <a:rPr lang="ja-JP"/>
              <a:t>https://amzn.asia/d/4Hf9YPx</a:t>
            </a:r>
            <a:endParaRPr lang="ja-JP" altLang="en-US">
              <a:latin typeface="Courier New"/>
              <a:ea typeface="游ゴシック"/>
              <a:cs typeface="Courier New"/>
            </a:endParaRPr>
          </a:p>
          <a:p>
            <a:pPr marL="0" marR="0" lvl="0" indent="0" algn="l" defTabSz="914400">
              <a:lnSpc>
                <a:spcPct val="100000"/>
              </a:lnSpc>
              <a:spcBef>
                <a:spcPts val="0"/>
              </a:spcBef>
              <a:spcAft>
                <a:spcPts val="0"/>
              </a:spcAft>
              <a:buClrTx/>
              <a:buSzTx/>
              <a:buFontTx/>
              <a:buNone/>
              <a:tabLst/>
              <a:defRPr/>
            </a:pPr>
            <a:r>
              <a:rPr lang="ja-JP" altLang="en-US" sz="1200" b="0" i="0">
                <a:effectLst/>
                <a:latin typeface="Courier New"/>
                <a:ea typeface="游ゴシック"/>
                <a:cs typeface="Courier New"/>
              </a:rPr>
              <a:t>機械学習に用いる画像データを集める際にペンを一つに決める必要があったため、</a:t>
            </a:r>
            <a:endParaRPr lang="en-US" altLang="ja-JP" sz="1200" b="0" i="0">
              <a:effectLst/>
              <a:latin typeface="Courier New"/>
              <a:ea typeface="游ゴシック"/>
              <a:cs typeface="Courier Ne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a:effectLst/>
                <a:latin typeface="Courier New"/>
                <a:ea typeface="游ゴシック"/>
                <a:cs typeface="Courier New"/>
              </a:rPr>
              <a:t>ペンは検出がしやすく誤検出が少ないペンにしたほうが良いと考え青色の特徴的で大きなペンを</a:t>
            </a:r>
            <a:r>
              <a:rPr lang="ja-JP" altLang="en-US">
                <a:latin typeface="Courier New"/>
                <a:ea typeface="游ゴシック"/>
                <a:cs typeface="Courier New"/>
              </a:rPr>
              <a:t>採用</a:t>
            </a:r>
            <a:r>
              <a:rPr lang="ja-JP" altLang="en-US" sz="1200" b="0" i="0">
                <a:effectLst/>
                <a:latin typeface="Courier New"/>
                <a:ea typeface="游ゴシック"/>
                <a:cs typeface="Courier New"/>
              </a:rPr>
              <a:t>した。</a:t>
            </a:r>
            <a:endParaRPr kumimoji="1" lang="en-US" altLang="ja-JP" sz="1200" b="1">
              <a:latin typeface="Courier New"/>
              <a:ea typeface="游ゴシック"/>
              <a:cs typeface="Courier New"/>
            </a:endParaRPr>
          </a:p>
          <a:p>
            <a:endParaRPr kumimoji="1" lang="ja-JP" altLang="en-US"/>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9</a:t>
            </a:fld>
            <a:endParaRPr kumimoji="1" lang="ja-JP" altLang="en-US"/>
          </a:p>
        </p:txBody>
      </p:sp>
    </p:spTree>
    <p:extLst>
      <p:ext uri="{BB962C8B-B14F-4D97-AF65-F5344CB8AC3E}">
        <p14:creationId xmlns:p14="http://schemas.microsoft.com/office/powerpoint/2010/main" val="4140749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a:effectLst/>
                <a:latin typeface="Times New Roman"/>
                <a:ea typeface="游ゴシック"/>
                <a:cs typeface="Times New Roman"/>
              </a:rPr>
              <a:t>300</a:t>
            </a:r>
            <a:r>
              <a:rPr lang="ja-JP" altLang="en-US" sz="1200" b="0" i="0">
                <a:effectLst/>
                <a:latin typeface="Courier New"/>
                <a:ea typeface="游ゴシック"/>
                <a:cs typeface="Courier New"/>
              </a:rPr>
              <a:t>枚ほど撮影を行い</a:t>
            </a:r>
            <a:r>
              <a:rPr lang="ja-JP" altLang="en-US">
                <a:latin typeface="Courier New"/>
                <a:ea typeface="游ゴシック"/>
                <a:cs typeface="Courier New"/>
              </a:rPr>
              <a:t>アノテーションしたデータの内</a:t>
            </a:r>
            <a:r>
              <a:rPr lang="en-US" altLang="ja-JP" sz="1200" b="0" i="0">
                <a:effectLst/>
                <a:latin typeface="Times New Roman"/>
                <a:ea typeface="游ゴシック"/>
                <a:cs typeface="Times New Roman"/>
              </a:rPr>
              <a:t>250</a:t>
            </a:r>
            <a:r>
              <a:rPr lang="ja-JP" altLang="en-US" sz="1200" b="0" i="0">
                <a:effectLst/>
                <a:latin typeface="Courier New"/>
                <a:ea typeface="游ゴシック"/>
                <a:cs typeface="Courier New"/>
              </a:rPr>
              <a:t>枚を教師データ、</a:t>
            </a:r>
            <a:r>
              <a:rPr lang="en-US" altLang="ja-JP" sz="1200" b="0" i="0">
                <a:effectLst/>
                <a:latin typeface="Times New Roman"/>
                <a:ea typeface="游ゴシック"/>
                <a:cs typeface="Times New Roman"/>
              </a:rPr>
              <a:t>50</a:t>
            </a:r>
            <a:r>
              <a:rPr lang="ja-JP" altLang="en-US" sz="1200" b="0" i="0">
                <a:effectLst/>
                <a:latin typeface="Courier New"/>
                <a:ea typeface="游ゴシック"/>
                <a:cs typeface="Courier New"/>
              </a:rPr>
              <a:t>枚を評価データとして用いた。</a:t>
            </a:r>
            <a:endParaRPr lang="en-US" altLang="ja-JP" sz="1200" b="0" i="0">
              <a:effectLst/>
              <a:latin typeface="Courier New"/>
              <a:ea typeface="游ゴシック"/>
              <a:cs typeface="Courier Ne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a:effectLst/>
                <a:latin typeface="Courier New" panose="02070309020205020404" pitchFamily="49" charset="0"/>
              </a:rPr>
              <a:t>そして機械学習を行う上でバッチサイズや学習回数、学習データの数を数回調整し非常に検出精度が良くなった。</a:t>
            </a:r>
            <a:endParaRPr kumimoji="1" lang="en-US" altLang="ja-JP" sz="1200" b="1">
              <a:latin typeface="游ゴシック" panose="020B0400000000000000" pitchFamily="50" charset="-128"/>
              <a:ea typeface="游ゴシック" panose="020B0400000000000000" pitchFamily="50"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10</a:t>
            </a:fld>
            <a:endParaRPr kumimoji="1" lang="ja-JP" altLang="en-US"/>
          </a:p>
        </p:txBody>
      </p:sp>
    </p:spTree>
    <p:extLst>
      <p:ext uri="{BB962C8B-B14F-4D97-AF65-F5344CB8AC3E}">
        <p14:creationId xmlns:p14="http://schemas.microsoft.com/office/powerpoint/2010/main" val="3644688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a:effectLst/>
                <a:latin typeface="Times New Roman"/>
                <a:ea typeface="游ゴシック"/>
                <a:cs typeface="Times New Roman"/>
              </a:rPr>
              <a:t>300</a:t>
            </a:r>
            <a:r>
              <a:rPr lang="ja-JP" altLang="en-US" sz="1200" b="0" i="0">
                <a:effectLst/>
                <a:latin typeface="Courier New"/>
                <a:ea typeface="游ゴシック"/>
                <a:cs typeface="Courier New"/>
              </a:rPr>
              <a:t>枚ほど撮影を行い</a:t>
            </a:r>
            <a:r>
              <a:rPr lang="ja-JP" altLang="en-US">
                <a:latin typeface="Courier New"/>
                <a:ea typeface="游ゴシック"/>
                <a:cs typeface="Courier New"/>
              </a:rPr>
              <a:t>アノテーションしたデータの内</a:t>
            </a:r>
            <a:r>
              <a:rPr lang="en-US" altLang="ja-JP" sz="1200" b="0" i="0">
                <a:effectLst/>
                <a:latin typeface="Times New Roman"/>
                <a:ea typeface="游ゴシック"/>
                <a:cs typeface="Times New Roman"/>
              </a:rPr>
              <a:t>250</a:t>
            </a:r>
            <a:r>
              <a:rPr lang="ja-JP" altLang="en-US" sz="1200" b="0" i="0">
                <a:effectLst/>
                <a:latin typeface="Courier New"/>
                <a:ea typeface="游ゴシック"/>
                <a:cs typeface="Courier New"/>
              </a:rPr>
              <a:t>枚を教師データ、</a:t>
            </a:r>
            <a:r>
              <a:rPr lang="en-US" altLang="ja-JP" sz="1200" b="0" i="0">
                <a:effectLst/>
                <a:latin typeface="Times New Roman"/>
                <a:ea typeface="游ゴシック"/>
                <a:cs typeface="Times New Roman"/>
              </a:rPr>
              <a:t>50</a:t>
            </a:r>
            <a:r>
              <a:rPr lang="ja-JP" altLang="en-US" sz="1200" b="0" i="0">
                <a:effectLst/>
                <a:latin typeface="Courier New"/>
                <a:ea typeface="游ゴシック"/>
                <a:cs typeface="Courier New"/>
              </a:rPr>
              <a:t>枚を評価データとして用いた。</a:t>
            </a:r>
            <a:endParaRPr lang="en-US" altLang="ja-JP" sz="1200" b="0" i="0">
              <a:effectLst/>
              <a:latin typeface="Courier New"/>
              <a:ea typeface="游ゴシック"/>
              <a:cs typeface="Courier Ne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a:effectLst/>
                <a:latin typeface="Courier New" panose="02070309020205020404" pitchFamily="49" charset="0"/>
              </a:rPr>
              <a:t>そして機械学習を行う上でバッチサイズや学習回数、学習データの数を数回調整し非常に検出精度が良くなった。</a:t>
            </a:r>
            <a:endParaRPr kumimoji="1" lang="en-US" altLang="ja-JP" sz="1200" b="1">
              <a:latin typeface="游ゴシック" panose="020B0400000000000000" pitchFamily="50" charset="-128"/>
              <a:ea typeface="游ゴシック" panose="020B0400000000000000" pitchFamily="50"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11</a:t>
            </a:fld>
            <a:endParaRPr kumimoji="1" lang="ja-JP" altLang="en-US"/>
          </a:p>
        </p:txBody>
      </p:sp>
    </p:spTree>
    <p:extLst>
      <p:ext uri="{BB962C8B-B14F-4D97-AF65-F5344CB8AC3E}">
        <p14:creationId xmlns:p14="http://schemas.microsoft.com/office/powerpoint/2010/main" val="316406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a:effectLst/>
                <a:latin typeface="Courier New" panose="02070309020205020404" pitchFamily="49" charset="0"/>
              </a:rPr>
              <a:t>手の検出は</a:t>
            </a:r>
            <a:r>
              <a:rPr lang="en-US" altLang="ja-JP" sz="1200" b="0" i="0" err="1">
                <a:effectLst/>
                <a:latin typeface="Times New Roman" panose="02020603050405020304" pitchFamily="18" charset="0"/>
              </a:rPr>
              <a:t>MediaPipe</a:t>
            </a:r>
            <a:r>
              <a:rPr lang="ja-JP" altLang="en-US" sz="1200" b="0" i="0">
                <a:effectLst/>
                <a:latin typeface="Courier New" panose="02070309020205020404" pitchFamily="49" charset="0"/>
              </a:rPr>
              <a:t>の提供されているものを用いて実装することができた。</a:t>
            </a:r>
            <a:endParaRPr lang="en-US" altLang="ja-JP" sz="1200" b="0" i="0">
              <a:effectLst/>
              <a:latin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a:effectLst/>
                <a:latin typeface="Courier New" panose="02070309020205020404" pitchFamily="49" charset="0"/>
              </a:rPr>
              <a:t>また、</a:t>
            </a:r>
            <a:r>
              <a:rPr lang="en-US" altLang="ja-JP" sz="1200" b="0" i="0">
                <a:effectLst/>
                <a:latin typeface="Times New Roman" panose="02020603050405020304" pitchFamily="18" charset="0"/>
              </a:rPr>
              <a:t>YOLOv5</a:t>
            </a:r>
            <a:r>
              <a:rPr lang="ja-JP" altLang="en-US" sz="1200" b="0" i="0">
                <a:effectLst/>
                <a:latin typeface="Courier New" panose="02070309020205020404" pitchFamily="49" charset="0"/>
              </a:rPr>
              <a:t>を用いて非常に高い精度でペンの検出をすることもできた。</a:t>
            </a:r>
            <a:endParaRPr lang="en-US" altLang="ja-JP" sz="1200" b="0" i="0">
              <a:effectLst/>
              <a:latin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a:effectLst/>
                <a:latin typeface="Courier New" panose="02070309020205020404" pitchFamily="49" charset="0"/>
              </a:rPr>
              <a:t>しかし、これら２つのシステムを同時に動作させることが行えていない。</a:t>
            </a:r>
            <a:endParaRPr kumimoji="1" lang="en-US" altLang="ja-JP" sz="1200" b="1">
              <a:latin typeface="游ゴシック" panose="020B0400000000000000" pitchFamily="50" charset="-128"/>
              <a:ea typeface="游ゴシック" panose="020B0400000000000000" pitchFamily="50"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12</a:t>
            </a:fld>
            <a:endParaRPr kumimoji="1" lang="ja-JP" altLang="en-US"/>
          </a:p>
        </p:txBody>
      </p:sp>
    </p:spTree>
    <p:extLst>
      <p:ext uri="{BB962C8B-B14F-4D97-AF65-F5344CB8AC3E}">
        <p14:creationId xmlns:p14="http://schemas.microsoft.com/office/powerpoint/2010/main" val="1339477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pPr>
              <a:defRPr/>
            </a:pPr>
            <a:r>
              <a:rPr lang="ja-JP"/>
              <a:t>ペンの検出と手の検出を一つのウィンドウで同時に動作できるようにし、その際に2つの動作する座標を適切な位置で重ね合わせられるようにする。</a:t>
            </a:r>
          </a:p>
          <a:p>
            <a:pPr marL="0" marR="0" lvl="0" indent="0" algn="l" defTabSz="914400">
              <a:lnSpc>
                <a:spcPct val="100000"/>
              </a:lnSpc>
              <a:spcBef>
                <a:spcPts val="0"/>
              </a:spcBef>
              <a:spcAft>
                <a:spcPts val="0"/>
              </a:spcAft>
              <a:buNone/>
              <a:tabLst/>
              <a:defRPr/>
            </a:pPr>
            <a:r>
              <a:rPr lang="ja-JP"/>
              <a:t>また、ペンの検出が現在四角い枠でしか検出できていないのをMediaPipeのように線で検出できるようにする。</a:t>
            </a:r>
          </a:p>
        </p:txBody>
      </p:sp>
      <p:sp>
        <p:nvSpPr>
          <p:cNvPr id="4" name="スライド番号プレースホルダー 3"/>
          <p:cNvSpPr>
            <a:spLocks noGrp="1"/>
          </p:cNvSpPr>
          <p:nvPr>
            <p:ph type="sldNum" sz="quarter" idx="5"/>
          </p:nvPr>
        </p:nvSpPr>
        <p:spPr/>
        <p:txBody>
          <a:bodyPr/>
          <a:lstStyle/>
          <a:p>
            <a:fld id="{31BEE61B-1547-4599-BCD3-2E87EE1F6E8C}" type="slidenum">
              <a:rPr kumimoji="1" lang="ja-JP" altLang="en-US" smtClean="0"/>
              <a:t>13</a:t>
            </a:fld>
            <a:endParaRPr kumimoji="1" lang="ja-JP" altLang="en-US"/>
          </a:p>
        </p:txBody>
      </p:sp>
    </p:spTree>
    <p:extLst>
      <p:ext uri="{BB962C8B-B14F-4D97-AF65-F5344CB8AC3E}">
        <p14:creationId xmlns:p14="http://schemas.microsoft.com/office/powerpoint/2010/main" val="1546149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0114032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763548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18859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4095807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2096175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0195257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2033868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1655215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6457429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5087263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5171659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10/18/2022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28333815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https://www.crunchbase.com/organization/labelim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wiki.seeedstudio.com/YOLOv5-Object-Detection-Jetson/" TargetMode="External"/><Relationship Id="rId5" Type="http://schemas.openxmlformats.org/officeDocument/2006/relationships/hyperlink" Target="https://kagglenote.com/ml-tips/yolov5/" TargetMode="Externa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s://amzn.asia/d/4Hf9YPx"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871A033-AC14-05AA-9529-FD5108C0B4B1}"/>
              </a:ext>
            </a:extLst>
          </p:cNvPr>
          <p:cNvSpPr txBox="1"/>
          <p:nvPr/>
        </p:nvSpPr>
        <p:spPr>
          <a:xfrm>
            <a:off x="1858816" y="2220213"/>
            <a:ext cx="8470611" cy="9002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7200">
                <a:ea typeface="ＭＳ Ｐゴシック"/>
                <a:cs typeface="Calibri"/>
              </a:rPr>
              <a:t>卒業研究　中間発表</a:t>
            </a:r>
            <a:endParaRPr lang="ja-JP" altLang="en-US"/>
          </a:p>
        </p:txBody>
      </p:sp>
      <p:sp>
        <p:nvSpPr>
          <p:cNvPr id="3" name="テキスト ボックス 2">
            <a:extLst>
              <a:ext uri="{FF2B5EF4-FFF2-40B4-BE49-F238E27FC236}">
                <a16:creationId xmlns:a16="http://schemas.microsoft.com/office/drawing/2014/main" id="{D7A12E2A-7A59-4BFF-2C0B-FA8CD423F7F7}"/>
              </a:ext>
            </a:extLst>
          </p:cNvPr>
          <p:cNvSpPr txBox="1"/>
          <p:nvPr/>
        </p:nvSpPr>
        <p:spPr>
          <a:xfrm>
            <a:off x="831273" y="3732666"/>
            <a:ext cx="10525701" cy="5770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4400">
                <a:ea typeface="ＭＳ Ｐゴシック"/>
                <a:cs typeface="Calibri"/>
              </a:rPr>
              <a:t>職人の手技の骨格モデル化に関する研究</a:t>
            </a:r>
            <a:endParaRPr lang="ja-JP" altLang="en-US" sz="4400"/>
          </a:p>
        </p:txBody>
      </p:sp>
      <p:sp>
        <p:nvSpPr>
          <p:cNvPr id="5" name="テキスト ボックス 4">
            <a:extLst>
              <a:ext uri="{FF2B5EF4-FFF2-40B4-BE49-F238E27FC236}">
                <a16:creationId xmlns:a16="http://schemas.microsoft.com/office/drawing/2014/main" id="{85EC29F6-0625-BD9C-D1D9-9B04C5D2E19A}"/>
              </a:ext>
            </a:extLst>
          </p:cNvPr>
          <p:cNvSpPr txBox="1"/>
          <p:nvPr/>
        </p:nvSpPr>
        <p:spPr>
          <a:xfrm>
            <a:off x="6907447" y="5419175"/>
            <a:ext cx="4787612" cy="3924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2800">
                <a:ea typeface="ＭＳ Ｐゴシック"/>
                <a:cs typeface="Calibri" panose="020F0502020204030204"/>
              </a:rPr>
              <a:t>箕浦研究室 5I32 福岡樹人</a:t>
            </a:r>
          </a:p>
        </p:txBody>
      </p:sp>
      <p:sp>
        <p:nvSpPr>
          <p:cNvPr id="4" name="スライド番号プレースホルダー 3">
            <a:extLst>
              <a:ext uri="{FF2B5EF4-FFF2-40B4-BE49-F238E27FC236}">
                <a16:creationId xmlns:a16="http://schemas.microsoft.com/office/drawing/2014/main" id="{B6609681-2474-E569-7F94-FB1A2323325E}"/>
              </a:ext>
            </a:extLst>
          </p:cNvPr>
          <p:cNvSpPr>
            <a:spLocks noGrp="1"/>
          </p:cNvSpPr>
          <p:nvPr>
            <p:ph type="sldNum" sz="quarter" idx="12"/>
          </p:nvPr>
        </p:nvSpPr>
        <p:spPr/>
        <p:txBody>
          <a:bodyPr/>
          <a:lstStyle/>
          <a:p>
            <a:fld id="{48F63A3B-78C7-47BE-AE5E-E10140E04643}" type="slidenum">
              <a:rPr lang="en-US" dirty="0"/>
              <a:t>1</a:t>
            </a:fld>
            <a:endParaRPr lang="ja-JP" altLang="en-US"/>
          </a:p>
        </p:txBody>
      </p:sp>
    </p:spTree>
    <p:extLst>
      <p:ext uri="{BB962C8B-B14F-4D97-AF65-F5344CB8AC3E}">
        <p14:creationId xmlns:p14="http://schemas.microsoft.com/office/powerpoint/2010/main" val="2565944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1485361" cy="2062103"/>
          </a:xfrm>
          <a:prstGeom prst="rect">
            <a:avLst/>
          </a:prstGeom>
          <a:noFill/>
        </p:spPr>
        <p:txBody>
          <a:bodyPr wrap="square" lIns="91440" tIns="45720" rIns="91440" bIns="45720" rtlCol="0" anchor="t">
            <a:spAutoFit/>
          </a:bodyPr>
          <a:lstStyle/>
          <a:p>
            <a:pPr marL="457200" indent="-457200">
              <a:buFont typeface="Arial"/>
              <a:buChar char="•"/>
            </a:pPr>
            <a:r>
              <a:rPr lang="ja-JP" altLang="en-US" sz="3200">
                <a:latin typeface="MS PGothic"/>
                <a:ea typeface="MS PGothic"/>
              </a:rPr>
              <a:t>伝統工芸が職人の高齢化や後継者不足により衰退している</a:t>
            </a:r>
            <a:endParaRPr lang="en-US" altLang="ja-JP" sz="3200">
              <a:latin typeface="MS PGothic"/>
              <a:ea typeface="MS PGothic"/>
            </a:endParaRPr>
          </a:p>
          <a:p>
            <a:endParaRPr lang="en-US" altLang="ja-JP" sz="3200">
              <a:latin typeface="MS PGothic"/>
              <a:ea typeface="游ゴシック"/>
            </a:endParaRPr>
          </a:p>
          <a:p>
            <a:pPr marL="457200" indent="-457200">
              <a:buFont typeface="Arial"/>
              <a:buChar char="•"/>
            </a:pPr>
            <a:r>
              <a:rPr lang="ja-JP" altLang="en-US" sz="3200">
                <a:latin typeface="MS PGothic"/>
                <a:ea typeface="MS PGothic"/>
              </a:rPr>
              <a:t>伝統工芸技術の保存方法を考えた結果、映像から手の形状推定等を行えれば技術の保存に貢献できる</a:t>
            </a:r>
            <a:endParaRPr lang="en-US" altLang="ja-JP" sz="4800" b="1">
              <a:latin typeface="MS PGothic"/>
              <a:ea typeface="MS PGothic"/>
            </a:endParaRP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30" y="448419"/>
            <a:ext cx="3188970" cy="923330"/>
          </a:xfrm>
          <a:prstGeom prst="rect">
            <a:avLst/>
          </a:prstGeom>
          <a:noFill/>
        </p:spPr>
        <p:txBody>
          <a:bodyPr wrap="square" lIns="91440" tIns="45720" rIns="91440" bIns="45720" rtlCol="0" anchor="t">
            <a:spAutoFit/>
          </a:bodyPr>
          <a:lstStyle/>
          <a:p>
            <a:r>
              <a:rPr kumimoji="1" lang="ja-JP" altLang="en-US" sz="5400">
                <a:latin typeface="MS PGothic"/>
                <a:ea typeface="MS PGothic"/>
              </a:rPr>
              <a:t>背景</a:t>
            </a:r>
            <a:endParaRPr lang="en-US" altLang="ja-JP" sz="5400">
              <a:latin typeface="MS PGothic"/>
              <a:ea typeface="游ゴシック"/>
            </a:endParaRPr>
          </a:p>
        </p:txBody>
      </p:sp>
      <p:pic>
        <p:nvPicPr>
          <p:cNvPr id="5122" name="Picture 2" descr="ＺＩＰＡＮＧ ＴＯＫＩＯ ２０２０「東京手仕事 職人とデザイナーのコラボレーション 東京の伝統工芸品を新しく現代に創生（その２コラボ編）」 |  ＺＩＰＡＮＧ ＴＯＫＩＯ ２０２０">
            <a:extLst>
              <a:ext uri="{FF2B5EF4-FFF2-40B4-BE49-F238E27FC236}">
                <a16:creationId xmlns:a16="http://schemas.microsoft.com/office/drawing/2014/main" id="{76AF75CB-2EE2-6819-1D1D-C07F7A4309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2507" y="3842483"/>
            <a:ext cx="3642759" cy="2792613"/>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BDC15A71-48FA-C195-CCAA-B3610F78F1C7}"/>
              </a:ext>
            </a:extLst>
          </p:cNvPr>
          <p:cNvSpPr txBox="1"/>
          <p:nvPr/>
        </p:nvSpPr>
        <p:spPr>
          <a:xfrm>
            <a:off x="356383" y="6313185"/>
            <a:ext cx="66233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mn-lt"/>
                <a:cs typeface="+mn-lt"/>
              </a:rPr>
              <a:t>画像参照：</a:t>
            </a:r>
            <a:r>
              <a:rPr lang="en-US" altLang="ja-JP" u="sng">
                <a:solidFill>
                  <a:srgbClr val="0070C0"/>
                </a:solidFill>
                <a:ea typeface="+mn-lt"/>
                <a:cs typeface="+mn-lt"/>
              </a:rPr>
              <a:t>https://tokyo2020-summer.themedia.jp/posts/4240518/</a:t>
            </a:r>
          </a:p>
        </p:txBody>
      </p:sp>
      <p:sp>
        <p:nvSpPr>
          <p:cNvPr id="2" name="スライド番号プレースホルダー 1">
            <a:extLst>
              <a:ext uri="{FF2B5EF4-FFF2-40B4-BE49-F238E27FC236}">
                <a16:creationId xmlns:a16="http://schemas.microsoft.com/office/drawing/2014/main" id="{501E9083-77B2-2F61-1D0E-E337F1A76597}"/>
              </a:ext>
            </a:extLst>
          </p:cNvPr>
          <p:cNvSpPr>
            <a:spLocks noGrp="1"/>
          </p:cNvSpPr>
          <p:nvPr>
            <p:ph type="sldNum" sz="quarter" idx="12"/>
          </p:nvPr>
        </p:nvSpPr>
        <p:spPr/>
        <p:txBody>
          <a:bodyPr/>
          <a:lstStyle/>
          <a:p>
            <a:fld id="{48F63A3B-78C7-47BE-AE5E-E10140E04643}" type="slidenum">
              <a:rPr lang="en-US" dirty="0"/>
              <a:t>2</a:t>
            </a:fld>
            <a:endParaRPr lang="ja-JP" altLang="en-US"/>
          </a:p>
        </p:txBody>
      </p:sp>
    </p:spTree>
    <p:extLst>
      <p:ext uri="{BB962C8B-B14F-4D97-AF65-F5344CB8AC3E}">
        <p14:creationId xmlns:p14="http://schemas.microsoft.com/office/powerpoint/2010/main" val="4177895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1485361" cy="1569660"/>
          </a:xfrm>
          <a:prstGeom prst="rect">
            <a:avLst/>
          </a:prstGeom>
          <a:noFill/>
        </p:spPr>
        <p:txBody>
          <a:bodyPr wrap="square" lIns="91440" tIns="45720" rIns="91440" bIns="45720" rtlCol="0" anchor="t">
            <a:spAutoFit/>
          </a:bodyPr>
          <a:lstStyle/>
          <a:p>
            <a:pPr marL="457200" indent="-457200">
              <a:buFont typeface="Arial"/>
              <a:buChar char="•"/>
            </a:pPr>
            <a:r>
              <a:rPr lang="ja-JP" altLang="en-US" sz="3200">
                <a:ea typeface="ＭＳ Ｐゴシック"/>
              </a:rPr>
              <a:t>そこで職人の手技をペン回しと見立て、伝統工芸技術の保存の第一段階</a:t>
            </a:r>
            <a:r>
              <a:rPr lang="ja-JP" altLang="en-US" sz="3200">
                <a:latin typeface="Calibri"/>
                <a:ea typeface="ＭＳ Ｐゴシック"/>
                <a:cs typeface="Calibri"/>
              </a:rPr>
              <a:t>として、</a:t>
            </a:r>
            <a:r>
              <a:rPr lang="ja-JP" sz="3200">
                <a:latin typeface="MS PGothic"/>
                <a:ea typeface="MS PGothic"/>
              </a:rPr>
              <a:t>ペン回し中の繊細な指の動きとペンの位置関係を明らかにする</a:t>
            </a:r>
            <a:endParaRPr lang="ja-JP" altLang="en-US" sz="3200">
              <a:latin typeface="Calibri"/>
              <a:ea typeface="ＭＳ Ｐゴシック"/>
              <a:cs typeface="Calibri"/>
            </a:endParaRP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30" y="448419"/>
            <a:ext cx="3188970" cy="923330"/>
          </a:xfrm>
          <a:prstGeom prst="rect">
            <a:avLst/>
          </a:prstGeom>
          <a:noFill/>
        </p:spPr>
        <p:txBody>
          <a:bodyPr wrap="square" lIns="91440" tIns="45720" rIns="91440" bIns="45720" rtlCol="0" anchor="t">
            <a:spAutoFit/>
          </a:bodyPr>
          <a:lstStyle/>
          <a:p>
            <a:r>
              <a:rPr lang="ja-JP" altLang="en-US" sz="5400">
                <a:latin typeface="MS PGothic"/>
                <a:ea typeface="MS PGothic"/>
              </a:rPr>
              <a:t>目的</a:t>
            </a:r>
          </a:p>
        </p:txBody>
      </p:sp>
      <p:sp>
        <p:nvSpPr>
          <p:cNvPr id="3" name="テキスト ボックス 2">
            <a:extLst>
              <a:ext uri="{FF2B5EF4-FFF2-40B4-BE49-F238E27FC236}">
                <a16:creationId xmlns:a16="http://schemas.microsoft.com/office/drawing/2014/main" id="{33E7ABBE-1055-9A15-132E-B37FF0A6D125}"/>
              </a:ext>
            </a:extLst>
          </p:cNvPr>
          <p:cNvSpPr txBox="1"/>
          <p:nvPr/>
        </p:nvSpPr>
        <p:spPr>
          <a:xfrm>
            <a:off x="9270999" y="4248727"/>
            <a:ext cx="180975" cy="3619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ja-JP" altLang="en-US"/>
          </a:p>
        </p:txBody>
      </p:sp>
      <p:sp>
        <p:nvSpPr>
          <p:cNvPr id="4" name="スライド番号プレースホルダー 3">
            <a:extLst>
              <a:ext uri="{FF2B5EF4-FFF2-40B4-BE49-F238E27FC236}">
                <a16:creationId xmlns:a16="http://schemas.microsoft.com/office/drawing/2014/main" id="{8C8C483E-2986-4DCF-2819-8B1B697B6ACD}"/>
              </a:ext>
            </a:extLst>
          </p:cNvPr>
          <p:cNvSpPr>
            <a:spLocks noGrp="1"/>
          </p:cNvSpPr>
          <p:nvPr>
            <p:ph type="sldNum" sz="quarter" idx="12"/>
          </p:nvPr>
        </p:nvSpPr>
        <p:spPr/>
        <p:txBody>
          <a:bodyPr/>
          <a:lstStyle/>
          <a:p>
            <a:fld id="{48F63A3B-78C7-47BE-AE5E-E10140E04643}" type="slidenum">
              <a:rPr lang="en-US" dirty="0"/>
              <a:t>3</a:t>
            </a:fld>
            <a:endParaRPr lang="ja-JP" altLang="en-US"/>
          </a:p>
        </p:txBody>
      </p:sp>
      <p:pic>
        <p:nvPicPr>
          <p:cNvPr id="7" name="図 7">
            <a:extLst>
              <a:ext uri="{FF2B5EF4-FFF2-40B4-BE49-F238E27FC236}">
                <a16:creationId xmlns:a16="http://schemas.microsoft.com/office/drawing/2014/main" id="{78F9039F-C852-B659-B533-A46402E3A59C}"/>
              </a:ext>
            </a:extLst>
          </p:cNvPr>
          <p:cNvPicPr>
            <a:picLocks noChangeAspect="1"/>
          </p:cNvPicPr>
          <p:nvPr/>
        </p:nvPicPr>
        <p:blipFill rotWithShape="1">
          <a:blip r:embed="rId3"/>
          <a:srcRect t="29623" r="272" b="-365"/>
          <a:stretch/>
        </p:blipFill>
        <p:spPr>
          <a:xfrm>
            <a:off x="3450920" y="3607273"/>
            <a:ext cx="5290168" cy="2807476"/>
          </a:xfrm>
          <a:prstGeom prst="rect">
            <a:avLst/>
          </a:prstGeom>
        </p:spPr>
      </p:pic>
      <p:sp>
        <p:nvSpPr>
          <p:cNvPr id="8" name="テキスト ボックス 7">
            <a:extLst>
              <a:ext uri="{FF2B5EF4-FFF2-40B4-BE49-F238E27FC236}">
                <a16:creationId xmlns:a16="http://schemas.microsoft.com/office/drawing/2014/main" id="{46314A36-75D6-EA33-180E-2E431862299E}"/>
              </a:ext>
            </a:extLst>
          </p:cNvPr>
          <p:cNvSpPr txBox="1"/>
          <p:nvPr/>
        </p:nvSpPr>
        <p:spPr>
          <a:xfrm>
            <a:off x="8747341" y="6106438"/>
            <a:ext cx="12352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游ゴシック"/>
                <a:cs typeface="Calibri"/>
              </a:rPr>
              <a:t>※理想図</a:t>
            </a:r>
          </a:p>
        </p:txBody>
      </p:sp>
    </p:spTree>
    <p:extLst>
      <p:ext uri="{BB962C8B-B14F-4D97-AF65-F5344CB8AC3E}">
        <p14:creationId xmlns:p14="http://schemas.microsoft.com/office/powerpoint/2010/main" val="2094063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8095438" cy="4022104"/>
          </a:xfrm>
          <a:prstGeom prst="rect">
            <a:avLst/>
          </a:prstGeom>
          <a:noFill/>
        </p:spPr>
        <p:txBody>
          <a:bodyPr wrap="square" lIns="91440" tIns="45720" rIns="91440" bIns="45720" rtlCol="0" anchor="t">
            <a:spAutoFit/>
          </a:bodyPr>
          <a:lstStyle/>
          <a:p>
            <a:pPr marL="457200" indent="-457200">
              <a:buFont typeface="Arial"/>
              <a:buChar char="•"/>
            </a:pPr>
            <a:r>
              <a:rPr lang="ja-JP" altLang="en-US" sz="3200">
                <a:solidFill>
                  <a:srgbClr val="202124"/>
                </a:solidFill>
                <a:latin typeface="MS PGothic"/>
                <a:ea typeface="MS PGothic"/>
                <a:cs typeface="Roboto"/>
              </a:rPr>
              <a:t>手形状推定は</a:t>
            </a:r>
            <a:r>
              <a:rPr lang="en-US" altLang="ja-JP" sz="3200" dirty="0" err="1">
                <a:solidFill>
                  <a:srgbClr val="202124"/>
                </a:solidFill>
                <a:latin typeface="MS PGothic"/>
                <a:ea typeface="ＭＳ Ｐゴシック"/>
                <a:cs typeface="Roboto"/>
              </a:rPr>
              <a:t>MediaPipe</a:t>
            </a:r>
            <a:r>
              <a:rPr lang="ja-JP" altLang="en-US" sz="3200">
                <a:solidFill>
                  <a:srgbClr val="202124"/>
                </a:solidFill>
                <a:latin typeface="MS PGothic"/>
                <a:ea typeface="MS PGothic"/>
                <a:cs typeface="Roboto"/>
              </a:rPr>
              <a:t>の</a:t>
            </a:r>
            <a:r>
              <a:rPr lang="en-US" altLang="ja-JP" sz="3200" dirty="0">
                <a:solidFill>
                  <a:srgbClr val="202124"/>
                </a:solidFill>
                <a:latin typeface="MS PGothic"/>
                <a:ea typeface="ＭＳ Ｐゴシック"/>
                <a:cs typeface="Roboto"/>
              </a:rPr>
              <a:t>Hands</a:t>
            </a:r>
            <a:endParaRPr lang="ja-JP" altLang="en-US" dirty="0">
              <a:cs typeface="Calibri" panose="020F0502020204030204"/>
            </a:endParaRPr>
          </a:p>
          <a:p>
            <a:pPr marL="457200" indent="-457200">
              <a:buFont typeface="Arial"/>
              <a:buChar char="•"/>
            </a:pPr>
            <a:endParaRPr lang="en-US" altLang="ja-JP" sz="3200">
              <a:solidFill>
                <a:srgbClr val="202124"/>
              </a:solidFill>
              <a:latin typeface="MS PGothic"/>
              <a:ea typeface="ＭＳ Ｐゴシック"/>
              <a:cs typeface="Roboto"/>
            </a:endParaRPr>
          </a:p>
          <a:p>
            <a:pPr marL="457200" indent="-457200">
              <a:buFont typeface="Arial"/>
              <a:buChar char="•"/>
            </a:pPr>
            <a:r>
              <a:rPr lang="ja-JP" altLang="en-US" sz="3200">
                <a:solidFill>
                  <a:srgbClr val="202124"/>
                </a:solidFill>
                <a:latin typeface="MS PGothic"/>
                <a:ea typeface="MS PGothic"/>
              </a:rPr>
              <a:t>画像のアノテーションを</a:t>
            </a:r>
            <a:r>
              <a:rPr lang="en-US" sz="3200" dirty="0" err="1">
                <a:solidFill>
                  <a:srgbClr val="202124"/>
                </a:solidFill>
                <a:latin typeface="MS PGothic"/>
                <a:ea typeface="MS PGothic"/>
              </a:rPr>
              <a:t>labelImg</a:t>
            </a:r>
            <a:endParaRPr lang="ja-JP" dirty="0" err="1">
              <a:latin typeface="MS PGothic"/>
              <a:ea typeface="MS PGothic"/>
            </a:endParaRPr>
          </a:p>
          <a:p>
            <a:pPr marL="457200" indent="-457200">
              <a:buFont typeface="Arial"/>
              <a:buChar char="•"/>
            </a:pPr>
            <a:endParaRPr lang="en-US" altLang="ja-JP" sz="3200">
              <a:solidFill>
                <a:srgbClr val="202124"/>
              </a:solidFill>
              <a:latin typeface="MS PGothic"/>
              <a:ea typeface="MS PGothic"/>
            </a:endParaRPr>
          </a:p>
          <a:p>
            <a:pPr marL="457200" indent="-457200">
              <a:buFont typeface="Arial"/>
              <a:buChar char="•"/>
            </a:pPr>
            <a:r>
              <a:rPr lang="ja-JP" altLang="en-US" sz="3200">
                <a:solidFill>
                  <a:srgbClr val="202124"/>
                </a:solidFill>
                <a:latin typeface="MS PGothic"/>
                <a:ea typeface="MS PGothic"/>
              </a:rPr>
              <a:t>物体検出は</a:t>
            </a:r>
            <a:r>
              <a:rPr lang="en-US" altLang="ja-JP" sz="3200" dirty="0">
                <a:solidFill>
                  <a:srgbClr val="202124"/>
                </a:solidFill>
                <a:latin typeface="MS PGothic"/>
                <a:ea typeface="游ゴシック"/>
              </a:rPr>
              <a:t>YOLOv5</a:t>
            </a:r>
            <a:endParaRPr lang="en-US" altLang="ja-JP" sz="3200" b="1" dirty="0">
              <a:solidFill>
                <a:srgbClr val="000000"/>
              </a:solidFill>
              <a:latin typeface="MS PGothic"/>
              <a:ea typeface="游ゴシック"/>
            </a:endParaRPr>
          </a:p>
          <a:p>
            <a:pPr marL="457200" indent="-457200">
              <a:buFont typeface="Arial"/>
              <a:buChar char="•"/>
            </a:pPr>
            <a:endParaRPr lang="en-US" altLang="ja-JP" sz="3200">
              <a:solidFill>
                <a:srgbClr val="202124"/>
              </a:solidFill>
              <a:latin typeface="MS PGothic"/>
              <a:ea typeface="ＭＳ Ｐゴシック"/>
              <a:cs typeface="Roboto"/>
            </a:endParaRPr>
          </a:p>
          <a:p>
            <a:pPr marL="457200" indent="-457200">
              <a:buFont typeface="Courier New"/>
              <a:buChar char="o"/>
            </a:pPr>
            <a:r>
              <a:rPr lang="en-US" altLang="ja-JP" sz="3200" dirty="0">
                <a:solidFill>
                  <a:srgbClr val="202124"/>
                </a:solidFill>
                <a:latin typeface="MS PGothic"/>
                <a:ea typeface="ＭＳ Ｐゴシック"/>
                <a:cs typeface="Roboto"/>
              </a:rPr>
              <a:t>LabelImgでアノテーションしたデータをYOLOv5で学習させる流れ</a:t>
            </a:r>
            <a:endParaRPr lang="en-US" dirty="0">
              <a:cs typeface="Calibri" panose="020F0502020204030204"/>
            </a:endParaRP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48419"/>
            <a:ext cx="10202167" cy="923330"/>
          </a:xfrm>
          <a:prstGeom prst="rect">
            <a:avLst/>
          </a:prstGeom>
          <a:noFill/>
        </p:spPr>
        <p:txBody>
          <a:bodyPr wrap="square" lIns="91440" tIns="45720" rIns="91440" bIns="45720" rtlCol="0" anchor="t">
            <a:spAutoFit/>
          </a:bodyPr>
          <a:lstStyle/>
          <a:p>
            <a:r>
              <a:rPr kumimoji="1" lang="ja-JP" altLang="en-US" sz="5400">
                <a:latin typeface="MS PGothic"/>
                <a:ea typeface="MS PGothic"/>
              </a:rPr>
              <a:t>研究の概要</a:t>
            </a:r>
            <a:endParaRPr lang="ja-JP" altLang="en-US" sz="5400">
              <a:latin typeface="MS PGothic"/>
              <a:ea typeface="MS PGothic"/>
            </a:endParaRPr>
          </a:p>
        </p:txBody>
      </p:sp>
      <p:pic>
        <p:nvPicPr>
          <p:cNvPr id="3" name="図 2">
            <a:extLst>
              <a:ext uri="{FF2B5EF4-FFF2-40B4-BE49-F238E27FC236}">
                <a16:creationId xmlns:a16="http://schemas.microsoft.com/office/drawing/2014/main" id="{F16481DC-AF68-43F5-68AD-3F641EE41D3A}"/>
              </a:ext>
            </a:extLst>
          </p:cNvPr>
          <p:cNvPicPr>
            <a:picLocks noChangeAspect="1"/>
          </p:cNvPicPr>
          <p:nvPr/>
        </p:nvPicPr>
        <p:blipFill>
          <a:blip r:embed="rId3"/>
          <a:stretch>
            <a:fillRect/>
          </a:stretch>
        </p:blipFill>
        <p:spPr>
          <a:xfrm>
            <a:off x="7734166" y="1147026"/>
            <a:ext cx="3454400" cy="1813560"/>
          </a:xfrm>
          <a:prstGeom prst="rect">
            <a:avLst/>
          </a:prstGeom>
        </p:spPr>
      </p:pic>
      <p:pic>
        <p:nvPicPr>
          <p:cNvPr id="7" name="図 6">
            <a:extLst>
              <a:ext uri="{FF2B5EF4-FFF2-40B4-BE49-F238E27FC236}">
                <a16:creationId xmlns:a16="http://schemas.microsoft.com/office/drawing/2014/main" id="{8F6C7246-6877-6323-1061-A1A3433FB889}"/>
              </a:ext>
            </a:extLst>
          </p:cNvPr>
          <p:cNvPicPr>
            <a:picLocks noChangeAspect="1"/>
          </p:cNvPicPr>
          <p:nvPr/>
        </p:nvPicPr>
        <p:blipFill>
          <a:blip r:embed="rId4"/>
          <a:stretch>
            <a:fillRect/>
          </a:stretch>
        </p:blipFill>
        <p:spPr>
          <a:xfrm>
            <a:off x="8048901" y="5046862"/>
            <a:ext cx="2829320" cy="771633"/>
          </a:xfrm>
          <a:prstGeom prst="rect">
            <a:avLst/>
          </a:prstGeom>
        </p:spPr>
      </p:pic>
      <p:pic>
        <p:nvPicPr>
          <p:cNvPr id="4" name="図 3" descr="ロゴ が含まれている画像&#10;&#10;説明は自動で生成されたものです">
            <a:extLst>
              <a:ext uri="{FF2B5EF4-FFF2-40B4-BE49-F238E27FC236}">
                <a16:creationId xmlns:a16="http://schemas.microsoft.com/office/drawing/2014/main" id="{7286E08C-BB7E-8AF2-8129-DF8B7F926B73}"/>
              </a:ext>
            </a:extLst>
          </p:cNvPr>
          <p:cNvPicPr>
            <a:picLocks noChangeAspect="1"/>
          </p:cNvPicPr>
          <p:nvPr/>
        </p:nvPicPr>
        <p:blipFill>
          <a:blip r:embed="rId5"/>
          <a:stretch>
            <a:fillRect/>
          </a:stretch>
        </p:blipFill>
        <p:spPr>
          <a:xfrm>
            <a:off x="8490504" y="2453865"/>
            <a:ext cx="1949929" cy="1949929"/>
          </a:xfrm>
          <a:prstGeom prst="rect">
            <a:avLst/>
          </a:prstGeom>
        </p:spPr>
      </p:pic>
      <p:sp>
        <p:nvSpPr>
          <p:cNvPr id="2" name="矢印: 上 1">
            <a:extLst>
              <a:ext uri="{FF2B5EF4-FFF2-40B4-BE49-F238E27FC236}">
                <a16:creationId xmlns:a16="http://schemas.microsoft.com/office/drawing/2014/main" id="{E79C1E09-5E48-FD49-325C-5671EA63ABF4}"/>
              </a:ext>
            </a:extLst>
          </p:cNvPr>
          <p:cNvSpPr/>
          <p:nvPr/>
        </p:nvSpPr>
        <p:spPr>
          <a:xfrm rot="10800000">
            <a:off x="9282683" y="4340227"/>
            <a:ext cx="370702" cy="679622"/>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 name="スライド番号プレースホルダー 4">
            <a:extLst>
              <a:ext uri="{FF2B5EF4-FFF2-40B4-BE49-F238E27FC236}">
                <a16:creationId xmlns:a16="http://schemas.microsoft.com/office/drawing/2014/main" id="{85C06191-0E0D-8690-FAF6-E8248F7E6CB4}"/>
              </a:ext>
            </a:extLst>
          </p:cNvPr>
          <p:cNvSpPr>
            <a:spLocks noGrp="1"/>
          </p:cNvSpPr>
          <p:nvPr>
            <p:ph type="sldNum" sz="quarter" idx="12"/>
          </p:nvPr>
        </p:nvSpPr>
        <p:spPr/>
        <p:txBody>
          <a:bodyPr/>
          <a:lstStyle/>
          <a:p>
            <a:fld id="{48F63A3B-78C7-47BE-AE5E-E10140E04643}" type="slidenum">
              <a:rPr lang="en-US" dirty="0"/>
              <a:t>4</a:t>
            </a:fld>
            <a:endParaRPr lang="ja-JP" altLang="en-US"/>
          </a:p>
        </p:txBody>
      </p:sp>
    </p:spTree>
    <p:extLst>
      <p:ext uri="{BB962C8B-B14F-4D97-AF65-F5344CB8AC3E}">
        <p14:creationId xmlns:p14="http://schemas.microsoft.com/office/powerpoint/2010/main" val="3756593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1485361" cy="2062103"/>
          </a:xfrm>
          <a:prstGeom prst="rect">
            <a:avLst/>
          </a:prstGeom>
          <a:noFill/>
        </p:spPr>
        <p:txBody>
          <a:bodyPr wrap="square" lIns="91440" tIns="45720" rIns="91440" bIns="45720" rtlCol="0" anchor="t">
            <a:spAutoFit/>
          </a:bodyPr>
          <a:lstStyle/>
          <a:p>
            <a:pPr marL="457200" indent="-457200">
              <a:buFont typeface="Arial"/>
              <a:buChar char="•"/>
            </a:pPr>
            <a:r>
              <a:rPr lang="en-US" altLang="ja-JP" sz="3200" dirty="0" err="1">
                <a:latin typeface="MS PGothic"/>
                <a:ea typeface="ＭＳ Ｐゴシック"/>
              </a:rPr>
              <a:t>MediaPipe</a:t>
            </a:r>
            <a:r>
              <a:rPr lang="ja-JP" altLang="en-US" sz="3200">
                <a:solidFill>
                  <a:srgbClr val="212529"/>
                </a:solidFill>
                <a:latin typeface="MS PGothic"/>
                <a:ea typeface="MS PGothic"/>
              </a:rPr>
              <a:t>とは、</a:t>
            </a:r>
            <a:r>
              <a:rPr lang="en-US" altLang="ja-JP" sz="3200" dirty="0">
                <a:solidFill>
                  <a:srgbClr val="212529"/>
                </a:solidFill>
                <a:latin typeface="MS PGothic"/>
                <a:ea typeface="ＭＳ Ｐゴシック"/>
              </a:rPr>
              <a:t>Google</a:t>
            </a:r>
            <a:r>
              <a:rPr lang="ja-JP" altLang="en-US" sz="3200">
                <a:solidFill>
                  <a:srgbClr val="212529"/>
                </a:solidFill>
                <a:latin typeface="MS PGothic"/>
                <a:ea typeface="MS PGothic"/>
              </a:rPr>
              <a:t>社が提供するライブストリーミングのためのオープンソースの</a:t>
            </a:r>
            <a:r>
              <a:rPr lang="en-US" altLang="ja-JP" sz="3200" dirty="0">
                <a:solidFill>
                  <a:srgbClr val="212529"/>
                </a:solidFill>
                <a:latin typeface="MS PGothic"/>
                <a:ea typeface="ＭＳ Ｐゴシック"/>
              </a:rPr>
              <a:t>ML(</a:t>
            </a:r>
            <a:r>
              <a:rPr lang="en-US" altLang="ja-JP" sz="3200" dirty="0" err="1">
                <a:solidFill>
                  <a:srgbClr val="212529"/>
                </a:solidFill>
                <a:latin typeface="MS PGothic"/>
                <a:ea typeface="ＭＳ Ｐゴシック"/>
              </a:rPr>
              <a:t>Macine</a:t>
            </a:r>
            <a:r>
              <a:rPr lang="en-US" altLang="ja-JP" sz="3200" dirty="0">
                <a:solidFill>
                  <a:srgbClr val="212529"/>
                </a:solidFill>
                <a:latin typeface="MS PGothic"/>
                <a:ea typeface="ＭＳ Ｐゴシック"/>
              </a:rPr>
              <a:t> Learning)</a:t>
            </a:r>
            <a:r>
              <a:rPr lang="ja-JP" altLang="en-US" sz="3200">
                <a:solidFill>
                  <a:srgbClr val="212529"/>
                </a:solidFill>
                <a:latin typeface="MS PGothic"/>
                <a:ea typeface="MS PGothic"/>
              </a:rPr>
              <a:t>ソリューション</a:t>
            </a:r>
            <a:endParaRPr lang="en-US" altLang="ja-JP" sz="3200" b="1">
              <a:solidFill>
                <a:srgbClr val="000000"/>
              </a:solidFill>
              <a:latin typeface="MS PGothic"/>
              <a:ea typeface="MS PGothic"/>
            </a:endParaRPr>
          </a:p>
          <a:p>
            <a:pPr marL="457200" indent="-457200">
              <a:buFont typeface="Arial"/>
              <a:buChar char="•"/>
            </a:pPr>
            <a:endParaRPr lang="ja-JP" altLang="en-US" sz="3200">
              <a:solidFill>
                <a:srgbClr val="212529"/>
              </a:solidFill>
              <a:latin typeface="MS PGothic"/>
              <a:ea typeface="MS PGothic"/>
            </a:endParaRPr>
          </a:p>
          <a:p>
            <a:pPr marL="457200" indent="-457200">
              <a:buFont typeface="Arial"/>
              <a:buChar char="•"/>
            </a:pPr>
            <a:r>
              <a:rPr lang="ja-JP" altLang="en-US" sz="3200">
                <a:solidFill>
                  <a:srgbClr val="212529"/>
                </a:solidFill>
                <a:latin typeface="MS PGothic"/>
                <a:ea typeface="MS PGothic"/>
              </a:rPr>
              <a:t>中でもHandsと呼ばれる手に関する検出を使用</a:t>
            </a: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48419"/>
            <a:ext cx="11165449" cy="923330"/>
          </a:xfrm>
          <a:prstGeom prst="rect">
            <a:avLst/>
          </a:prstGeom>
          <a:noFill/>
        </p:spPr>
        <p:txBody>
          <a:bodyPr wrap="square" lIns="91440" tIns="45720" rIns="91440" bIns="45720" rtlCol="0" anchor="t">
            <a:spAutoFit/>
          </a:bodyPr>
          <a:lstStyle/>
          <a:p>
            <a:r>
              <a:rPr kumimoji="1" lang="ja-JP" altLang="en-US" sz="5400">
                <a:latin typeface="MS PGothic"/>
                <a:ea typeface="MS PGothic"/>
              </a:rPr>
              <a:t>研究の概要（</a:t>
            </a:r>
            <a:r>
              <a:rPr kumimoji="1" lang="en-US" altLang="ja-JP" sz="5400" err="1">
                <a:latin typeface="MS PGothic"/>
                <a:ea typeface="游ゴシック"/>
              </a:rPr>
              <a:t>MediaPipe</a:t>
            </a:r>
            <a:r>
              <a:rPr kumimoji="1" lang="ja-JP" altLang="en-US" sz="5400">
                <a:latin typeface="MS PGothic"/>
                <a:ea typeface="MS PGothic"/>
              </a:rPr>
              <a:t>について）</a:t>
            </a:r>
            <a:endParaRPr lang="ja-JP" altLang="en-US" sz="5400">
              <a:latin typeface="MS PGothic"/>
              <a:ea typeface="MS PGothic"/>
            </a:endParaRPr>
          </a:p>
        </p:txBody>
      </p:sp>
      <p:pic>
        <p:nvPicPr>
          <p:cNvPr id="4" name="図 3">
            <a:extLst>
              <a:ext uri="{FF2B5EF4-FFF2-40B4-BE49-F238E27FC236}">
                <a16:creationId xmlns:a16="http://schemas.microsoft.com/office/drawing/2014/main" id="{3D2D3DF6-ACCA-F3AD-DFE3-8E9868024AE5}"/>
              </a:ext>
            </a:extLst>
          </p:cNvPr>
          <p:cNvPicPr>
            <a:picLocks noChangeAspect="1"/>
          </p:cNvPicPr>
          <p:nvPr/>
        </p:nvPicPr>
        <p:blipFill>
          <a:blip r:embed="rId3"/>
          <a:stretch>
            <a:fillRect/>
          </a:stretch>
        </p:blipFill>
        <p:spPr>
          <a:xfrm>
            <a:off x="922794" y="3848021"/>
            <a:ext cx="4703305" cy="2488502"/>
          </a:xfrm>
          <a:prstGeom prst="rect">
            <a:avLst/>
          </a:prstGeom>
        </p:spPr>
      </p:pic>
      <p:pic>
        <p:nvPicPr>
          <p:cNvPr id="5" name="図 4">
            <a:extLst>
              <a:ext uri="{FF2B5EF4-FFF2-40B4-BE49-F238E27FC236}">
                <a16:creationId xmlns:a16="http://schemas.microsoft.com/office/drawing/2014/main" id="{1136DE67-8765-04EF-437D-C1D0FCA513B8}"/>
              </a:ext>
            </a:extLst>
          </p:cNvPr>
          <p:cNvPicPr>
            <a:picLocks noChangeAspect="1"/>
          </p:cNvPicPr>
          <p:nvPr/>
        </p:nvPicPr>
        <p:blipFill>
          <a:blip r:embed="rId4"/>
          <a:stretch>
            <a:fillRect/>
          </a:stretch>
        </p:blipFill>
        <p:spPr>
          <a:xfrm>
            <a:off x="6576201" y="3851975"/>
            <a:ext cx="4698125" cy="2478205"/>
          </a:xfrm>
          <a:prstGeom prst="rect">
            <a:avLst/>
          </a:prstGeom>
        </p:spPr>
      </p:pic>
      <p:sp>
        <p:nvSpPr>
          <p:cNvPr id="2" name="テキスト ボックス 1">
            <a:extLst>
              <a:ext uri="{FF2B5EF4-FFF2-40B4-BE49-F238E27FC236}">
                <a16:creationId xmlns:a16="http://schemas.microsoft.com/office/drawing/2014/main" id="{3DEF8BE2-DA50-6BF1-6B74-1BE400432592}"/>
              </a:ext>
            </a:extLst>
          </p:cNvPr>
          <p:cNvSpPr txBox="1"/>
          <p:nvPr/>
        </p:nvSpPr>
        <p:spPr>
          <a:xfrm>
            <a:off x="348875" y="6329856"/>
            <a:ext cx="672941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mn-lt"/>
                <a:cs typeface="+mn-lt"/>
              </a:rPr>
              <a:t>画像参照：</a:t>
            </a:r>
            <a:r>
              <a:rPr lang="en-US" altLang="ja-JP" u="sng">
                <a:solidFill>
                  <a:srgbClr val="0070C0"/>
                </a:solidFill>
                <a:ea typeface="+mn-lt"/>
                <a:cs typeface="+mn-lt"/>
              </a:rPr>
              <a:t>https://google.github.io/mediapipe/solutions/hands.html</a:t>
            </a:r>
            <a:endParaRPr lang="ja-JP" altLang="en-US" u="sng">
              <a:solidFill>
                <a:srgbClr val="0070C0"/>
              </a:solidFill>
              <a:ea typeface="ＭＳ Ｐゴシック"/>
              <a:cs typeface="Calibri"/>
            </a:endParaRPr>
          </a:p>
        </p:txBody>
      </p:sp>
      <p:sp>
        <p:nvSpPr>
          <p:cNvPr id="3" name="スライド番号プレースホルダー 2">
            <a:extLst>
              <a:ext uri="{FF2B5EF4-FFF2-40B4-BE49-F238E27FC236}">
                <a16:creationId xmlns:a16="http://schemas.microsoft.com/office/drawing/2014/main" id="{7DC71A17-DB73-1A28-5E4A-0FEA631B6934}"/>
              </a:ext>
            </a:extLst>
          </p:cNvPr>
          <p:cNvSpPr>
            <a:spLocks noGrp="1"/>
          </p:cNvSpPr>
          <p:nvPr>
            <p:ph type="sldNum" sz="quarter" idx="12"/>
          </p:nvPr>
        </p:nvSpPr>
        <p:spPr/>
        <p:txBody>
          <a:bodyPr/>
          <a:lstStyle/>
          <a:p>
            <a:fld id="{48F63A3B-78C7-47BE-AE5E-E10140E04643}" type="slidenum">
              <a:rPr lang="en-US" dirty="0"/>
              <a:t>5</a:t>
            </a:fld>
            <a:endParaRPr lang="ja-JP" altLang="en-US"/>
          </a:p>
        </p:txBody>
      </p:sp>
    </p:spTree>
    <p:extLst>
      <p:ext uri="{BB962C8B-B14F-4D97-AF65-F5344CB8AC3E}">
        <p14:creationId xmlns:p14="http://schemas.microsoft.com/office/powerpoint/2010/main" val="3608750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1485361" cy="584775"/>
          </a:xfrm>
          <a:prstGeom prst="rect">
            <a:avLst/>
          </a:prstGeom>
          <a:noFill/>
        </p:spPr>
        <p:txBody>
          <a:bodyPr wrap="square" lIns="91440" tIns="45720" rIns="91440" bIns="45720" rtlCol="0" anchor="t">
            <a:spAutoFit/>
          </a:bodyPr>
          <a:lstStyle/>
          <a:p>
            <a:pPr marL="457200" indent="-457200">
              <a:buFont typeface="Arial"/>
              <a:buChar char="•"/>
            </a:pPr>
            <a:r>
              <a:rPr lang="ja-JP" altLang="en-US" sz="3200">
                <a:solidFill>
                  <a:srgbClr val="212529"/>
                </a:solidFill>
                <a:latin typeface="ＭＳ Ｐゴシック"/>
                <a:ea typeface="ＭＳ Ｐゴシック"/>
              </a:rPr>
              <a:t>実際に伝統工芸の画像で手形状推定</a:t>
            </a:r>
            <a:endParaRPr lang="ja-JP"/>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48419"/>
            <a:ext cx="11165449" cy="923330"/>
          </a:xfrm>
          <a:prstGeom prst="rect">
            <a:avLst/>
          </a:prstGeom>
          <a:noFill/>
        </p:spPr>
        <p:txBody>
          <a:bodyPr wrap="square" lIns="91440" tIns="45720" rIns="91440" bIns="45720" rtlCol="0" anchor="t">
            <a:spAutoFit/>
          </a:bodyPr>
          <a:lstStyle/>
          <a:p>
            <a:r>
              <a:rPr kumimoji="1" lang="ja-JP" altLang="en-US" sz="5400">
                <a:latin typeface="MS PGothic"/>
                <a:ea typeface="MS PGothic"/>
              </a:rPr>
              <a:t>研究の概要（手形状推定について）</a:t>
            </a:r>
            <a:endParaRPr lang="ja-JP" altLang="en-US" sz="5400">
              <a:latin typeface="MS PGothic"/>
              <a:ea typeface="MS PGothic"/>
            </a:endParaRPr>
          </a:p>
        </p:txBody>
      </p:sp>
      <p:pic>
        <p:nvPicPr>
          <p:cNvPr id="2" name="図 2" descr="デバイス, ファン, 屋内, テーブル が含まれている画像&#10;&#10;説明は自動で生成されたものです">
            <a:extLst>
              <a:ext uri="{FF2B5EF4-FFF2-40B4-BE49-F238E27FC236}">
                <a16:creationId xmlns:a16="http://schemas.microsoft.com/office/drawing/2014/main" id="{C8C7B91C-E3B4-091F-79C5-6FEFDFE6B3B8}"/>
              </a:ext>
            </a:extLst>
          </p:cNvPr>
          <p:cNvPicPr>
            <a:picLocks noChangeAspect="1"/>
          </p:cNvPicPr>
          <p:nvPr/>
        </p:nvPicPr>
        <p:blipFill>
          <a:blip r:embed="rId3"/>
          <a:stretch>
            <a:fillRect/>
          </a:stretch>
        </p:blipFill>
        <p:spPr>
          <a:xfrm>
            <a:off x="6103288" y="2372096"/>
            <a:ext cx="5694250" cy="3816190"/>
          </a:xfrm>
          <a:prstGeom prst="rect">
            <a:avLst/>
          </a:prstGeom>
        </p:spPr>
      </p:pic>
      <p:pic>
        <p:nvPicPr>
          <p:cNvPr id="3" name="図 3" descr="人, 屋内, テーブル, 食品 が含まれている画像&#10;&#10;説明は自動で生成されたものです">
            <a:extLst>
              <a:ext uri="{FF2B5EF4-FFF2-40B4-BE49-F238E27FC236}">
                <a16:creationId xmlns:a16="http://schemas.microsoft.com/office/drawing/2014/main" id="{E00BD9CF-6C2C-4E28-C85A-A71C8A002E72}"/>
              </a:ext>
            </a:extLst>
          </p:cNvPr>
          <p:cNvPicPr>
            <a:picLocks noChangeAspect="1"/>
          </p:cNvPicPr>
          <p:nvPr/>
        </p:nvPicPr>
        <p:blipFill>
          <a:blip r:embed="rId4"/>
          <a:stretch>
            <a:fillRect/>
          </a:stretch>
        </p:blipFill>
        <p:spPr>
          <a:xfrm>
            <a:off x="358536" y="2365975"/>
            <a:ext cx="5738256" cy="3827253"/>
          </a:xfrm>
          <a:prstGeom prst="rect">
            <a:avLst/>
          </a:prstGeom>
        </p:spPr>
      </p:pic>
      <p:sp>
        <p:nvSpPr>
          <p:cNvPr id="4" name="テキスト ボックス 3">
            <a:extLst>
              <a:ext uri="{FF2B5EF4-FFF2-40B4-BE49-F238E27FC236}">
                <a16:creationId xmlns:a16="http://schemas.microsoft.com/office/drawing/2014/main" id="{1EAE9577-300D-10D4-F110-6DB79DF3F409}"/>
              </a:ext>
            </a:extLst>
          </p:cNvPr>
          <p:cNvSpPr txBox="1"/>
          <p:nvPr/>
        </p:nvSpPr>
        <p:spPr>
          <a:xfrm>
            <a:off x="349926" y="6183936"/>
            <a:ext cx="1149303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游ゴシック"/>
                <a:cs typeface="Calibri"/>
              </a:rPr>
              <a:t>画像参照：</a:t>
            </a:r>
            <a:r>
              <a:rPr lang="en-US" altLang="ja-JP" u="sng">
                <a:solidFill>
                  <a:srgbClr val="0070C0"/>
                </a:solidFill>
                <a:ea typeface="+mn-lt"/>
                <a:cs typeface="+mn-lt"/>
              </a:rPr>
              <a:t>https://mucha-hug.com/traditional-crafts/traditional_school/</a:t>
            </a:r>
            <a:endParaRPr lang="ja-JP" altLang="en-US" u="sng">
              <a:solidFill>
                <a:srgbClr val="0070C0"/>
              </a:solidFill>
              <a:ea typeface="游ゴシック"/>
              <a:cs typeface="+mn-lt"/>
            </a:endParaRPr>
          </a:p>
          <a:p>
            <a:r>
              <a:rPr lang="ja-JP" altLang="en-US">
                <a:ea typeface="+mn-lt"/>
                <a:cs typeface="+mn-lt"/>
              </a:rPr>
              <a:t>画像参照：</a:t>
            </a:r>
            <a:r>
              <a:rPr lang="en-US" altLang="ja-JP" u="sng">
                <a:solidFill>
                  <a:srgbClr val="0070C0"/>
                </a:solidFill>
                <a:ea typeface="+mn-lt"/>
                <a:cs typeface="+mn-lt"/>
              </a:rPr>
              <a:t>https://www.fujingaho.jp/culture/craft-tableware/g29646439/kyoto-craftsman-kojima-bros-200110/?slide=1</a:t>
            </a:r>
          </a:p>
        </p:txBody>
      </p:sp>
      <p:sp>
        <p:nvSpPr>
          <p:cNvPr id="5" name="スライド番号プレースホルダー 4">
            <a:extLst>
              <a:ext uri="{FF2B5EF4-FFF2-40B4-BE49-F238E27FC236}">
                <a16:creationId xmlns:a16="http://schemas.microsoft.com/office/drawing/2014/main" id="{8375D67F-05E8-7395-AF0E-D5AB08DE2637}"/>
              </a:ext>
            </a:extLst>
          </p:cNvPr>
          <p:cNvSpPr>
            <a:spLocks noGrp="1"/>
          </p:cNvSpPr>
          <p:nvPr>
            <p:ph type="sldNum" sz="quarter" idx="12"/>
          </p:nvPr>
        </p:nvSpPr>
        <p:spPr/>
        <p:txBody>
          <a:bodyPr/>
          <a:lstStyle/>
          <a:p>
            <a:fld id="{48F63A3B-78C7-47BE-AE5E-E10140E04643}" type="slidenum">
              <a:rPr lang="en-US" dirty="0"/>
              <a:t>6</a:t>
            </a:fld>
            <a:endParaRPr lang="ja-JP" altLang="en-US"/>
          </a:p>
        </p:txBody>
      </p:sp>
    </p:spTree>
    <p:extLst>
      <p:ext uri="{BB962C8B-B14F-4D97-AF65-F5344CB8AC3E}">
        <p14:creationId xmlns:p14="http://schemas.microsoft.com/office/powerpoint/2010/main" val="176073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1485361" cy="1569660"/>
          </a:xfrm>
          <a:prstGeom prst="rect">
            <a:avLst/>
          </a:prstGeom>
          <a:noFill/>
        </p:spPr>
        <p:txBody>
          <a:bodyPr wrap="square" lIns="91440" tIns="45720" rIns="91440" bIns="45720" rtlCol="0" anchor="t">
            <a:spAutoFit/>
          </a:bodyPr>
          <a:lstStyle/>
          <a:p>
            <a:pPr marL="457200" indent="-457200">
              <a:buFont typeface="Arial"/>
              <a:buChar char="•"/>
            </a:pPr>
            <a:r>
              <a:rPr lang="en-US" altLang="ja-JP" sz="3200" dirty="0">
                <a:latin typeface="MS PGothic"/>
                <a:ea typeface="MS PGothic"/>
                <a:cs typeface="+mn-lt"/>
              </a:rPr>
              <a:t>LabelImg</a:t>
            </a:r>
            <a:r>
              <a:rPr lang="ja-JP" altLang="en-US" sz="3200">
                <a:latin typeface="MS PGothic"/>
                <a:ea typeface="MS PGothic"/>
                <a:cs typeface="+mn-lt"/>
              </a:rPr>
              <a:t>とは</a:t>
            </a:r>
            <a:endParaRPr lang="ja-JP" altLang="en-US">
              <a:latin typeface="MS PGothic"/>
              <a:ea typeface="MS PGothic"/>
            </a:endParaRPr>
          </a:p>
          <a:p>
            <a:r>
              <a:rPr lang="ja-JP" altLang="en-US" sz="3200">
                <a:latin typeface="MS PGothic"/>
                <a:ea typeface="MS PGothic"/>
                <a:cs typeface="+mn-lt"/>
              </a:rPr>
              <a:t>物体や人を認識して座標まで出力してくれる物体検出モデルに学習させるためのデータ作成（アノテーション）に用いられる</a:t>
            </a:r>
            <a:endParaRPr lang="ja-JP" altLang="en-US">
              <a:latin typeface="MS PGothic"/>
              <a:ea typeface="MS PGothic"/>
              <a:cs typeface="+mn-lt"/>
            </a:endParaRP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60051"/>
            <a:ext cx="10716159" cy="692497"/>
          </a:xfrm>
          <a:prstGeom prst="rect">
            <a:avLst/>
          </a:prstGeom>
          <a:noFill/>
        </p:spPr>
        <p:txBody>
          <a:bodyPr wrap="square" lIns="91440" tIns="45720" rIns="91440" bIns="45720" rtlCol="0" anchor="t">
            <a:spAutoFit/>
          </a:bodyPr>
          <a:lstStyle/>
          <a:p>
            <a:r>
              <a:rPr kumimoji="1" lang="ja-JP" altLang="en-US" sz="5400">
                <a:ea typeface="ＭＳ Ｐゴシック"/>
              </a:rPr>
              <a:t>研究の概要（labelImgについて）</a:t>
            </a:r>
          </a:p>
        </p:txBody>
      </p:sp>
      <p:pic>
        <p:nvPicPr>
          <p:cNvPr id="2" name="図 3" descr="ロゴ が含まれている画像&#10;&#10;説明は自動で生成されたものです">
            <a:extLst>
              <a:ext uri="{FF2B5EF4-FFF2-40B4-BE49-F238E27FC236}">
                <a16:creationId xmlns:a16="http://schemas.microsoft.com/office/drawing/2014/main" id="{381E4026-6AF8-94D7-849B-258F28066997}"/>
              </a:ext>
            </a:extLst>
          </p:cNvPr>
          <p:cNvPicPr>
            <a:picLocks noChangeAspect="1"/>
          </p:cNvPicPr>
          <p:nvPr/>
        </p:nvPicPr>
        <p:blipFill>
          <a:blip r:embed="rId3"/>
          <a:stretch>
            <a:fillRect/>
          </a:stretch>
        </p:blipFill>
        <p:spPr>
          <a:xfrm>
            <a:off x="8217917" y="3488648"/>
            <a:ext cx="2812569" cy="2826947"/>
          </a:xfrm>
          <a:prstGeom prst="rect">
            <a:avLst/>
          </a:prstGeom>
        </p:spPr>
      </p:pic>
      <p:sp>
        <p:nvSpPr>
          <p:cNvPr id="4" name="テキスト ボックス 3">
            <a:extLst>
              <a:ext uri="{FF2B5EF4-FFF2-40B4-BE49-F238E27FC236}">
                <a16:creationId xmlns:a16="http://schemas.microsoft.com/office/drawing/2014/main" id="{0B5DA9CD-3E5C-9998-F6C8-F7BCE81C6735}"/>
              </a:ext>
            </a:extLst>
          </p:cNvPr>
          <p:cNvSpPr txBox="1"/>
          <p:nvPr/>
        </p:nvSpPr>
        <p:spPr>
          <a:xfrm>
            <a:off x="360108" y="6306268"/>
            <a:ext cx="624687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mn-lt"/>
                <a:cs typeface="+mn-lt"/>
              </a:rPr>
              <a:t>画像参照：</a:t>
            </a:r>
            <a:r>
              <a:rPr lang="en-US" altLang="ja-JP">
                <a:ea typeface="+mn-lt"/>
                <a:cs typeface="+mn-lt"/>
                <a:hlinkClick r:id="rId4"/>
              </a:rPr>
              <a:t>https://www.crunchbase.com/organization/labelimg</a:t>
            </a:r>
            <a:endParaRPr lang="en-US" altLang="ja-JP">
              <a:ea typeface="+mn-lt"/>
              <a:cs typeface="+mn-lt"/>
            </a:endParaRPr>
          </a:p>
        </p:txBody>
      </p:sp>
      <p:sp>
        <p:nvSpPr>
          <p:cNvPr id="3" name="スライド番号プレースホルダー 2">
            <a:extLst>
              <a:ext uri="{FF2B5EF4-FFF2-40B4-BE49-F238E27FC236}">
                <a16:creationId xmlns:a16="http://schemas.microsoft.com/office/drawing/2014/main" id="{88454EBE-532A-8A10-F243-7A7A0A9704A0}"/>
              </a:ext>
            </a:extLst>
          </p:cNvPr>
          <p:cNvSpPr>
            <a:spLocks noGrp="1"/>
          </p:cNvSpPr>
          <p:nvPr>
            <p:ph type="sldNum" sz="quarter" idx="12"/>
          </p:nvPr>
        </p:nvSpPr>
        <p:spPr/>
        <p:txBody>
          <a:bodyPr/>
          <a:lstStyle/>
          <a:p>
            <a:fld id="{48F63A3B-78C7-47BE-AE5E-E10140E04643}" type="slidenum">
              <a:rPr lang="en-US" dirty="0"/>
              <a:t>7</a:t>
            </a:fld>
            <a:endParaRPr lang="ja-JP" altLang="en-US"/>
          </a:p>
        </p:txBody>
      </p:sp>
    </p:spTree>
    <p:extLst>
      <p:ext uri="{BB962C8B-B14F-4D97-AF65-F5344CB8AC3E}">
        <p14:creationId xmlns:p14="http://schemas.microsoft.com/office/powerpoint/2010/main" val="392781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1485361" cy="1569660"/>
          </a:xfrm>
          <a:prstGeom prst="rect">
            <a:avLst/>
          </a:prstGeom>
          <a:noFill/>
        </p:spPr>
        <p:txBody>
          <a:bodyPr wrap="square" lIns="91440" tIns="45720" rIns="91440" bIns="45720" rtlCol="0" anchor="t">
            <a:spAutoFit/>
          </a:bodyPr>
          <a:lstStyle/>
          <a:p>
            <a:pPr marL="457200" indent="-457200">
              <a:buFont typeface="Arial"/>
              <a:buChar char="•"/>
            </a:pPr>
            <a:r>
              <a:rPr lang="en-US" altLang="ja-JP" sz="3200" dirty="0">
                <a:latin typeface="MS PGothic"/>
                <a:ea typeface="MS PGothic"/>
                <a:cs typeface="+mn-lt"/>
              </a:rPr>
              <a:t>YOLO</a:t>
            </a:r>
            <a:r>
              <a:rPr lang="ja-JP" altLang="en-US" sz="3200">
                <a:latin typeface="MS PGothic"/>
                <a:ea typeface="MS PGothic"/>
                <a:cs typeface="+mn-lt"/>
              </a:rPr>
              <a:t>は</a:t>
            </a:r>
            <a:r>
              <a:rPr lang="en-US" altLang="ja-JP" sz="3200" dirty="0">
                <a:latin typeface="MS PGothic"/>
                <a:ea typeface="MS PGothic"/>
                <a:cs typeface="+mn-lt"/>
              </a:rPr>
              <a:t>You Only Look Once</a:t>
            </a:r>
            <a:r>
              <a:rPr lang="ja-JP" altLang="en-US" sz="3200">
                <a:latin typeface="MS PGothic"/>
                <a:ea typeface="MS PGothic"/>
                <a:cs typeface="+mn-lt"/>
              </a:rPr>
              <a:t>（見るのは一度きり）の頭文字</a:t>
            </a:r>
            <a:endParaRPr lang="ja-JP" altLang="en-US">
              <a:latin typeface="MS PGothic"/>
              <a:ea typeface="MS PGothic"/>
              <a:cs typeface="+mn-lt"/>
            </a:endParaRPr>
          </a:p>
          <a:p>
            <a:pPr marL="457200" indent="-457200">
              <a:buFont typeface="Arial"/>
              <a:buChar char="•"/>
            </a:pPr>
            <a:endParaRPr lang="ja-JP" altLang="en-US" sz="3200">
              <a:latin typeface="MS PGothic"/>
              <a:ea typeface="MS PGothic"/>
              <a:cs typeface="+mn-lt"/>
            </a:endParaRPr>
          </a:p>
          <a:p>
            <a:pPr marL="457200" indent="-457200">
              <a:buFont typeface="Arial"/>
              <a:buChar char="•"/>
            </a:pPr>
            <a:r>
              <a:rPr lang="ja-JP" altLang="en-US" sz="3200">
                <a:latin typeface="MS PGothic"/>
                <a:ea typeface="MS PGothic"/>
                <a:cs typeface="+mn-lt"/>
              </a:rPr>
              <a:t>処理速度が非常に早くリアルタイムで物体検出できる</a:t>
            </a:r>
            <a:endParaRPr lang="ja-JP" altLang="en-US">
              <a:latin typeface="MS PGothic"/>
              <a:ea typeface="MS PGothic"/>
              <a:cs typeface="Calibri" panose="020F0502020204030204"/>
            </a:endParaRP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48419"/>
            <a:ext cx="9928891" cy="923330"/>
          </a:xfrm>
          <a:prstGeom prst="rect">
            <a:avLst/>
          </a:prstGeom>
          <a:noFill/>
        </p:spPr>
        <p:txBody>
          <a:bodyPr wrap="square" lIns="91440" tIns="45720" rIns="91440" bIns="45720" rtlCol="0" anchor="t">
            <a:spAutoFit/>
          </a:bodyPr>
          <a:lstStyle/>
          <a:p>
            <a:r>
              <a:rPr kumimoji="1" lang="ja-JP" altLang="en-US" sz="5400">
                <a:latin typeface="MS PGothic"/>
                <a:ea typeface="MS PGothic"/>
              </a:rPr>
              <a:t>研究の概要（</a:t>
            </a:r>
            <a:r>
              <a:rPr kumimoji="1" lang="en-US" altLang="ja-JP" sz="5400">
                <a:latin typeface="MS PGothic"/>
                <a:ea typeface="游ゴシック"/>
              </a:rPr>
              <a:t>YOLOv5</a:t>
            </a:r>
            <a:r>
              <a:rPr kumimoji="1" lang="ja-JP" altLang="en-US" sz="5400">
                <a:latin typeface="MS PGothic"/>
                <a:ea typeface="MS PGothic"/>
              </a:rPr>
              <a:t>について）</a:t>
            </a:r>
            <a:endParaRPr lang="ja-JP" altLang="en-US" sz="5400">
              <a:latin typeface="MS PGothic"/>
              <a:ea typeface="MS PGothic"/>
            </a:endParaRPr>
          </a:p>
        </p:txBody>
      </p:sp>
      <p:pic>
        <p:nvPicPr>
          <p:cNvPr id="5" name="図 4">
            <a:extLst>
              <a:ext uri="{FF2B5EF4-FFF2-40B4-BE49-F238E27FC236}">
                <a16:creationId xmlns:a16="http://schemas.microsoft.com/office/drawing/2014/main" id="{E907BA28-C202-55F7-1B09-2127A9CE04EA}"/>
              </a:ext>
            </a:extLst>
          </p:cNvPr>
          <p:cNvPicPr>
            <a:picLocks noChangeAspect="1"/>
          </p:cNvPicPr>
          <p:nvPr/>
        </p:nvPicPr>
        <p:blipFill>
          <a:blip r:embed="rId3"/>
          <a:stretch>
            <a:fillRect/>
          </a:stretch>
        </p:blipFill>
        <p:spPr>
          <a:xfrm>
            <a:off x="867860" y="4303555"/>
            <a:ext cx="4564260" cy="1244798"/>
          </a:xfrm>
          <a:prstGeom prst="rect">
            <a:avLst/>
          </a:prstGeom>
        </p:spPr>
      </p:pic>
      <p:pic>
        <p:nvPicPr>
          <p:cNvPr id="1033" name="Picture 9" descr="yolov5">
            <a:extLst>
              <a:ext uri="{FF2B5EF4-FFF2-40B4-BE49-F238E27FC236}">
                <a16:creationId xmlns:a16="http://schemas.microsoft.com/office/drawing/2014/main" id="{25ED17C7-FF6F-CDC5-FBD1-3F645B91E5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362" y="3538790"/>
            <a:ext cx="4148667" cy="2764049"/>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ボックス 1">
            <a:extLst>
              <a:ext uri="{FF2B5EF4-FFF2-40B4-BE49-F238E27FC236}">
                <a16:creationId xmlns:a16="http://schemas.microsoft.com/office/drawing/2014/main" id="{10F4B88B-13E4-CE25-5161-E7E8277E8842}"/>
              </a:ext>
            </a:extLst>
          </p:cNvPr>
          <p:cNvSpPr txBox="1"/>
          <p:nvPr/>
        </p:nvSpPr>
        <p:spPr>
          <a:xfrm>
            <a:off x="178802" y="6309789"/>
            <a:ext cx="123015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latin typeface="MS PGothic"/>
                <a:ea typeface="MS PGothic"/>
                <a:cs typeface="+mn-lt"/>
              </a:rPr>
              <a:t>画像参照：</a:t>
            </a:r>
            <a:r>
              <a:rPr lang="en-US">
                <a:ea typeface="+mn-lt"/>
                <a:cs typeface="+mn-lt"/>
                <a:hlinkClick r:id="rId5"/>
              </a:rPr>
              <a:t>https://kagglenote.com/ml-tips/yolov5/</a:t>
            </a:r>
            <a:r>
              <a:rPr lang="en-US">
                <a:ea typeface="+mn-lt"/>
                <a:cs typeface="+mn-lt"/>
              </a:rPr>
              <a:t>,</a:t>
            </a:r>
            <a:r>
              <a:rPr lang="en-US">
                <a:latin typeface="Calibri"/>
                <a:ea typeface="+mn-lt"/>
                <a:cs typeface="+mn-lt"/>
              </a:rPr>
              <a:t> </a:t>
            </a:r>
            <a:r>
              <a:rPr lang="en-US" altLang="ja-JP">
                <a:latin typeface="Calibri"/>
                <a:ea typeface="+mn-lt"/>
                <a:cs typeface="+mn-lt"/>
                <a:hlinkClick r:id="rId6"/>
              </a:rPr>
              <a:t>https://wiki.seeedstudio.com/YOLOv5-Object-Detection-Jetson/</a:t>
            </a:r>
            <a:endParaRPr lang="ja-JP" altLang="en-US">
              <a:latin typeface="Calibri"/>
              <a:ea typeface="MS PGothic"/>
              <a:cs typeface="+mn-lt"/>
            </a:endParaRPr>
          </a:p>
        </p:txBody>
      </p:sp>
      <p:sp>
        <p:nvSpPr>
          <p:cNvPr id="3" name="テキスト ボックス 2">
            <a:extLst>
              <a:ext uri="{FF2B5EF4-FFF2-40B4-BE49-F238E27FC236}">
                <a16:creationId xmlns:a16="http://schemas.microsoft.com/office/drawing/2014/main" id="{3299D1AD-7782-0398-259E-C3A46FA52E33}"/>
              </a:ext>
            </a:extLst>
          </p:cNvPr>
          <p:cNvSpPr txBox="1"/>
          <p:nvPr/>
        </p:nvSpPr>
        <p:spPr>
          <a:xfrm>
            <a:off x="1200149" y="6057900"/>
            <a:ext cx="180975" cy="3619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ja-JP" altLang="en-US"/>
          </a:p>
        </p:txBody>
      </p:sp>
      <p:sp>
        <p:nvSpPr>
          <p:cNvPr id="4" name="テキスト ボックス 3">
            <a:extLst>
              <a:ext uri="{FF2B5EF4-FFF2-40B4-BE49-F238E27FC236}">
                <a16:creationId xmlns:a16="http://schemas.microsoft.com/office/drawing/2014/main" id="{8C2879DA-D3B5-E23B-4C7B-751C89EB0C43}"/>
              </a:ext>
            </a:extLst>
          </p:cNvPr>
          <p:cNvSpPr txBox="1"/>
          <p:nvPr/>
        </p:nvSpPr>
        <p:spPr>
          <a:xfrm>
            <a:off x="346494" y="5932097"/>
            <a:ext cx="53568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ja-JP" altLang="en-US">
              <a:ea typeface="+mn-lt"/>
              <a:cs typeface="+mn-lt"/>
            </a:endParaRPr>
          </a:p>
        </p:txBody>
      </p:sp>
      <p:sp>
        <p:nvSpPr>
          <p:cNvPr id="7" name="スライド番号プレースホルダー 6">
            <a:extLst>
              <a:ext uri="{FF2B5EF4-FFF2-40B4-BE49-F238E27FC236}">
                <a16:creationId xmlns:a16="http://schemas.microsoft.com/office/drawing/2014/main" id="{786A507F-41F0-90FF-BEED-BA233C61A6CC}"/>
              </a:ext>
            </a:extLst>
          </p:cNvPr>
          <p:cNvSpPr>
            <a:spLocks noGrp="1"/>
          </p:cNvSpPr>
          <p:nvPr>
            <p:ph type="sldNum" sz="quarter" idx="12"/>
          </p:nvPr>
        </p:nvSpPr>
        <p:spPr/>
        <p:txBody>
          <a:bodyPr/>
          <a:lstStyle/>
          <a:p>
            <a:fld id="{48F63A3B-78C7-47BE-AE5E-E10140E04643}" type="slidenum">
              <a:rPr lang="en-US" dirty="0"/>
              <a:t>8</a:t>
            </a:fld>
            <a:endParaRPr lang="ja-JP" altLang="en-US"/>
          </a:p>
        </p:txBody>
      </p:sp>
    </p:spTree>
    <p:extLst>
      <p:ext uri="{BB962C8B-B14F-4D97-AF65-F5344CB8AC3E}">
        <p14:creationId xmlns:p14="http://schemas.microsoft.com/office/powerpoint/2010/main" val="302536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1485361" cy="2554545"/>
          </a:xfrm>
          <a:prstGeom prst="rect">
            <a:avLst/>
          </a:prstGeom>
          <a:noFill/>
        </p:spPr>
        <p:txBody>
          <a:bodyPr wrap="square" lIns="91440" tIns="45720" rIns="91440" bIns="45720" rtlCol="0" anchor="t">
            <a:spAutoFit/>
          </a:bodyPr>
          <a:lstStyle/>
          <a:p>
            <a:pPr marL="457200" indent="-457200">
              <a:buFont typeface="Arial"/>
              <a:buChar char="•"/>
            </a:pPr>
            <a:r>
              <a:rPr lang="ja-JP" altLang="en-US" sz="3200">
                <a:latin typeface="MS PGothic"/>
                <a:ea typeface="MS PGothic"/>
                <a:cs typeface="Courier New"/>
              </a:rPr>
              <a:t>機械学習に用いる画像データを集める際にペンを一つに決める必要がある</a:t>
            </a:r>
            <a:endParaRPr lang="en-US" altLang="ja-JP" sz="3200" b="1">
              <a:latin typeface="MS PGothic"/>
              <a:ea typeface="MS PGothic"/>
              <a:cs typeface="Courier New"/>
            </a:endParaRPr>
          </a:p>
          <a:p>
            <a:pPr marL="457200" indent="-457200">
              <a:buFont typeface="Arial"/>
              <a:buChar char="•"/>
            </a:pPr>
            <a:endParaRPr lang="ja-JP" altLang="en-US" sz="3200">
              <a:latin typeface="MS PGothic"/>
              <a:ea typeface="MS PGothic"/>
              <a:cs typeface="Courier New"/>
            </a:endParaRPr>
          </a:p>
          <a:p>
            <a:pPr marL="457200" indent="-457200">
              <a:buFont typeface="Arial"/>
              <a:buChar char="•"/>
            </a:pPr>
            <a:r>
              <a:rPr lang="ja-JP" altLang="en-US" sz="3200">
                <a:latin typeface="MS PGothic"/>
                <a:ea typeface="MS PGothic"/>
                <a:cs typeface="Courier New"/>
              </a:rPr>
              <a:t>ペンは検出がしやすく誤検出が少ない</a:t>
            </a:r>
            <a:endParaRPr lang="ja-JP" altLang="en-US">
              <a:latin typeface="MS PGothic"/>
              <a:ea typeface="MS PGothic"/>
            </a:endParaRPr>
          </a:p>
          <a:p>
            <a:r>
              <a:rPr lang="ja-JP" altLang="en-US" sz="3200">
                <a:latin typeface="MS PGothic"/>
                <a:ea typeface="MS PGothic"/>
                <a:cs typeface="Courier New"/>
              </a:rPr>
              <a:t>　→特徴的な形で青色の大きなペン</a:t>
            </a:r>
            <a:endParaRPr lang="ja-JP" altLang="en-US">
              <a:latin typeface="MS PGothic"/>
              <a:ea typeface="MS PGothic"/>
            </a:endParaRP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48419"/>
            <a:ext cx="10591147" cy="923330"/>
          </a:xfrm>
          <a:prstGeom prst="rect">
            <a:avLst/>
          </a:prstGeom>
          <a:noFill/>
        </p:spPr>
        <p:txBody>
          <a:bodyPr wrap="square" lIns="91440" tIns="45720" rIns="91440" bIns="45720" rtlCol="0" anchor="t">
            <a:spAutoFit/>
          </a:bodyPr>
          <a:lstStyle/>
          <a:p>
            <a:r>
              <a:rPr kumimoji="1" lang="ja-JP" altLang="en-US" sz="5400">
                <a:latin typeface="MS PGothic"/>
                <a:ea typeface="MS PGothic"/>
              </a:rPr>
              <a:t>研究の概要（ペンについて）</a:t>
            </a:r>
            <a:endParaRPr lang="ja-JP" altLang="en-US" sz="5400">
              <a:latin typeface="MS PGothic"/>
              <a:ea typeface="MS PGothic"/>
            </a:endParaRPr>
          </a:p>
        </p:txBody>
      </p:sp>
      <p:pic>
        <p:nvPicPr>
          <p:cNvPr id="2050" name="Picture 2" descr="PITHECUS ペン回し 専用ペン 改造ペン ペン回し用のペン 人気 ペン回し用改造ペン (青)  :20220111141411-00118:ケーディーラインストア - 通販 - Yahoo!ショッピング">
            <a:extLst>
              <a:ext uri="{FF2B5EF4-FFF2-40B4-BE49-F238E27FC236}">
                <a16:creationId xmlns:a16="http://schemas.microsoft.com/office/drawing/2014/main" id="{78C61811-F0AE-6489-C784-72879ADE9A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4696" y="3725323"/>
            <a:ext cx="2818860" cy="2790105"/>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4C7F2527-F77D-8AD1-6D1A-A65A3D8B3F09}"/>
              </a:ext>
            </a:extLst>
          </p:cNvPr>
          <p:cNvSpPr txBox="1"/>
          <p:nvPr/>
        </p:nvSpPr>
        <p:spPr>
          <a:xfrm>
            <a:off x="354941" y="6333002"/>
            <a:ext cx="457438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mn-lt"/>
                <a:cs typeface="+mn-lt"/>
              </a:rPr>
              <a:t>画像参照：</a:t>
            </a:r>
            <a:r>
              <a:rPr lang="en-US" altLang="ja-JP">
                <a:ea typeface="+mn-lt"/>
                <a:cs typeface="+mn-lt"/>
                <a:hlinkClick r:id="rId4"/>
              </a:rPr>
              <a:t>https://amzn.asia/d/4Hf9YPx</a:t>
            </a:r>
            <a:endParaRPr lang="ja-JP" altLang="en-US">
              <a:ea typeface="+mn-lt"/>
              <a:cs typeface="+mn-lt"/>
            </a:endParaRPr>
          </a:p>
        </p:txBody>
      </p:sp>
      <p:sp>
        <p:nvSpPr>
          <p:cNvPr id="2" name="スライド番号プレースホルダー 1">
            <a:extLst>
              <a:ext uri="{FF2B5EF4-FFF2-40B4-BE49-F238E27FC236}">
                <a16:creationId xmlns:a16="http://schemas.microsoft.com/office/drawing/2014/main" id="{4E099F99-AE5F-1E7E-27E9-0B6CD2D172D6}"/>
              </a:ext>
            </a:extLst>
          </p:cNvPr>
          <p:cNvSpPr>
            <a:spLocks noGrp="1"/>
          </p:cNvSpPr>
          <p:nvPr>
            <p:ph type="sldNum" sz="quarter" idx="12"/>
          </p:nvPr>
        </p:nvSpPr>
        <p:spPr/>
        <p:txBody>
          <a:bodyPr/>
          <a:lstStyle/>
          <a:p>
            <a:fld id="{48F63A3B-78C7-47BE-AE5E-E10140E04643}" type="slidenum">
              <a:rPr lang="en-US" dirty="0"/>
              <a:t>9</a:t>
            </a:fld>
            <a:endParaRPr lang="ja-JP" altLang="en-US"/>
          </a:p>
        </p:txBody>
      </p:sp>
    </p:spTree>
    <p:extLst>
      <p:ext uri="{BB962C8B-B14F-4D97-AF65-F5344CB8AC3E}">
        <p14:creationId xmlns:p14="http://schemas.microsoft.com/office/powerpoint/2010/main" val="3239861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0713592" cy="4031873"/>
          </a:xfrm>
          <a:prstGeom prst="rect">
            <a:avLst/>
          </a:prstGeom>
          <a:noFill/>
        </p:spPr>
        <p:txBody>
          <a:bodyPr wrap="square" lIns="91440" tIns="45720" rIns="91440" bIns="45720" rtlCol="0" anchor="t">
            <a:spAutoFit/>
          </a:bodyPr>
          <a:lstStyle/>
          <a:p>
            <a:pPr marL="457200" indent="-457200">
              <a:buFont typeface="Arial"/>
              <a:buChar char="•"/>
            </a:pPr>
            <a:r>
              <a:rPr lang="ja-JP" altLang="en-US" sz="3200">
                <a:latin typeface="MS PGothic"/>
                <a:ea typeface="MS PGothic"/>
                <a:cs typeface="Courier New"/>
              </a:rPr>
              <a:t>300枚ほど撮影を行いアノテーションしたデータの内</a:t>
            </a:r>
            <a:r>
              <a:rPr lang="en-US" sz="3200" dirty="0">
                <a:latin typeface="MS PGothic"/>
                <a:ea typeface="+mn-lt"/>
                <a:cs typeface="Courier New"/>
              </a:rPr>
              <a:t>250</a:t>
            </a:r>
            <a:r>
              <a:rPr lang="ja-JP" altLang="en-US" sz="3200">
                <a:latin typeface="MS PGothic"/>
                <a:ea typeface="MS PGothic"/>
                <a:cs typeface="Courier New"/>
              </a:rPr>
              <a:t>枚を教師データ、</a:t>
            </a:r>
            <a:r>
              <a:rPr lang="en-US" sz="3200" dirty="0">
                <a:latin typeface="MS PGothic"/>
                <a:ea typeface="+mn-lt"/>
                <a:cs typeface="Courier New"/>
              </a:rPr>
              <a:t>50</a:t>
            </a:r>
            <a:r>
              <a:rPr lang="ja-JP" altLang="en-US" sz="3200">
                <a:latin typeface="MS PGothic"/>
                <a:ea typeface="MS PGothic"/>
                <a:cs typeface="Courier New"/>
              </a:rPr>
              <a:t>枚を評価データとした</a:t>
            </a:r>
            <a:endParaRPr lang="en-US" sz="3200">
              <a:latin typeface="MS PGothic"/>
              <a:ea typeface="+mn-lt"/>
              <a:cs typeface="+mn-lt"/>
            </a:endParaRPr>
          </a:p>
          <a:p>
            <a:pPr marL="457200" indent="-457200">
              <a:buFont typeface="Arial"/>
              <a:buChar char="•"/>
            </a:pPr>
            <a:endParaRPr lang="ja-JP" altLang="en-US" sz="3200">
              <a:latin typeface="MS PGothic"/>
              <a:ea typeface="MS PGothic"/>
              <a:cs typeface="Courier New"/>
            </a:endParaRPr>
          </a:p>
          <a:p>
            <a:pPr marL="457200" indent="-457200">
              <a:buFont typeface="Arial"/>
              <a:buChar char="•"/>
            </a:pPr>
            <a:r>
              <a:rPr lang="ja-JP" altLang="en-US" sz="3200">
                <a:latin typeface="MS PGothic"/>
                <a:ea typeface="MS PGothic"/>
                <a:cs typeface="Courier New"/>
              </a:rPr>
              <a:t>最終的にバッチサイズを8、エポック数を200、重みの種類をmとして学習を行った</a:t>
            </a:r>
          </a:p>
          <a:p>
            <a:pPr marL="457200" indent="-457200">
              <a:buFont typeface="Arial"/>
              <a:buChar char="•"/>
            </a:pPr>
            <a:endParaRPr lang="ja-JP" altLang="en-US" sz="3200" dirty="0">
              <a:latin typeface="MS PGothic"/>
              <a:ea typeface="MS PGothic"/>
              <a:cs typeface="Courier New"/>
            </a:endParaRPr>
          </a:p>
          <a:p>
            <a:pPr marL="457200" indent="-457200">
              <a:buFont typeface="Arial"/>
              <a:buChar char="•"/>
            </a:pPr>
            <a:r>
              <a:rPr lang="ja-JP" altLang="en-US" sz="3200">
                <a:latin typeface="MS PGothic"/>
                <a:ea typeface="MS PGothic"/>
                <a:cs typeface="Courier New"/>
              </a:rPr>
              <a:t>学習時間は約5時間</a:t>
            </a:r>
            <a:endParaRPr lang="ja-JP" altLang="en-US" sz="3200" dirty="0">
              <a:latin typeface="MS PGothic"/>
              <a:ea typeface="MS PGothic"/>
              <a:cs typeface="Courier New"/>
            </a:endParaRPr>
          </a:p>
          <a:p>
            <a:pPr marL="457200" indent="-457200">
              <a:buFont typeface="Arial"/>
              <a:buChar char="•"/>
            </a:pPr>
            <a:endParaRPr lang="ja-JP" altLang="en-US" sz="3200" dirty="0">
              <a:latin typeface="MS PGothic"/>
              <a:ea typeface="MS PGothic"/>
              <a:cs typeface="Courier New"/>
            </a:endParaRP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60050"/>
            <a:ext cx="9997292" cy="692497"/>
          </a:xfrm>
          <a:prstGeom prst="rect">
            <a:avLst/>
          </a:prstGeom>
          <a:noFill/>
        </p:spPr>
        <p:txBody>
          <a:bodyPr wrap="square" lIns="91440" tIns="45720" rIns="91440" bIns="45720" rtlCol="0" anchor="t">
            <a:spAutoFit/>
          </a:bodyPr>
          <a:lstStyle/>
          <a:p>
            <a:r>
              <a:rPr kumimoji="1" lang="ja-JP" altLang="en-US" sz="5400">
                <a:ea typeface="ＭＳ Ｐゴシック"/>
              </a:rPr>
              <a:t>研究の概要（機械学習について）</a:t>
            </a:r>
          </a:p>
        </p:txBody>
      </p:sp>
      <p:sp>
        <p:nvSpPr>
          <p:cNvPr id="2" name="スライド番号プレースホルダー 1">
            <a:extLst>
              <a:ext uri="{FF2B5EF4-FFF2-40B4-BE49-F238E27FC236}">
                <a16:creationId xmlns:a16="http://schemas.microsoft.com/office/drawing/2014/main" id="{ED4AF892-D295-7430-300D-F03DE2CE48AC}"/>
              </a:ext>
            </a:extLst>
          </p:cNvPr>
          <p:cNvSpPr>
            <a:spLocks noGrp="1"/>
          </p:cNvSpPr>
          <p:nvPr>
            <p:ph type="sldNum" sz="quarter" idx="12"/>
          </p:nvPr>
        </p:nvSpPr>
        <p:spPr/>
        <p:txBody>
          <a:bodyPr/>
          <a:lstStyle/>
          <a:p>
            <a:fld id="{48F63A3B-78C7-47BE-AE5E-E10140E04643}" type="slidenum">
              <a:rPr lang="en-US" dirty="0"/>
              <a:t>10</a:t>
            </a:fld>
            <a:endParaRPr lang="ja-JP" altLang="en-US"/>
          </a:p>
        </p:txBody>
      </p:sp>
      <p:pic>
        <p:nvPicPr>
          <p:cNvPr id="8" name="図 9">
            <a:extLst>
              <a:ext uri="{FF2B5EF4-FFF2-40B4-BE49-F238E27FC236}">
                <a16:creationId xmlns:a16="http://schemas.microsoft.com/office/drawing/2014/main" id="{62D6820F-3DE9-A89A-5242-B4CC0FF85FF7}"/>
              </a:ext>
            </a:extLst>
          </p:cNvPr>
          <p:cNvPicPr>
            <a:picLocks noChangeAspect="1"/>
          </p:cNvPicPr>
          <p:nvPr/>
        </p:nvPicPr>
        <p:blipFill>
          <a:blip r:embed="rId3"/>
          <a:stretch>
            <a:fillRect/>
          </a:stretch>
        </p:blipFill>
        <p:spPr>
          <a:xfrm>
            <a:off x="6926893" y="4183470"/>
            <a:ext cx="3139858" cy="2363690"/>
          </a:xfrm>
          <a:prstGeom prst="rect">
            <a:avLst/>
          </a:prstGeom>
        </p:spPr>
      </p:pic>
    </p:spTree>
    <p:extLst>
      <p:ext uri="{BB962C8B-B14F-4D97-AF65-F5344CB8AC3E}">
        <p14:creationId xmlns:p14="http://schemas.microsoft.com/office/powerpoint/2010/main" val="1375668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0713592" cy="2554545"/>
          </a:xfrm>
          <a:prstGeom prst="rect">
            <a:avLst/>
          </a:prstGeom>
          <a:noFill/>
        </p:spPr>
        <p:txBody>
          <a:bodyPr wrap="square" lIns="91440" tIns="45720" rIns="91440" bIns="45720" rtlCol="0" anchor="t">
            <a:spAutoFit/>
          </a:bodyPr>
          <a:lstStyle/>
          <a:p>
            <a:pPr marL="457200" indent="-457200">
              <a:buFont typeface="Arial"/>
              <a:buChar char="•"/>
            </a:pPr>
            <a:r>
              <a:rPr lang="ja-JP" altLang="en-US" sz="3200">
                <a:latin typeface="MS PGothic"/>
                <a:ea typeface="MS PGothic"/>
                <a:cs typeface="Courier New"/>
              </a:rPr>
              <a:t>重みの種類とは、</a:t>
            </a:r>
            <a:r>
              <a:rPr lang="ja-JP" sz="3200">
                <a:latin typeface="MS PGothic"/>
                <a:ea typeface="MS PGothic"/>
                <a:cs typeface="+mn-lt"/>
              </a:rPr>
              <a:t>検出精度と演算負荷に応じて</a:t>
            </a:r>
            <a:r>
              <a:rPr lang="en-US" altLang="ja-JP" sz="3200" dirty="0">
                <a:latin typeface="MS PGothic"/>
                <a:ea typeface="MS PGothic"/>
                <a:cs typeface="+mn-lt"/>
              </a:rPr>
              <a:t>n、</a:t>
            </a:r>
            <a:r>
              <a:rPr lang="ja-JP" sz="3200">
                <a:latin typeface="MS PGothic"/>
                <a:ea typeface="MS PGothic"/>
                <a:cs typeface="+mn-lt"/>
              </a:rPr>
              <a:t>s、m、l、xまでの</a:t>
            </a:r>
            <a:r>
              <a:rPr lang="en-US" altLang="ja-JP" sz="3200" dirty="0">
                <a:latin typeface="MS PGothic"/>
                <a:ea typeface="MS PGothic"/>
                <a:cs typeface="+mn-lt"/>
              </a:rPr>
              <a:t>5</a:t>
            </a:r>
            <a:r>
              <a:rPr lang="ja-JP" sz="3200">
                <a:latin typeface="MS PGothic"/>
                <a:ea typeface="MS PGothic"/>
                <a:cs typeface="+mn-lt"/>
              </a:rPr>
              <a:t>モデル</a:t>
            </a:r>
            <a:endParaRPr lang="ja-JP" altLang="en-US" sz="3200">
              <a:latin typeface="MS PGothic"/>
              <a:ea typeface="MS PGothic"/>
              <a:cs typeface="+mn-lt"/>
            </a:endParaRPr>
          </a:p>
          <a:p>
            <a:pPr marL="457200" indent="-457200">
              <a:buFont typeface="Arial"/>
              <a:buChar char="•"/>
            </a:pPr>
            <a:endParaRPr lang="ja-JP" altLang="en-US" sz="3200" dirty="0">
              <a:latin typeface="MS PGothic"/>
              <a:ea typeface="MS PGothic"/>
              <a:cs typeface="Calibri"/>
            </a:endParaRPr>
          </a:p>
          <a:p>
            <a:pPr marL="457200" indent="-457200">
              <a:buFont typeface="Arial"/>
              <a:buChar char="•"/>
            </a:pPr>
            <a:r>
              <a:rPr lang="ja-JP" altLang="en-US" sz="3200">
                <a:latin typeface="MS PGothic"/>
                <a:ea typeface="MS PGothic"/>
                <a:cs typeface="Calibri"/>
              </a:rPr>
              <a:t>sとmで比べたところmで程よい精度と素早い検出が行えたためmを選んだ</a:t>
            </a: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60050"/>
            <a:ext cx="9997292" cy="923330"/>
          </a:xfrm>
          <a:prstGeom prst="rect">
            <a:avLst/>
          </a:prstGeom>
          <a:noFill/>
        </p:spPr>
        <p:txBody>
          <a:bodyPr wrap="square" lIns="91440" tIns="45720" rIns="91440" bIns="45720" rtlCol="0" anchor="t">
            <a:spAutoFit/>
          </a:bodyPr>
          <a:lstStyle/>
          <a:p>
            <a:r>
              <a:rPr kumimoji="1" lang="ja-JP" altLang="en-US" sz="5400">
                <a:ea typeface="ＭＳ Ｐゴシック"/>
              </a:rPr>
              <a:t>研究の概要（重みについて）</a:t>
            </a:r>
          </a:p>
        </p:txBody>
      </p:sp>
      <p:sp>
        <p:nvSpPr>
          <p:cNvPr id="2" name="スライド番号プレースホルダー 1">
            <a:extLst>
              <a:ext uri="{FF2B5EF4-FFF2-40B4-BE49-F238E27FC236}">
                <a16:creationId xmlns:a16="http://schemas.microsoft.com/office/drawing/2014/main" id="{ED4AF892-D295-7430-300D-F03DE2CE48AC}"/>
              </a:ext>
            </a:extLst>
          </p:cNvPr>
          <p:cNvSpPr>
            <a:spLocks noGrp="1"/>
          </p:cNvSpPr>
          <p:nvPr>
            <p:ph type="sldNum" sz="quarter" idx="12"/>
          </p:nvPr>
        </p:nvSpPr>
        <p:spPr/>
        <p:txBody>
          <a:bodyPr/>
          <a:lstStyle/>
          <a:p>
            <a:fld id="{48F63A3B-78C7-47BE-AE5E-E10140E04643}" type="slidenum">
              <a:rPr lang="en-US" dirty="0"/>
              <a:t>11</a:t>
            </a:fld>
            <a:endParaRPr lang="ja-JP" altLang="en-US"/>
          </a:p>
        </p:txBody>
      </p:sp>
      <p:pic>
        <p:nvPicPr>
          <p:cNvPr id="4" name="図 4" descr="ダイアグラム&#10;&#10;説明は自動で生成されたものです">
            <a:extLst>
              <a:ext uri="{FF2B5EF4-FFF2-40B4-BE49-F238E27FC236}">
                <a16:creationId xmlns:a16="http://schemas.microsoft.com/office/drawing/2014/main" id="{9675A7C5-D5C1-35A3-4395-B142CE89E74B}"/>
              </a:ext>
            </a:extLst>
          </p:cNvPr>
          <p:cNvPicPr>
            <a:picLocks noChangeAspect="1"/>
          </p:cNvPicPr>
          <p:nvPr/>
        </p:nvPicPr>
        <p:blipFill>
          <a:blip r:embed="rId3"/>
          <a:stretch>
            <a:fillRect/>
          </a:stretch>
        </p:blipFill>
        <p:spPr>
          <a:xfrm>
            <a:off x="1181100" y="4282879"/>
            <a:ext cx="5508684" cy="1927919"/>
          </a:xfrm>
          <a:prstGeom prst="rect">
            <a:avLst/>
          </a:prstGeom>
        </p:spPr>
      </p:pic>
      <p:sp>
        <p:nvSpPr>
          <p:cNvPr id="5" name="テキスト ボックス 4">
            <a:extLst>
              <a:ext uri="{FF2B5EF4-FFF2-40B4-BE49-F238E27FC236}">
                <a16:creationId xmlns:a16="http://schemas.microsoft.com/office/drawing/2014/main" id="{91C02AD5-D089-B6B0-73A7-A088CFDDF2F2}"/>
              </a:ext>
            </a:extLst>
          </p:cNvPr>
          <p:cNvSpPr txBox="1"/>
          <p:nvPr/>
        </p:nvSpPr>
        <p:spPr>
          <a:xfrm>
            <a:off x="352424" y="6334125"/>
            <a:ext cx="78009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游ゴシック"/>
                <a:cs typeface="Calibri"/>
              </a:rPr>
              <a:t>画像参照：</a:t>
            </a:r>
            <a:r>
              <a:rPr lang="ja-JP" u="sng">
                <a:solidFill>
                  <a:srgbClr val="0070C0"/>
                </a:solidFill>
                <a:ea typeface="+mn-lt"/>
                <a:cs typeface="+mn-lt"/>
              </a:rPr>
              <a:t>https://pytorch.org/hub/ultralytics_yolov5/</a:t>
            </a:r>
            <a:endParaRPr lang="ja-JP" altLang="en-US" u="sng">
              <a:solidFill>
                <a:srgbClr val="0070C0"/>
              </a:solidFill>
              <a:ea typeface="+mn-lt"/>
              <a:cs typeface="+mn-lt"/>
            </a:endParaRPr>
          </a:p>
        </p:txBody>
      </p:sp>
      <p:pic>
        <p:nvPicPr>
          <p:cNvPr id="3" name="図 6" descr="グラフ, 折れ線グラフ, 散布図&#10;&#10;説明は自動で生成されたものです">
            <a:extLst>
              <a:ext uri="{FF2B5EF4-FFF2-40B4-BE49-F238E27FC236}">
                <a16:creationId xmlns:a16="http://schemas.microsoft.com/office/drawing/2014/main" id="{D93E37B8-30BB-8276-5CA0-92ED91752127}"/>
              </a:ext>
            </a:extLst>
          </p:cNvPr>
          <p:cNvPicPr>
            <a:picLocks noChangeAspect="1"/>
          </p:cNvPicPr>
          <p:nvPr/>
        </p:nvPicPr>
        <p:blipFill>
          <a:blip r:embed="rId4"/>
          <a:stretch>
            <a:fillRect/>
          </a:stretch>
        </p:blipFill>
        <p:spPr>
          <a:xfrm>
            <a:off x="6686551" y="3838575"/>
            <a:ext cx="4752973" cy="2371724"/>
          </a:xfrm>
          <a:prstGeom prst="rect">
            <a:avLst/>
          </a:prstGeom>
        </p:spPr>
      </p:pic>
    </p:spTree>
    <p:extLst>
      <p:ext uri="{BB962C8B-B14F-4D97-AF65-F5344CB8AC3E}">
        <p14:creationId xmlns:p14="http://schemas.microsoft.com/office/powerpoint/2010/main" val="3807545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1485361" cy="2554545"/>
          </a:xfrm>
          <a:prstGeom prst="rect">
            <a:avLst/>
          </a:prstGeom>
          <a:noFill/>
        </p:spPr>
        <p:txBody>
          <a:bodyPr wrap="square" lIns="91440" tIns="45720" rIns="91440" bIns="45720" rtlCol="0" anchor="t">
            <a:spAutoFit/>
          </a:bodyPr>
          <a:lstStyle/>
          <a:p>
            <a:pPr marL="457200" indent="-457200">
              <a:buFont typeface="Arial"/>
              <a:buChar char="•"/>
            </a:pPr>
            <a:r>
              <a:rPr lang="ja-JP" altLang="en-US" sz="3200">
                <a:latin typeface="MS PGothic"/>
                <a:ea typeface="MS PGothic"/>
              </a:rPr>
              <a:t>手形状推定は</a:t>
            </a:r>
            <a:r>
              <a:rPr lang="en-US" altLang="ja-JP" sz="3200" dirty="0" err="1">
                <a:latin typeface="MS PGothic"/>
                <a:ea typeface="游ゴシック"/>
              </a:rPr>
              <a:t>MediaPipe</a:t>
            </a:r>
            <a:r>
              <a:rPr lang="ja-JP" altLang="en-US" sz="3200">
                <a:latin typeface="MS PGothic"/>
                <a:ea typeface="MS PGothic"/>
              </a:rPr>
              <a:t>のHandsを用いて実装できた</a:t>
            </a:r>
            <a:endParaRPr lang="en-US" altLang="ja-JP" sz="3200">
              <a:latin typeface="MS PGothic"/>
              <a:ea typeface="MS PGothic"/>
            </a:endParaRPr>
          </a:p>
          <a:p>
            <a:pPr marL="457200" indent="-457200">
              <a:buFont typeface="Arial"/>
              <a:buChar char="•"/>
            </a:pPr>
            <a:endParaRPr lang="en-US" altLang="ja-JP" sz="3200">
              <a:latin typeface="MS PGothic"/>
              <a:ea typeface="游ゴシック"/>
            </a:endParaRPr>
          </a:p>
          <a:p>
            <a:pPr marL="457200" indent="-457200">
              <a:buFont typeface="Arial"/>
              <a:buChar char="•"/>
            </a:pPr>
            <a:r>
              <a:rPr lang="ja-JP" altLang="en-US" sz="3200">
                <a:latin typeface="MS PGothic"/>
                <a:ea typeface="MS PGothic"/>
              </a:rPr>
              <a:t>物体検出は</a:t>
            </a:r>
            <a:r>
              <a:rPr lang="en-US" altLang="ja-JP" sz="3200" dirty="0">
                <a:latin typeface="MS PGothic"/>
                <a:ea typeface="游ゴシック"/>
              </a:rPr>
              <a:t>YOLOv5</a:t>
            </a:r>
            <a:r>
              <a:rPr lang="ja-JP" altLang="en-US" sz="3200">
                <a:latin typeface="MS PGothic"/>
                <a:ea typeface="MS PGothic"/>
              </a:rPr>
              <a:t>を用いて高い精度の検出モデルが出来た</a:t>
            </a:r>
            <a:endParaRPr lang="en-US" altLang="ja-JP" sz="3200">
              <a:latin typeface="MS PGothic"/>
              <a:ea typeface="MS PGothic"/>
            </a:endParaRPr>
          </a:p>
          <a:p>
            <a:pPr marL="457200" indent="-457200">
              <a:buFont typeface="Arial"/>
              <a:buChar char="•"/>
            </a:pPr>
            <a:endParaRPr lang="ja-JP" altLang="en-US" sz="3200" dirty="0">
              <a:latin typeface="MS PGothic"/>
              <a:ea typeface="MS PGothic"/>
            </a:endParaRPr>
          </a:p>
          <a:p>
            <a:pPr marL="457200" indent="-457200">
              <a:buFont typeface="Arial"/>
              <a:buChar char="•"/>
            </a:pPr>
            <a:r>
              <a:rPr lang="ja-JP" altLang="en-US" sz="3200">
                <a:latin typeface="MS PGothic"/>
                <a:ea typeface="MS PGothic"/>
              </a:rPr>
              <a:t>しかし、これら２つのシステムを同時に動作できていない</a:t>
            </a:r>
            <a:endParaRPr lang="en-US" altLang="ja-JP" sz="3200" b="1">
              <a:latin typeface="MS PGothic"/>
              <a:ea typeface="MS PGothic"/>
            </a:endParaRP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48419"/>
            <a:ext cx="3692310" cy="923330"/>
          </a:xfrm>
          <a:prstGeom prst="rect">
            <a:avLst/>
          </a:prstGeom>
          <a:noFill/>
        </p:spPr>
        <p:txBody>
          <a:bodyPr wrap="square" lIns="91440" tIns="45720" rIns="91440" bIns="45720" rtlCol="0" anchor="t">
            <a:spAutoFit/>
          </a:bodyPr>
          <a:lstStyle/>
          <a:p>
            <a:r>
              <a:rPr kumimoji="1" lang="ja-JP" altLang="en-US" sz="5400">
                <a:latin typeface="MS PGothic"/>
                <a:ea typeface="MS PGothic"/>
              </a:rPr>
              <a:t>研究の現状</a:t>
            </a:r>
            <a:endParaRPr lang="ja-JP" altLang="en-US" sz="5400">
              <a:latin typeface="MS PGothic"/>
              <a:ea typeface="MS PGothic"/>
            </a:endParaRPr>
          </a:p>
        </p:txBody>
      </p:sp>
      <p:sp>
        <p:nvSpPr>
          <p:cNvPr id="2" name="スライド番号プレースホルダー 1">
            <a:extLst>
              <a:ext uri="{FF2B5EF4-FFF2-40B4-BE49-F238E27FC236}">
                <a16:creationId xmlns:a16="http://schemas.microsoft.com/office/drawing/2014/main" id="{D843F802-D48B-FC47-67A3-0B8D64F4FA96}"/>
              </a:ext>
            </a:extLst>
          </p:cNvPr>
          <p:cNvSpPr>
            <a:spLocks noGrp="1"/>
          </p:cNvSpPr>
          <p:nvPr>
            <p:ph type="sldNum" sz="quarter" idx="12"/>
          </p:nvPr>
        </p:nvSpPr>
        <p:spPr/>
        <p:txBody>
          <a:bodyPr/>
          <a:lstStyle/>
          <a:p>
            <a:fld id="{48F63A3B-78C7-47BE-AE5E-E10140E04643}" type="slidenum">
              <a:rPr lang="en-US" dirty="0"/>
              <a:t>12</a:t>
            </a:fld>
            <a:endParaRPr lang="ja-JP" altLang="en-US"/>
          </a:p>
        </p:txBody>
      </p:sp>
    </p:spTree>
    <p:extLst>
      <p:ext uri="{BB962C8B-B14F-4D97-AF65-F5344CB8AC3E}">
        <p14:creationId xmlns:p14="http://schemas.microsoft.com/office/powerpoint/2010/main" val="138941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6BFD8F7-18A9-E4D5-F92C-DF55F6C8E6CB}"/>
              </a:ext>
            </a:extLst>
          </p:cNvPr>
          <p:cNvSpPr txBox="1"/>
          <p:nvPr/>
        </p:nvSpPr>
        <p:spPr>
          <a:xfrm>
            <a:off x="353319" y="1791000"/>
            <a:ext cx="11485361" cy="2062103"/>
          </a:xfrm>
          <a:prstGeom prst="rect">
            <a:avLst/>
          </a:prstGeom>
          <a:noFill/>
        </p:spPr>
        <p:txBody>
          <a:bodyPr wrap="square" lIns="91440" tIns="45720" rIns="91440" bIns="45720" rtlCol="0" anchor="t">
            <a:spAutoFit/>
          </a:bodyPr>
          <a:lstStyle/>
          <a:p>
            <a:pPr marL="457200" indent="-457200">
              <a:buFont typeface="Arial"/>
              <a:buChar char="•"/>
            </a:pPr>
            <a:r>
              <a:rPr lang="ja-JP" altLang="en-US" sz="3200">
                <a:latin typeface="MS PGothic"/>
                <a:ea typeface="MS PGothic"/>
              </a:rPr>
              <a:t>ペンの検出と手の検出を一つのウィンドウで同時に動作</a:t>
            </a:r>
            <a:r>
              <a:rPr lang="ja-JP" altLang="en-US" sz="3200">
                <a:latin typeface="MS PGothic"/>
                <a:ea typeface="MS PGothic"/>
                <a:cs typeface="Courier New"/>
              </a:rPr>
              <a:t>その際適切な位置で重ねられるようにする</a:t>
            </a:r>
            <a:endParaRPr lang="en-US" altLang="ja-JP" sz="3200">
              <a:latin typeface="MS PGothic"/>
              <a:ea typeface="MS PGothic"/>
              <a:cs typeface="Courier New"/>
            </a:endParaRPr>
          </a:p>
          <a:p>
            <a:pPr marL="457200" indent="-457200">
              <a:buFont typeface="Arial"/>
              <a:buChar char="•"/>
            </a:pPr>
            <a:endParaRPr lang="ja-JP" altLang="en-US" sz="3200" dirty="0">
              <a:latin typeface="MS PGothic"/>
              <a:ea typeface="MS PGothic"/>
              <a:cs typeface="Courier New"/>
            </a:endParaRPr>
          </a:p>
          <a:p>
            <a:pPr marL="457200" indent="-457200">
              <a:buFont typeface="Arial"/>
              <a:buChar char="•"/>
            </a:pPr>
            <a:r>
              <a:rPr lang="ja-JP" altLang="en-US" sz="3200">
                <a:latin typeface="MS PGothic"/>
                <a:ea typeface="MS PGothic"/>
                <a:cs typeface="Courier New"/>
              </a:rPr>
              <a:t>ペンの検出を四角い枠ではなく線で検出する</a:t>
            </a:r>
            <a:endParaRPr lang="en-US" altLang="ja-JP" sz="3200" b="1">
              <a:latin typeface="MS PGothic"/>
              <a:ea typeface="MS PGothic"/>
              <a:cs typeface="Courier New"/>
            </a:endParaRPr>
          </a:p>
        </p:txBody>
      </p:sp>
      <p:sp>
        <p:nvSpPr>
          <p:cNvPr id="9" name="テキスト ボックス 8">
            <a:extLst>
              <a:ext uri="{FF2B5EF4-FFF2-40B4-BE49-F238E27FC236}">
                <a16:creationId xmlns:a16="http://schemas.microsoft.com/office/drawing/2014/main" id="{756579EB-932E-E09E-286B-AB09BE89E181}"/>
              </a:ext>
            </a:extLst>
          </p:cNvPr>
          <p:cNvSpPr txBox="1"/>
          <p:nvPr/>
        </p:nvSpPr>
        <p:spPr>
          <a:xfrm>
            <a:off x="468629" y="448419"/>
            <a:ext cx="3692310" cy="923330"/>
          </a:xfrm>
          <a:prstGeom prst="rect">
            <a:avLst/>
          </a:prstGeom>
          <a:noFill/>
        </p:spPr>
        <p:txBody>
          <a:bodyPr wrap="square" lIns="91440" tIns="45720" rIns="91440" bIns="45720" rtlCol="0" anchor="t">
            <a:spAutoFit/>
          </a:bodyPr>
          <a:lstStyle/>
          <a:p>
            <a:r>
              <a:rPr kumimoji="1" lang="ja-JP" altLang="en-US" sz="5400">
                <a:latin typeface="MS PGothic"/>
                <a:ea typeface="MS PGothic"/>
              </a:rPr>
              <a:t>今後の方針</a:t>
            </a:r>
            <a:endParaRPr lang="ja-JP" altLang="en-US" sz="5400">
              <a:latin typeface="MS PGothic"/>
              <a:ea typeface="MS PGothic"/>
            </a:endParaRPr>
          </a:p>
        </p:txBody>
      </p:sp>
      <p:sp>
        <p:nvSpPr>
          <p:cNvPr id="2" name="スライド番号プレースホルダー 1">
            <a:extLst>
              <a:ext uri="{FF2B5EF4-FFF2-40B4-BE49-F238E27FC236}">
                <a16:creationId xmlns:a16="http://schemas.microsoft.com/office/drawing/2014/main" id="{994D4E6B-A01E-023B-F989-511CD16F16AA}"/>
              </a:ext>
            </a:extLst>
          </p:cNvPr>
          <p:cNvSpPr>
            <a:spLocks noGrp="1"/>
          </p:cNvSpPr>
          <p:nvPr>
            <p:ph type="sldNum" sz="quarter" idx="12"/>
          </p:nvPr>
        </p:nvSpPr>
        <p:spPr/>
        <p:txBody>
          <a:bodyPr/>
          <a:lstStyle/>
          <a:p>
            <a:fld id="{48F63A3B-78C7-47BE-AE5E-E10140E04643}" type="slidenum">
              <a:rPr lang="en-US" dirty="0"/>
              <a:t>13</a:t>
            </a:fld>
            <a:endParaRPr lang="ja-JP" altLang="en-US"/>
          </a:p>
        </p:txBody>
      </p:sp>
    </p:spTree>
    <p:extLst>
      <p:ext uri="{BB962C8B-B14F-4D97-AF65-F5344CB8AC3E}">
        <p14:creationId xmlns:p14="http://schemas.microsoft.com/office/powerpoint/2010/main" val="39937453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ReferenceId xmlns="0917aabe-e742-4bc7-b78b-1e2d46ebc33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6356B84BF5AD3B47B5573805F0AB2E6F" ma:contentTypeVersion="3" ma:contentTypeDescription="新しいドキュメントを作成します。" ma:contentTypeScope="" ma:versionID="9b4c57b478d71d53397f1477be8197cd">
  <xsd:schema xmlns:xsd="http://www.w3.org/2001/XMLSchema" xmlns:xs="http://www.w3.org/2001/XMLSchema" xmlns:p="http://schemas.microsoft.com/office/2006/metadata/properties" xmlns:ns2="0917aabe-e742-4bc7-b78b-1e2d46ebc33e" targetNamespace="http://schemas.microsoft.com/office/2006/metadata/properties" ma:root="true" ma:fieldsID="cfbcdacea9dbc711e8cf98f103d4a7cf" ns2:_="">
    <xsd:import namespace="0917aabe-e742-4bc7-b78b-1e2d46ebc33e"/>
    <xsd:element name="properties">
      <xsd:complexType>
        <xsd:sequence>
          <xsd:element name="documentManagement">
            <xsd:complexType>
              <xsd:all>
                <xsd:element ref="ns2:ReferenceId" minOccurs="0"/>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17aabe-e742-4bc7-b78b-1e2d46ebc33e"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FD0B1A-6EDD-443D-BBDD-B41C0C85E17F}">
  <ds:schemaRefs>
    <ds:schemaRef ds:uri="0917aabe-e742-4bc7-b78b-1e2d46ebc33e"/>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0F7B71C-839D-4B2D-9500-710B166076E5}">
  <ds:schemaRefs>
    <ds:schemaRef ds:uri="0917aabe-e742-4bc7-b78b-1e2d46ebc3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7EA4DB2-B78A-4E9A-84E6-5E648B5B5E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ワイド画面</PresentationFormat>
  <Slides>13</Slides>
  <Notes>13</Notes>
  <HiddenSlides>0</HiddenSlides>
  <ScaleCrop>false</ScaleCrop>
  <HeadingPairs>
    <vt:vector size="4" baseType="variant">
      <vt:variant>
        <vt:lpstr>テーマ</vt:lpstr>
      </vt:variant>
      <vt:variant>
        <vt:i4>1</vt:i4>
      </vt:variant>
      <vt:variant>
        <vt:lpstr>スライド タイトル</vt:lpstr>
      </vt:variant>
      <vt:variant>
        <vt:i4>13</vt:i4>
      </vt:variant>
    </vt:vector>
  </HeadingPairs>
  <TitlesOfParts>
    <vt:vector size="14" baseType="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卒業研究　中間発表  手形状推定と物体検出</dc:title>
  <dc:creator>福岡 樹人</dc:creator>
  <cp:revision>248</cp:revision>
  <dcterms:created xsi:type="dcterms:W3CDTF">2022-10-11T09:01:08Z</dcterms:created>
  <dcterms:modified xsi:type="dcterms:W3CDTF">2022-10-19T06:43:38Z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0x0101006356B84BF5AD3B47B5573805F0AB2E6F</vt:lpwstr>
  </property>
</Properties>
</file>