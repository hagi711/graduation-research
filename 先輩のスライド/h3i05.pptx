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slideshow.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2" r:id="rId5"/>
    <p:sldId id="261" r:id="rId6"/>
    <p:sldId id="263" r:id="rId7"/>
    <p:sldId id="264" r:id="rId8"/>
    <p:sldId id="265" r:id="rId9"/>
    <p:sldId id="259" r:id="rId10"/>
    <p:sldId id="269" r:id="rId11"/>
    <p:sldId id="270" r:id="rId12"/>
    <p:sldId id="271" r:id="rId13"/>
    <p:sldId id="260" r:id="rId14"/>
    <p:sldId id="268" r:id="rId15"/>
    <p:sldId id="267"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335"/>
    <a:srgbClr val="72AE7C"/>
    <a:srgbClr val="51F52B"/>
    <a:srgbClr val="FF09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7A73AB-437D-4233-A731-2C9A3C686CBF}" v="2420" dt="2023-07-25T18:18:47.9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653" autoAdjust="0"/>
  </p:normalViewPr>
  <p:slideViewPr>
    <p:cSldViewPr snapToGrid="0">
      <p:cViewPr varScale="1">
        <p:scale>
          <a:sx n="69" d="100"/>
          <a:sy n="69" d="100"/>
        </p:scale>
        <p:origin x="123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BCA47-B52D-43E8-BDD5-35013FF02931}" type="datetimeFigureOut">
              <a:rPr kumimoji="1" lang="ja-JP" altLang="en-US" smtClean="0"/>
              <a:t>2023/7/26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AA925D-8AD3-43DF-8208-8667BC9304E6}" type="slidenum">
              <a:rPr kumimoji="1" lang="ja-JP" altLang="en-US" smtClean="0"/>
              <a:t>‹#›</a:t>
            </a:fld>
            <a:endParaRPr kumimoji="1" lang="ja-JP" altLang="en-US"/>
          </a:p>
        </p:txBody>
      </p:sp>
    </p:spTree>
    <p:extLst>
      <p:ext uri="{BB962C8B-B14F-4D97-AF65-F5344CB8AC3E}">
        <p14:creationId xmlns:p14="http://schemas.microsoft.com/office/powerpoint/2010/main" val="104321508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5i08</a:t>
            </a:r>
            <a:r>
              <a:rPr kumimoji="1" lang="ja-JP" altLang="en-US" dirty="0"/>
              <a:t>今立朝斗です。これから髪形の乱れの定量化に関する卒業研究の中間発表を始めさせて頂きます。</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1</a:t>
            </a:fld>
            <a:endParaRPr kumimoji="1" lang="ja-JP" altLang="en-US"/>
          </a:p>
        </p:txBody>
      </p:sp>
    </p:spTree>
    <p:extLst>
      <p:ext uri="{BB962C8B-B14F-4D97-AF65-F5344CB8AC3E}">
        <p14:creationId xmlns:p14="http://schemas.microsoft.com/office/powerpoint/2010/main" val="3646827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みなさんの中にも「バイク」と聞くと危ない乗り物だと感じる人は少なくないと思います。</a:t>
            </a:r>
            <a:br>
              <a:rPr kumimoji="1" lang="en-US" altLang="ja-JP" dirty="0"/>
            </a:br>
            <a:r>
              <a:rPr kumimoji="1" lang="ja-JP" altLang="en-US" dirty="0"/>
              <a:t>実際、二輪車による死亡事故の発生件数は決して少ないとは言えません。そして、その死亡事故の約半数が致命傷部位が頭部となっています。</a:t>
            </a:r>
            <a:endParaRPr kumimoji="1" lang="en-US" altLang="ja-JP" dirty="0"/>
          </a:p>
          <a:p>
            <a:r>
              <a:rPr kumimoji="1" lang="ja-JP" altLang="en-US" dirty="0"/>
              <a:t>二輪車に乗る時はヘルメットの着用が義務付けられているはずなのに、なぜ頭部の割合が高くなってしまっているのでしょうか。</a:t>
            </a:r>
            <a:endParaRPr kumimoji="1" lang="en-US" altLang="ja-JP" dirty="0"/>
          </a:p>
          <a:p>
            <a:r>
              <a:rPr kumimoji="1" lang="ja-JP" altLang="en-US" dirty="0"/>
              <a:t>それは事故が起きた際にヘルメットが外れてしまって頭部に損傷を受けるといったケースがあるからです。</a:t>
            </a:r>
            <a:endParaRPr kumimoji="1" lang="en-US" altLang="ja-JP" dirty="0"/>
          </a:p>
          <a:p>
            <a:r>
              <a:rPr kumimoji="1" lang="ja-JP" altLang="en-US" dirty="0"/>
              <a:t>ではなぜヘルメットが外れてしまうのでしょうか。その理由のひとつとして、</a:t>
            </a:r>
            <a:endParaRPr kumimoji="1" lang="en-US" altLang="ja-JP" dirty="0"/>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2</a:t>
            </a:fld>
            <a:endParaRPr kumimoji="1" lang="ja-JP" altLang="en-US"/>
          </a:p>
        </p:txBody>
      </p:sp>
    </p:spTree>
    <p:extLst>
      <p:ext uri="{BB962C8B-B14F-4D97-AF65-F5344CB8AC3E}">
        <p14:creationId xmlns:p14="http://schemas.microsoft.com/office/powerpoint/2010/main" val="1239147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ヘルメットを着用すると髪形が乱れてしまう点が挙げられます。</a:t>
            </a:r>
            <a:endParaRPr kumimoji="1" lang="en-US" altLang="ja-JP" dirty="0"/>
          </a:p>
          <a:p>
            <a:r>
              <a:rPr kumimoji="1" lang="ja-JP" altLang="en-US" dirty="0"/>
              <a:t>図のように髪形が比較的乱れにくそうなこの髪形でも、ヘルメットを</a:t>
            </a:r>
            <a:r>
              <a:rPr kumimoji="1" lang="en-US" altLang="ja-JP" dirty="0"/>
              <a:t>20</a:t>
            </a:r>
            <a:r>
              <a:rPr kumimoji="1" lang="ja-JP" altLang="en-US" dirty="0"/>
              <a:t>～</a:t>
            </a:r>
            <a:r>
              <a:rPr kumimoji="1" lang="en-US" altLang="ja-JP" dirty="0"/>
              <a:t>30</a:t>
            </a:r>
            <a:r>
              <a:rPr kumimoji="1" lang="ja-JP" altLang="en-US" dirty="0"/>
              <a:t>分ほど着用するとこのように髪形が乱れてしまいます。</a:t>
            </a:r>
            <a:endParaRPr kumimoji="1" lang="en-US" altLang="ja-JP" dirty="0"/>
          </a:p>
          <a:p>
            <a:r>
              <a:rPr kumimoji="1" lang="ja-JP" altLang="en-US" dirty="0"/>
              <a:t>この髪形の乱れを嫌ってヘルメットをゆるく着用した状態で走行した結果、事故が発生した時にヘルメットが外れてしまうというわけです。</a:t>
            </a:r>
            <a:endParaRPr kumimoji="1" lang="en-US" altLang="ja-JP" dirty="0"/>
          </a:p>
          <a:p>
            <a:r>
              <a:rPr kumimoji="1" lang="ja-JP" altLang="en-US" dirty="0"/>
              <a:t>そこで</a:t>
            </a:r>
            <a:r>
              <a:rPr kumimoji="1" lang="en-US" altLang="ja-JP" dirty="0"/>
              <a:t>…</a:t>
            </a:r>
            <a:r>
              <a:rPr kumimoji="1" lang="ja-JP" altLang="en-US" dirty="0"/>
              <a:t>髪形の乱れにくいヘルメットの着用方法を提案することで頭部が致命傷となる死亡事故を少しでも減らせるのではないかと考えました。</a:t>
            </a:r>
            <a:endParaRPr kumimoji="1" lang="en-US" altLang="ja-JP" dirty="0"/>
          </a:p>
          <a:p>
            <a:r>
              <a:rPr kumimoji="1" lang="ja-JP" altLang="en-US" dirty="0"/>
              <a:t>さて、この髪形の乱れにくいヘルメット着用法の提案をおこなうためには</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3</a:t>
            </a:fld>
            <a:endParaRPr kumimoji="1" lang="ja-JP" altLang="en-US"/>
          </a:p>
        </p:txBody>
      </p:sp>
    </p:spTree>
    <p:extLst>
      <p:ext uri="{BB962C8B-B14F-4D97-AF65-F5344CB8AC3E}">
        <p14:creationId xmlns:p14="http://schemas.microsoft.com/office/powerpoint/2010/main" val="204237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髪形の乱れに関する評価が必要不可欠となります。</a:t>
            </a:r>
            <a:endParaRPr kumimoji="1" lang="en-US" altLang="ja-JP" dirty="0"/>
          </a:p>
          <a:p>
            <a:r>
              <a:rPr kumimoji="1" lang="ja-JP" altLang="en-US" dirty="0"/>
              <a:t>先行研究を調べたところ、髪形の乱れ具合について定量化を行った研究はありませんでした。</a:t>
            </a:r>
            <a:endParaRPr kumimoji="1" lang="en-US" altLang="ja-JP" dirty="0"/>
          </a:p>
          <a:p>
            <a:r>
              <a:rPr kumimoji="1" lang="ja-JP" altLang="en-US" dirty="0"/>
              <a:t>そこで、髪形の乱れにくいヘルメット着用法の提案への第一歩として、本研究では乱れ具合の定量的な評価を行う機械学習モデルの作成を最終目的とします。</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4</a:t>
            </a:fld>
            <a:endParaRPr kumimoji="1" lang="ja-JP" altLang="en-US"/>
          </a:p>
        </p:txBody>
      </p:sp>
    </p:spTree>
    <p:extLst>
      <p:ext uri="{BB962C8B-B14F-4D97-AF65-F5344CB8AC3E}">
        <p14:creationId xmlns:p14="http://schemas.microsoft.com/office/powerpoint/2010/main" val="1706832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こちらは本研究の概要となります。</a:t>
            </a:r>
            <a:endParaRPr kumimoji="1" lang="en-US" altLang="ja-JP" dirty="0"/>
          </a:p>
          <a:p>
            <a:r>
              <a:rPr kumimoji="1" lang="ja-JP" altLang="en-US" dirty="0"/>
              <a:t>この図に示すような一連のシステムの構築が本研究の核となる部分です。</a:t>
            </a:r>
            <a:endParaRPr kumimoji="1" lang="en-US" altLang="ja-JP" dirty="0"/>
          </a:p>
          <a:p>
            <a:r>
              <a:rPr kumimoji="1" lang="ja-JP" altLang="en-US" dirty="0"/>
              <a:t>髪形の乱れ具合の評価には頭髪領域の輪郭と毛流の２つを使用し、これらの着用前後の差分を数値化して、髪形の乱れが小さいものをより高く評価するような評価値を出力します。</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5</a:t>
            </a:fld>
            <a:endParaRPr kumimoji="1" lang="ja-JP" altLang="en-US"/>
          </a:p>
        </p:txBody>
      </p:sp>
    </p:spTree>
    <p:extLst>
      <p:ext uri="{BB962C8B-B14F-4D97-AF65-F5344CB8AC3E}">
        <p14:creationId xmlns:p14="http://schemas.microsoft.com/office/powerpoint/2010/main" val="437872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頭髪輪郭の抽出には、図の様に毛の先まで細かくマスク化したり、あるいはガラスのコップとその後ろの背景を分離するなどの高度な</a:t>
            </a:r>
            <a:r>
              <a:rPr kumimoji="1" lang="en-US" altLang="ja-JP" dirty="0"/>
              <a:t>Matting</a:t>
            </a:r>
            <a:r>
              <a:rPr kumimoji="1" lang="ja-JP" altLang="en-US" dirty="0"/>
              <a:t>が可能な</a:t>
            </a:r>
            <a:r>
              <a:rPr kumimoji="1" lang="en-US" altLang="ja-JP" dirty="0"/>
              <a:t>Matte-Anything</a:t>
            </a:r>
            <a:r>
              <a:rPr kumimoji="1" lang="ja-JP" altLang="en-US" dirty="0"/>
              <a:t>を使用します。</a:t>
            </a:r>
            <a:endParaRPr kumimoji="1" lang="en-US" altLang="ja-JP" dirty="0"/>
          </a:p>
          <a:p>
            <a:r>
              <a:rPr kumimoji="1" lang="ja-JP" altLang="en-US" dirty="0"/>
              <a:t>この</a:t>
            </a:r>
            <a:r>
              <a:rPr kumimoji="1" lang="en-US" altLang="ja-JP" dirty="0"/>
              <a:t>Matte-Anything</a:t>
            </a:r>
            <a:r>
              <a:rPr kumimoji="1" lang="ja-JP" altLang="en-US" dirty="0"/>
              <a:t>で髪領域をマスク画像として取り出しまして</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6</a:t>
            </a:fld>
            <a:endParaRPr kumimoji="1" lang="ja-JP" altLang="en-US"/>
          </a:p>
        </p:txBody>
      </p:sp>
    </p:spTree>
    <p:extLst>
      <p:ext uri="{BB962C8B-B14F-4D97-AF65-F5344CB8AC3E}">
        <p14:creationId xmlns:p14="http://schemas.microsoft.com/office/powerpoint/2010/main" val="2798341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そのマスク画像から</a:t>
            </a:r>
            <a:r>
              <a:rPr kumimoji="1" lang="en-US" altLang="ja-JP" dirty="0"/>
              <a:t>OpenCV</a:t>
            </a:r>
            <a:r>
              <a:rPr kumimoji="1" lang="ja-JP" altLang="en-US" dirty="0"/>
              <a:t>を用いて頭髪領域の輪郭を抽出します。</a:t>
            </a:r>
            <a:r>
              <a:rPr kumimoji="1" lang="en-US" altLang="ja-JP" dirty="0"/>
              <a:t>OpenCV</a:t>
            </a:r>
            <a:r>
              <a:rPr kumimoji="1" lang="ja-JP" altLang="en-US" dirty="0"/>
              <a:t>によって抽出できる輪郭は図にある通りのっぺりしていて細部まで表現されませんので、</a:t>
            </a:r>
            <a:endParaRPr kumimoji="1" lang="en-US" altLang="ja-JP" dirty="0"/>
          </a:p>
          <a:p>
            <a:r>
              <a:rPr kumimoji="1" lang="ja-JP" altLang="en-US" dirty="0"/>
              <a:t>元のマスク画像と</a:t>
            </a:r>
            <a:r>
              <a:rPr kumimoji="1" lang="en-US" altLang="ja-JP" dirty="0"/>
              <a:t>OpenCV</a:t>
            </a:r>
            <a:r>
              <a:rPr kumimoji="1" lang="ja-JP" altLang="en-US" dirty="0"/>
              <a:t>で抽出した輪郭画像をピクセル単位で掛け合わせることにより、細部まで表現された髪領域の輪郭を得ることができます。</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7</a:t>
            </a:fld>
            <a:endParaRPr kumimoji="1" lang="ja-JP" altLang="en-US"/>
          </a:p>
        </p:txBody>
      </p:sp>
    </p:spTree>
    <p:extLst>
      <p:ext uri="{BB962C8B-B14F-4D97-AF65-F5344CB8AC3E}">
        <p14:creationId xmlns:p14="http://schemas.microsoft.com/office/powerpoint/2010/main" val="3558683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また、毛流の抽出につきましては、毛流（髪の波打ち方とかですね）、その調べたい毛流の一部髪の毛に染髪を施して、</a:t>
            </a:r>
            <a:endParaRPr kumimoji="1" lang="en-US" altLang="ja-JP" dirty="0"/>
          </a:p>
          <a:p>
            <a:r>
              <a:rPr kumimoji="1" lang="ja-JP" altLang="en-US" dirty="0"/>
              <a:t>ヘルメット着用の前後で染髪部分だけについてどのように変化したかを取り出す、といった流れになります。</a:t>
            </a:r>
            <a:endParaRPr kumimoji="1" lang="en-US" altLang="ja-JP" dirty="0"/>
          </a:p>
          <a:p>
            <a:r>
              <a:rPr kumimoji="1" lang="ja-JP" altLang="en-US" dirty="0"/>
              <a:t>データ収集の際にはこちら一例ですけども、このようなほんの短時間染髪できる染髪剤を使おうと考えています。</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8</a:t>
            </a:fld>
            <a:endParaRPr kumimoji="1" lang="ja-JP" altLang="en-US"/>
          </a:p>
        </p:txBody>
      </p:sp>
    </p:spTree>
    <p:extLst>
      <p:ext uri="{BB962C8B-B14F-4D97-AF65-F5344CB8AC3E}">
        <p14:creationId xmlns:p14="http://schemas.microsoft.com/office/powerpoint/2010/main" val="3652155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この中間発表までの前期の研究で、まず</a:t>
            </a:r>
            <a:r>
              <a:rPr kumimoji="1" lang="en-US" altLang="ja-JP" dirty="0"/>
              <a:t>32</a:t>
            </a:r>
            <a:r>
              <a:rPr kumimoji="1" lang="ja-JP" altLang="en-US" dirty="0"/>
              <a:t>人の前後左右の頭部を、こちらのライトスタンド付きカメラで撮影しました。</a:t>
            </a:r>
            <a:endParaRPr kumimoji="1" lang="en-US" altLang="ja-JP" dirty="0"/>
          </a:p>
          <a:p>
            <a:r>
              <a:rPr kumimoji="1" lang="ja-JP" altLang="en-US" dirty="0"/>
              <a:t>撮影した画像例がこちらになります。そしてこれらの画像に対して</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9</a:t>
            </a:fld>
            <a:endParaRPr kumimoji="1" lang="ja-JP" altLang="en-US"/>
          </a:p>
        </p:txBody>
      </p:sp>
    </p:spTree>
    <p:extLst>
      <p:ext uri="{BB962C8B-B14F-4D97-AF65-F5344CB8AC3E}">
        <p14:creationId xmlns:p14="http://schemas.microsoft.com/office/powerpoint/2010/main" val="4158012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先ほど説明しました </a:t>
            </a:r>
            <a:r>
              <a:rPr kumimoji="1" lang="en-US" altLang="ja-JP" dirty="0"/>
              <a:t>Matte-Anything</a:t>
            </a:r>
            <a:r>
              <a:rPr kumimoji="1" lang="ja-JP" altLang="en-US" dirty="0"/>
              <a:t> を利用しまして、こちらの図にあるような髪領域のマスク画像を取り出しました。</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10</a:t>
            </a:fld>
            <a:endParaRPr kumimoji="1" lang="ja-JP" altLang="en-US"/>
          </a:p>
        </p:txBody>
      </p:sp>
    </p:spTree>
    <p:extLst>
      <p:ext uri="{BB962C8B-B14F-4D97-AF65-F5344CB8AC3E}">
        <p14:creationId xmlns:p14="http://schemas.microsoft.com/office/powerpoint/2010/main" val="3035227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そして、そのマスク画像から</a:t>
            </a:r>
            <a:r>
              <a:rPr kumimoji="1" lang="en-US" altLang="ja-JP" dirty="0"/>
              <a:t>OpenCV</a:t>
            </a:r>
            <a:r>
              <a:rPr kumimoji="1" lang="ja-JP" altLang="en-US" dirty="0"/>
              <a:t>を使って図にあるようなのっぺりした頭髪の輪郭を抽出しました。</a:t>
            </a:r>
            <a:endParaRPr kumimoji="1" lang="en-US" altLang="ja-JP" dirty="0"/>
          </a:p>
          <a:p>
            <a:r>
              <a:rPr kumimoji="1" lang="ja-JP" altLang="en-US" dirty="0"/>
              <a:t>この２つの画像を掛け合わせることで、</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11</a:t>
            </a:fld>
            <a:endParaRPr kumimoji="1" lang="ja-JP" altLang="en-US"/>
          </a:p>
        </p:txBody>
      </p:sp>
    </p:spTree>
    <p:extLst>
      <p:ext uri="{BB962C8B-B14F-4D97-AF65-F5344CB8AC3E}">
        <p14:creationId xmlns:p14="http://schemas.microsoft.com/office/powerpoint/2010/main" val="842206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こちらに示すように細かな輪郭画像を取り出すことに成功しました。</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12</a:t>
            </a:fld>
            <a:endParaRPr kumimoji="1" lang="ja-JP" altLang="en-US"/>
          </a:p>
        </p:txBody>
      </p:sp>
    </p:spTree>
    <p:extLst>
      <p:ext uri="{BB962C8B-B14F-4D97-AF65-F5344CB8AC3E}">
        <p14:creationId xmlns:p14="http://schemas.microsoft.com/office/powerpoint/2010/main" val="4214316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本研究の今後の方針といたしましては、</a:t>
            </a:r>
            <a:endParaRPr kumimoji="1" lang="en-US" altLang="ja-JP" dirty="0"/>
          </a:p>
          <a:p>
            <a:r>
              <a:rPr kumimoji="1" lang="ja-JP" altLang="en-US" dirty="0"/>
              <a:t>まず、毛流の抽出として染髪部分の取り出しから始まります。こちらは髪領域の輪郭を取り出した時と同様に</a:t>
            </a:r>
            <a:r>
              <a:rPr kumimoji="1" lang="en-US" altLang="ja-JP" dirty="0"/>
              <a:t>Matte-Anything</a:t>
            </a:r>
            <a:r>
              <a:rPr kumimoji="1" lang="ja-JP" altLang="en-US" dirty="0"/>
              <a:t>を利用して、染髪部分を</a:t>
            </a:r>
            <a:r>
              <a:rPr kumimoji="1" lang="en-US" altLang="ja-JP" dirty="0"/>
              <a:t>Matting</a:t>
            </a:r>
            <a:r>
              <a:rPr kumimoji="1" lang="ja-JP" altLang="en-US" dirty="0"/>
              <a:t>することで実現可能であると考えています。</a:t>
            </a:r>
            <a:endParaRPr kumimoji="1" lang="en-US" altLang="ja-JP" dirty="0"/>
          </a:p>
          <a:p>
            <a:r>
              <a:rPr kumimoji="1" lang="ja-JP" altLang="en-US" dirty="0"/>
              <a:t>その次に、輪郭と毛流、それぞれ差分を定量化する</a:t>
            </a:r>
            <a:r>
              <a:rPr kumimoji="1" lang="en-US" altLang="ja-JP" dirty="0"/>
              <a:t>NN</a:t>
            </a:r>
            <a:r>
              <a:rPr kumimoji="1" lang="ja-JP" altLang="en-US" dirty="0"/>
              <a:t>を作成し、最後にそれらの数値から乱れ具合を評価する</a:t>
            </a:r>
            <a:r>
              <a:rPr kumimoji="1" lang="en-US" altLang="ja-JP" dirty="0"/>
              <a:t>NN</a:t>
            </a:r>
            <a:r>
              <a:rPr kumimoji="1" lang="ja-JP" altLang="en-US" dirty="0"/>
              <a:t>の作成へと移る予定です。</a:t>
            </a:r>
            <a:endParaRPr kumimoji="1" lang="en-US" altLang="ja-JP" dirty="0"/>
          </a:p>
          <a:p>
            <a:r>
              <a:rPr kumimoji="1" lang="ja-JP" altLang="en-US" dirty="0"/>
              <a:t>なお、差分の定量化を行う</a:t>
            </a:r>
            <a:r>
              <a:rPr kumimoji="1" lang="en-US" altLang="ja-JP" dirty="0"/>
              <a:t>NN</a:t>
            </a:r>
            <a:r>
              <a:rPr kumimoji="1" lang="ja-JP" altLang="en-US" dirty="0"/>
              <a:t>と乱れの評価を行う</a:t>
            </a:r>
            <a:r>
              <a:rPr kumimoji="1" lang="en-US" altLang="ja-JP" dirty="0"/>
              <a:t>NN</a:t>
            </a:r>
            <a:r>
              <a:rPr kumimoji="1" lang="ja-JP" altLang="en-US" dirty="0"/>
              <a:t>につきましてはまだ深く考えられておりません。</a:t>
            </a:r>
            <a:endParaRPr kumimoji="1" lang="en-US" altLang="ja-JP" dirty="0"/>
          </a:p>
          <a:p>
            <a:r>
              <a:rPr kumimoji="1" lang="ja-JP" altLang="en-US" dirty="0"/>
              <a:t>また、画像を入力したら乱れ具合の評価値が出力される様にシステム全体の流れの自動化も必要であると考えておりまして、</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13</a:t>
            </a:fld>
            <a:endParaRPr kumimoji="1" lang="ja-JP" altLang="en-US"/>
          </a:p>
        </p:txBody>
      </p:sp>
    </p:spTree>
    <p:extLst>
      <p:ext uri="{BB962C8B-B14F-4D97-AF65-F5344CB8AC3E}">
        <p14:creationId xmlns:p14="http://schemas.microsoft.com/office/powerpoint/2010/main" val="1953970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その入り口である画像入力から輪郭抽出までの自動化については次の通り考えております。</a:t>
            </a:r>
            <a:endParaRPr kumimoji="1" lang="en-US" altLang="ja-JP" dirty="0"/>
          </a:p>
          <a:p>
            <a:r>
              <a:rPr kumimoji="1" lang="en-US" altLang="ja-JP" dirty="0"/>
              <a:t>Matte-Anything</a:t>
            </a:r>
            <a:r>
              <a:rPr kumimoji="1" lang="ja-JP" altLang="en-US" dirty="0"/>
              <a:t>では</a:t>
            </a:r>
            <a:r>
              <a:rPr kumimoji="1" lang="en-US" altLang="ja-JP" dirty="0"/>
              <a:t>Matting</a:t>
            </a:r>
            <a:r>
              <a:rPr kumimoji="1" lang="ja-JP" altLang="en-US" dirty="0"/>
              <a:t>を行う画像座標を指定して、指定された座標と同じ画像領域を</a:t>
            </a:r>
            <a:r>
              <a:rPr kumimoji="1" lang="en-US" altLang="ja-JP" dirty="0"/>
              <a:t>Matting</a:t>
            </a:r>
            <a:r>
              <a:rPr kumimoji="1" lang="ja-JP" altLang="en-US" dirty="0"/>
              <a:t>する仕組みとなっています。そのため座標の指定が必要でした。</a:t>
            </a:r>
            <a:endParaRPr kumimoji="1" lang="en-US" altLang="ja-JP" dirty="0"/>
          </a:p>
          <a:p>
            <a:r>
              <a:rPr kumimoji="1" lang="ja-JP" altLang="en-US" dirty="0"/>
              <a:t>現在の研究段階では手動で座標を指定して実行していましたが、元画像に対して</a:t>
            </a:r>
            <a:r>
              <a:rPr kumimoji="1" lang="en-US" altLang="ja-JP" dirty="0"/>
              <a:t>YOLOv8</a:t>
            </a:r>
            <a:r>
              <a:rPr kumimoji="1" lang="ja-JP" altLang="en-US" dirty="0"/>
              <a:t>を使用すると図のように人検出や目・鼻・耳の検出ができます。</a:t>
            </a:r>
            <a:endParaRPr kumimoji="1" lang="en-US" altLang="ja-JP" dirty="0"/>
          </a:p>
          <a:p>
            <a:r>
              <a:rPr kumimoji="1" lang="ja-JP" altLang="en-US" dirty="0"/>
              <a:t>そこで検出したこれらの座標位置から少し上を取るなどの計算で</a:t>
            </a:r>
            <a:r>
              <a:rPr kumimoji="1" lang="en-US" altLang="ja-JP" dirty="0"/>
              <a:t>Matting</a:t>
            </a:r>
            <a:r>
              <a:rPr kumimoji="1" lang="ja-JP" altLang="en-US" dirty="0"/>
              <a:t>する髪領域の座標位置を自動的に決定する仕組みが実現できると考えています。</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14</a:t>
            </a:fld>
            <a:endParaRPr kumimoji="1" lang="ja-JP" altLang="en-US"/>
          </a:p>
        </p:txBody>
      </p:sp>
    </p:spTree>
    <p:extLst>
      <p:ext uri="{BB962C8B-B14F-4D97-AF65-F5344CB8AC3E}">
        <p14:creationId xmlns:p14="http://schemas.microsoft.com/office/powerpoint/2010/main" val="338196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以上で発表を終わります。ご清聴ありがとうございました。</a:t>
            </a:r>
          </a:p>
        </p:txBody>
      </p:sp>
      <p:sp>
        <p:nvSpPr>
          <p:cNvPr id="4" name="スライド番号プレースホルダー 3"/>
          <p:cNvSpPr>
            <a:spLocks noGrp="1"/>
          </p:cNvSpPr>
          <p:nvPr>
            <p:ph type="sldNum" sz="quarter" idx="5"/>
          </p:nvPr>
        </p:nvSpPr>
        <p:spPr/>
        <p:txBody>
          <a:bodyPr/>
          <a:lstStyle/>
          <a:p>
            <a:fld id="{61AA925D-8AD3-43DF-8208-8667BC9304E6}" type="slidenum">
              <a:rPr kumimoji="1" lang="ja-JP" altLang="en-US" smtClean="0"/>
              <a:t>15</a:t>
            </a:fld>
            <a:endParaRPr kumimoji="1" lang="ja-JP" altLang="en-US"/>
          </a:p>
        </p:txBody>
      </p:sp>
    </p:spTree>
    <p:extLst>
      <p:ext uri="{BB962C8B-B14F-4D97-AF65-F5344CB8AC3E}">
        <p14:creationId xmlns:p14="http://schemas.microsoft.com/office/powerpoint/2010/main" val="1381734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30C7D4-B7DF-B0B3-DE02-69ADFE5C4E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E98C81-5336-9618-7487-69036E646D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F7F26B4-349A-612E-51AA-8A9ECD273F6D}"/>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5" name="フッター プレースホルダー 4">
            <a:extLst>
              <a:ext uri="{FF2B5EF4-FFF2-40B4-BE49-F238E27FC236}">
                <a16:creationId xmlns:a16="http://schemas.microsoft.com/office/drawing/2014/main" id="{83DEBFCC-AE67-97AD-2321-D050EA5635D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40CBBC-D4F9-7A52-A70C-654AD11BA2FC}"/>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2149918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DE3868-3544-184B-4B94-F7F941872A9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327BC3-C516-7E50-7819-F2EABF6E37F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3F33F8-58E2-C2C9-242E-B7CFB586F31D}"/>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5" name="フッター プレースホルダー 4">
            <a:extLst>
              <a:ext uri="{FF2B5EF4-FFF2-40B4-BE49-F238E27FC236}">
                <a16:creationId xmlns:a16="http://schemas.microsoft.com/office/drawing/2014/main" id="{1DD34896-4C66-A3D9-C59C-DB92D42205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D7E220-AB10-5844-E560-0E8D2FE964F1}"/>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4168241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0D45DA-4B1D-DBF2-AB27-F9992731FB8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4D57056-FE1A-7FD6-8814-4B354B07D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91464B8-0834-02DD-D777-B1E89EFF5AE4}"/>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5" name="フッター プレースホルダー 4">
            <a:extLst>
              <a:ext uri="{FF2B5EF4-FFF2-40B4-BE49-F238E27FC236}">
                <a16:creationId xmlns:a16="http://schemas.microsoft.com/office/drawing/2014/main" id="{D28B18D4-D6A1-FF04-14FB-32B79EA450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711643E-7339-462F-FAFB-C2B96F97C87A}"/>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2738487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9043DA-698C-55E2-D62C-68FE9E7B53F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5636EFB-0803-B289-00CA-9C841F4D2E1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A30A5B1-9BCB-9A5B-3A93-F2A39E93A71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F672A40-BD33-5977-08F2-3AAB9B03B29B}"/>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6" name="フッター プレースホルダー 5">
            <a:extLst>
              <a:ext uri="{FF2B5EF4-FFF2-40B4-BE49-F238E27FC236}">
                <a16:creationId xmlns:a16="http://schemas.microsoft.com/office/drawing/2014/main" id="{4C825A99-9B8D-0C62-4BB2-4D6E3EAC328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231612-3E52-1068-695A-C01404CD0BFA}"/>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2586289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37247A-C4FF-200D-52A9-F5F460717D9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5B89A96-83BC-0151-8AAE-1E8DD6E08A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96E3F50-E50E-8796-9F05-31A5B07C10D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2064EBB-565B-F474-288F-86B083F9A1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A7FC3C9-FE15-49E1-308F-BED36B44682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23CA39E-5AE9-0CF6-9A0A-8A06A36F07BE}"/>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8" name="フッター プレースホルダー 7">
            <a:extLst>
              <a:ext uri="{FF2B5EF4-FFF2-40B4-BE49-F238E27FC236}">
                <a16:creationId xmlns:a16="http://schemas.microsoft.com/office/drawing/2014/main" id="{E8821E0E-8C89-B993-2A74-1AC484AD266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44A33AE-00BE-29DA-4703-5CC7212ED916}"/>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1335620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EBBA40-3697-D6A9-544E-A711E67A9BA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CB92F8A-9DF6-E6F4-CCC0-07E7A87D5DFD}"/>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4" name="フッター プレースホルダー 3">
            <a:extLst>
              <a:ext uri="{FF2B5EF4-FFF2-40B4-BE49-F238E27FC236}">
                <a16:creationId xmlns:a16="http://schemas.microsoft.com/office/drawing/2014/main" id="{6E594676-C98A-C3AE-BF79-AB41075255D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4E259C1-60EE-08CA-8119-322EF42D092E}"/>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1403803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67DA432-9954-0C26-4D2D-9DCF14DA78D6}"/>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3" name="フッター プレースホルダー 2">
            <a:extLst>
              <a:ext uri="{FF2B5EF4-FFF2-40B4-BE49-F238E27FC236}">
                <a16:creationId xmlns:a16="http://schemas.microsoft.com/office/drawing/2014/main" id="{74A2E8B8-4333-84D9-35B2-B13B3618FEB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B58F81-A528-95EA-FA91-E6898C83F1E4}"/>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873663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7B891C-D745-32AA-8BB5-D14AD2137AA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2624466-214E-2D3D-C588-6F9D9D515C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619C762-BD13-18D3-1463-C5CF5EF3B8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23BC5D4-6D33-95CB-1B51-46567DE12F6C}"/>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6" name="フッター プレースホルダー 5">
            <a:extLst>
              <a:ext uri="{FF2B5EF4-FFF2-40B4-BE49-F238E27FC236}">
                <a16:creationId xmlns:a16="http://schemas.microsoft.com/office/drawing/2014/main" id="{E27566CA-E86E-9FE9-55E0-FC4C895561A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4E838A2-D078-D755-BC8F-FD4043506388}"/>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3708157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F36350-FCF6-C954-683E-FBB9CBFCF36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AE01F50-821F-C5C8-F38A-7475966E3A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66E9C3B-F78F-E0FB-7D11-9D64A85E19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4A4ECEA-162C-3EAD-8196-461A3B583A13}"/>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6" name="フッター プレースホルダー 5">
            <a:extLst>
              <a:ext uri="{FF2B5EF4-FFF2-40B4-BE49-F238E27FC236}">
                <a16:creationId xmlns:a16="http://schemas.microsoft.com/office/drawing/2014/main" id="{0F8B2E8F-0C2C-6C8B-B028-FC680FED779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ED2269F-2106-92A3-03F6-A29050E1FE6D}"/>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4090671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E75A6E-BBBA-1782-46AB-49F423692F4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9B3F72-2532-0F84-91CF-CF570A5D952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D1169F7-99DB-BECC-F44D-63197CB5BE29}"/>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5" name="フッター プレースホルダー 4">
            <a:extLst>
              <a:ext uri="{FF2B5EF4-FFF2-40B4-BE49-F238E27FC236}">
                <a16:creationId xmlns:a16="http://schemas.microsoft.com/office/drawing/2014/main" id="{E789D59E-6DF4-275C-39EB-A480476CC9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C13975-9C27-3DF4-2EA8-0B3D7F3BB617}"/>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679597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4EE02C9-B62F-94A6-CAFE-74F5C0C14D3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AEED6D2-69B0-F589-C48D-14376FEBB50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29B9152-2118-28C7-602F-CFBFE916595E}"/>
              </a:ext>
            </a:extLst>
          </p:cNvPr>
          <p:cNvSpPr>
            <a:spLocks noGrp="1"/>
          </p:cNvSpPr>
          <p:nvPr>
            <p:ph type="dt" sz="half" idx="10"/>
          </p:nvPr>
        </p:nvSpPr>
        <p:spPr/>
        <p:txBody>
          <a:bodyPr/>
          <a:lstStyle/>
          <a:p>
            <a:fld id="{0437CD30-3083-4668-8871-CBD1D68ED015}" type="datetimeFigureOut">
              <a:rPr kumimoji="1" lang="ja-JP" altLang="en-US" smtClean="0"/>
              <a:t>2023/7/26</a:t>
            </a:fld>
            <a:endParaRPr kumimoji="1" lang="ja-JP" altLang="en-US"/>
          </a:p>
        </p:txBody>
      </p:sp>
      <p:sp>
        <p:nvSpPr>
          <p:cNvPr id="5" name="フッター プレースホルダー 4">
            <a:extLst>
              <a:ext uri="{FF2B5EF4-FFF2-40B4-BE49-F238E27FC236}">
                <a16:creationId xmlns:a16="http://schemas.microsoft.com/office/drawing/2014/main" id="{09054B6A-96A8-6433-44F1-AFE0EA6F92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525556-BB2F-5223-D3A8-B6659AAB413E}"/>
              </a:ext>
            </a:extLst>
          </p:cNvPr>
          <p:cNvSpPr>
            <a:spLocks noGrp="1"/>
          </p:cNvSpPr>
          <p:nvPr>
            <p:ph type="sldNum" sz="quarter" idx="12"/>
          </p:nvPr>
        </p:nvSpPr>
        <p:spPr/>
        <p:txBody>
          <a:body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255442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96F8C41-7234-4414-6310-21FC5CDFCE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8071378-2CA2-8A3A-C4A6-8F4837BE31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676FF99-B430-C830-93BC-965C490A36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37CD30-3083-4668-8871-CBD1D68ED015}" type="datetimeFigureOut">
              <a:rPr kumimoji="1" lang="ja-JP" altLang="en-US" smtClean="0"/>
              <a:t>2023/7/26</a:t>
            </a:fld>
            <a:endParaRPr kumimoji="1" lang="ja-JP" altLang="en-US"/>
          </a:p>
        </p:txBody>
      </p:sp>
      <p:sp>
        <p:nvSpPr>
          <p:cNvPr id="5" name="フッター プレースホルダー 4">
            <a:extLst>
              <a:ext uri="{FF2B5EF4-FFF2-40B4-BE49-F238E27FC236}">
                <a16:creationId xmlns:a16="http://schemas.microsoft.com/office/drawing/2014/main" id="{27569F75-BDFA-BB93-5289-33FB715EB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F3E2C58-3B28-8787-890F-2C552F8DE9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751B1-FB09-4A2B-B074-DA0C5E8DD998}" type="slidenum">
              <a:rPr kumimoji="1" lang="ja-JP" altLang="en-US" smtClean="0"/>
              <a:t>‹#›</a:t>
            </a:fld>
            <a:endParaRPr kumimoji="1" lang="ja-JP" altLang="en-US"/>
          </a:p>
        </p:txBody>
      </p:sp>
    </p:spTree>
    <p:extLst>
      <p:ext uri="{BB962C8B-B14F-4D97-AF65-F5344CB8AC3E}">
        <p14:creationId xmlns:p14="http://schemas.microsoft.com/office/powerpoint/2010/main" val="2942476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2.jpg"/><Relationship Id="rId7"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3.jpg"/><Relationship Id="rId9" Type="http://schemas.openxmlformats.org/officeDocument/2006/relationships/image" Target="../media/image17.jp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jpg"/><Relationship Id="rId7" Type="http://schemas.openxmlformats.org/officeDocument/2006/relationships/image" Target="../media/image19.png"/><Relationship Id="rId12"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16.jpg"/><Relationship Id="rId5" Type="http://schemas.openxmlformats.org/officeDocument/2006/relationships/image" Target="../media/image10.png"/><Relationship Id="rId10" Type="http://schemas.openxmlformats.org/officeDocument/2006/relationships/image" Target="../media/image15.jpg"/><Relationship Id="rId4" Type="http://schemas.openxmlformats.org/officeDocument/2006/relationships/image" Target="../media/image3.jpg"/><Relationship Id="rId9" Type="http://schemas.openxmlformats.org/officeDocument/2006/relationships/image" Target="../media/image14.jp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jpg"/><Relationship Id="rId7" Type="http://schemas.openxmlformats.org/officeDocument/2006/relationships/image" Target="../media/image19.png"/><Relationship Id="rId12"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10.png"/><Relationship Id="rId10" Type="http://schemas.openxmlformats.org/officeDocument/2006/relationships/image" Target="../media/image11.png"/><Relationship Id="rId4" Type="http://schemas.openxmlformats.org/officeDocument/2006/relationships/image" Target="../media/image3.jp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2.jpg"/><Relationship Id="rId7" Type="http://schemas.openxmlformats.org/officeDocument/2006/relationships/image" Target="../media/image26.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B563B31B-7CAA-BFCD-9ECC-A2D0ECC12A08}"/>
              </a:ext>
            </a:extLst>
          </p:cNvPr>
          <p:cNvSpPr>
            <a:spLocks noGrp="1"/>
          </p:cNvSpPr>
          <p:nvPr>
            <p:ph type="ctrTitle"/>
          </p:nvPr>
        </p:nvSpPr>
        <p:spPr>
          <a:xfrm>
            <a:off x="1524003" y="1999615"/>
            <a:ext cx="9144000" cy="2764028"/>
          </a:xfrm>
        </p:spPr>
        <p:txBody>
          <a:bodyPr anchor="ctr">
            <a:normAutofit/>
          </a:bodyPr>
          <a:lstStyle/>
          <a:p>
            <a:r>
              <a:rPr kumimoji="1" lang="ja-JP" altLang="en-US" sz="7200" dirty="0"/>
              <a:t>卒業研究中間発表</a:t>
            </a:r>
            <a:br>
              <a:rPr kumimoji="1" lang="en-US" altLang="ja-JP" sz="7200" dirty="0"/>
            </a:br>
            <a:br>
              <a:rPr kumimoji="1" lang="en-US" altLang="ja-JP" sz="7200" dirty="0"/>
            </a:br>
            <a:r>
              <a:rPr kumimoji="1" lang="ja-JP" altLang="en-US" sz="4400" dirty="0"/>
              <a:t>髪形の乱れの定量化に関する研究</a:t>
            </a:r>
            <a:endParaRPr kumimoji="1" lang="ja-JP" altLang="en-US" sz="7200" dirty="0"/>
          </a:p>
        </p:txBody>
      </p:sp>
      <p:sp>
        <p:nvSpPr>
          <p:cNvPr id="3" name="字幕 2">
            <a:extLst>
              <a:ext uri="{FF2B5EF4-FFF2-40B4-BE49-F238E27FC236}">
                <a16:creationId xmlns:a16="http://schemas.microsoft.com/office/drawing/2014/main" id="{0FAFFDAA-8892-18A1-52B7-85C39C81F174}"/>
              </a:ext>
            </a:extLst>
          </p:cNvPr>
          <p:cNvSpPr>
            <a:spLocks noGrp="1"/>
          </p:cNvSpPr>
          <p:nvPr>
            <p:ph type="subTitle" idx="1"/>
          </p:nvPr>
        </p:nvSpPr>
        <p:spPr>
          <a:xfrm>
            <a:off x="1966912" y="5645150"/>
            <a:ext cx="8258176" cy="631825"/>
          </a:xfrm>
        </p:spPr>
        <p:txBody>
          <a:bodyPr anchor="ctr">
            <a:normAutofit/>
          </a:bodyPr>
          <a:lstStyle/>
          <a:p>
            <a:r>
              <a:rPr kumimoji="1" lang="en-US" altLang="ja-JP" sz="2800" dirty="0"/>
              <a:t>5i08 </a:t>
            </a:r>
            <a:r>
              <a:rPr kumimoji="1" lang="ja-JP" altLang="en-US" sz="2800" dirty="0"/>
              <a:t>今立朝斗</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190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コンテンツ プレースホルダー 4" descr="グラフ, 円グラフ&#10;&#10;自動的に生成された説明">
            <a:extLst>
              <a:ext uri="{FF2B5EF4-FFF2-40B4-BE49-F238E27FC236}">
                <a16:creationId xmlns:a16="http://schemas.microsoft.com/office/drawing/2014/main" id="{7817D0B3-73FD-CF75-737A-79DF7962772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73846" y="862629"/>
            <a:ext cx="8284238" cy="422495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8" name="テキスト ボックス 7">
            <a:extLst>
              <a:ext uri="{FF2B5EF4-FFF2-40B4-BE49-F238E27FC236}">
                <a16:creationId xmlns:a16="http://schemas.microsoft.com/office/drawing/2014/main" id="{4845E412-389A-D90A-8D29-1782B8B43F28}"/>
              </a:ext>
            </a:extLst>
          </p:cNvPr>
          <p:cNvSpPr txBox="1"/>
          <p:nvPr/>
        </p:nvSpPr>
        <p:spPr>
          <a:xfrm>
            <a:off x="2942493" y="5446027"/>
            <a:ext cx="8979876" cy="4192520"/>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kumimoji="1" lang="ja-JP" altLang="en-US" sz="2400" dirty="0"/>
              <a:t>二輪車死亡事故における致命傷部位の約半数が頭部</a:t>
            </a:r>
            <a:endParaRPr lang="en-US" altLang="ja-JP" sz="2400" dirty="0"/>
          </a:p>
          <a:p>
            <a:pPr marL="342900" indent="-228600">
              <a:lnSpc>
                <a:spcPct val="90000"/>
              </a:lnSpc>
              <a:spcAft>
                <a:spcPts val="600"/>
              </a:spcAft>
              <a:buFont typeface="Arial" panose="020B0604020202020204" pitchFamily="34" charset="0"/>
              <a:buChar char="•"/>
            </a:pPr>
            <a:r>
              <a:rPr kumimoji="1" lang="ja-JP" altLang="en-US" sz="2400" dirty="0"/>
              <a:t>ヘルメットが頭から外れている割合は全体の</a:t>
            </a:r>
            <a:r>
              <a:rPr kumimoji="1" lang="en-US" altLang="ja-JP" sz="2400" dirty="0">
                <a:solidFill>
                  <a:srgbClr val="FF0000"/>
                </a:solidFill>
              </a:rPr>
              <a:t>25%</a:t>
            </a:r>
            <a:r>
              <a:rPr kumimoji="1" lang="ja-JP" altLang="en-US" sz="2400" dirty="0"/>
              <a:t>を超える</a:t>
            </a:r>
            <a:endParaRPr kumimoji="1" lang="en-US" altLang="ja-JP" sz="2400" dirty="0"/>
          </a:p>
        </p:txBody>
      </p:sp>
      <p:sp>
        <p:nvSpPr>
          <p:cNvPr id="7" name="テキスト ボックス 6">
            <a:extLst>
              <a:ext uri="{FF2B5EF4-FFF2-40B4-BE49-F238E27FC236}">
                <a16:creationId xmlns:a16="http://schemas.microsoft.com/office/drawing/2014/main" id="{4CD7D553-B38A-AB53-6C3E-0E7610BB146D}"/>
              </a:ext>
            </a:extLst>
          </p:cNvPr>
          <p:cNvSpPr txBox="1"/>
          <p:nvPr/>
        </p:nvSpPr>
        <p:spPr>
          <a:xfrm>
            <a:off x="3411417" y="6492875"/>
            <a:ext cx="8979876" cy="369332"/>
          </a:xfrm>
          <a:prstGeom prst="rect">
            <a:avLst/>
          </a:prstGeom>
          <a:noFill/>
        </p:spPr>
        <p:txBody>
          <a:bodyPr wrap="square">
            <a:spAutoFit/>
          </a:bodyPr>
          <a:lstStyle/>
          <a:p>
            <a:pPr>
              <a:spcAft>
                <a:spcPts val="600"/>
              </a:spcAft>
            </a:pPr>
            <a:r>
              <a:rPr lang="ja-JP" altLang="en-US" dirty="0">
                <a:solidFill>
                  <a:schemeClr val="bg1">
                    <a:lumMod val="65000"/>
                  </a:schemeClr>
                </a:solidFill>
              </a:rPr>
              <a:t>https://www.keishicho.metro.tokyo.lg.jp/kotsu/jikoboshi/nirinsha/2rin_jiko.html</a:t>
            </a:r>
            <a:endParaRPr lang="ja-JP" altLang="en-US">
              <a:solidFill>
                <a:schemeClr val="bg1">
                  <a:lumMod val="65000"/>
                </a:schemeClr>
              </a:solidFill>
            </a:endParaRPr>
          </a:p>
        </p:txBody>
      </p:sp>
      <p:sp>
        <p:nvSpPr>
          <p:cNvPr id="16" name="タイトル 1">
            <a:extLst>
              <a:ext uri="{FF2B5EF4-FFF2-40B4-BE49-F238E27FC236}">
                <a16:creationId xmlns:a16="http://schemas.microsoft.com/office/drawing/2014/main" id="{7FCA7EB6-9E0C-17E4-F867-3E139B697595}"/>
              </a:ext>
            </a:extLst>
          </p:cNvPr>
          <p:cNvSpPr>
            <a:spLocks noGrp="1"/>
          </p:cNvSpPr>
          <p:nvPr>
            <p:ph type="title"/>
          </p:nvPr>
        </p:nvSpPr>
        <p:spPr>
          <a:xfrm>
            <a:off x="838200" y="365125"/>
            <a:ext cx="10515600" cy="1325563"/>
          </a:xfrm>
        </p:spPr>
        <p:txBody>
          <a:bodyPr/>
          <a:lstStyle/>
          <a:p>
            <a:r>
              <a:rPr kumimoji="1" lang="ja-JP" altLang="en-US" dirty="0"/>
              <a:t>研究の背景</a:t>
            </a:r>
          </a:p>
        </p:txBody>
      </p:sp>
    </p:spTree>
    <p:extLst>
      <p:ext uri="{BB962C8B-B14F-4D97-AF65-F5344CB8AC3E}">
        <p14:creationId xmlns:p14="http://schemas.microsoft.com/office/powerpoint/2010/main" val="2927855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descr="抽象, 挿絵 が含まれている画像&#10;&#10;自動的に生成された説明">
            <a:extLst>
              <a:ext uri="{FF2B5EF4-FFF2-40B4-BE49-F238E27FC236}">
                <a16:creationId xmlns:a16="http://schemas.microsoft.com/office/drawing/2014/main" id="{D159ABE5-E917-B930-7313-18D3CED91A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14" name="図 13" descr="アイコン&#10;&#10;自動的に生成された説明">
            <a:extLst>
              <a:ext uri="{FF2B5EF4-FFF2-40B4-BE49-F238E27FC236}">
                <a16:creationId xmlns:a16="http://schemas.microsoft.com/office/drawing/2014/main" id="{15C7E51E-07C8-44A4-E0CC-91583C9382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研究の背景</a:t>
            </a:r>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p:txBody>
          <a:bodyPr/>
          <a:lstStyle/>
          <a:p>
            <a:pPr marL="0" indent="0">
              <a:buNone/>
            </a:pPr>
            <a:r>
              <a:rPr lang="ja-JP" altLang="en-US" dirty="0"/>
              <a:t>ヘルメットを着用すると髪形が乱れる</a:t>
            </a:r>
            <a:endParaRPr lang="en-US" altLang="ja-JP" dirty="0"/>
          </a:p>
          <a:p>
            <a:pPr marL="0" indent="0">
              <a:buNone/>
            </a:pPr>
            <a:r>
              <a:rPr lang="ja-JP" altLang="en-US" dirty="0"/>
              <a:t>→髪形の乱れにくい着用方法を提案できれば</a:t>
            </a:r>
            <a:endParaRPr lang="en-US" altLang="ja-JP" dirty="0"/>
          </a:p>
          <a:p>
            <a:pPr marL="0" indent="0">
              <a:buNone/>
            </a:pPr>
            <a:r>
              <a:rPr lang="ja-JP" altLang="en-US" dirty="0"/>
              <a:t>　確実なヘルメットの着用率の向上が期待できる</a:t>
            </a:r>
            <a:endParaRPr lang="en-US" altLang="ja-JP" dirty="0"/>
          </a:p>
        </p:txBody>
      </p:sp>
      <p:pic>
        <p:nvPicPr>
          <p:cNvPr id="5" name="図 4" descr="茶色の髪の少年の顔&#10;&#10;自動的に生成された説明">
            <a:extLst>
              <a:ext uri="{FF2B5EF4-FFF2-40B4-BE49-F238E27FC236}">
                <a16:creationId xmlns:a16="http://schemas.microsoft.com/office/drawing/2014/main" id="{6E24D47E-9EDD-EEC4-DFC0-4477EC1CB6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8184" y="4109848"/>
            <a:ext cx="3197556" cy="1911642"/>
          </a:xfrm>
          <a:prstGeom prst="rect">
            <a:avLst/>
          </a:prstGeom>
        </p:spPr>
      </p:pic>
      <p:pic>
        <p:nvPicPr>
          <p:cNvPr id="7" name="図 6" descr="髪の長い女性の顔&#10;&#10;自動的に生成された説明">
            <a:extLst>
              <a:ext uri="{FF2B5EF4-FFF2-40B4-BE49-F238E27FC236}">
                <a16:creationId xmlns:a16="http://schemas.microsoft.com/office/drawing/2014/main" id="{448B70FA-D1F3-8F8E-8434-72035589DD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71471" y="4543727"/>
            <a:ext cx="2847654" cy="2206933"/>
          </a:xfrm>
          <a:prstGeom prst="rect">
            <a:avLst/>
          </a:prstGeom>
        </p:spPr>
      </p:pic>
      <p:pic>
        <p:nvPicPr>
          <p:cNvPr id="9" name="図 8" descr="髪の長い男性の顔&#10;&#10;自動的に生成された説明">
            <a:extLst>
              <a:ext uri="{FF2B5EF4-FFF2-40B4-BE49-F238E27FC236}">
                <a16:creationId xmlns:a16="http://schemas.microsoft.com/office/drawing/2014/main" id="{CFD62A67-6792-218B-870F-4D7692DD92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0922" y="3377674"/>
            <a:ext cx="3080908" cy="1982671"/>
          </a:xfrm>
          <a:prstGeom prst="rect">
            <a:avLst/>
          </a:prstGeom>
        </p:spPr>
      </p:pic>
      <p:sp>
        <p:nvSpPr>
          <p:cNvPr id="10" name="矢印: 右 9">
            <a:extLst>
              <a:ext uri="{FF2B5EF4-FFF2-40B4-BE49-F238E27FC236}">
                <a16:creationId xmlns:a16="http://schemas.microsoft.com/office/drawing/2014/main" id="{CB7CBB9C-6D49-9192-6D78-C645686209BD}"/>
              </a:ext>
            </a:extLst>
          </p:cNvPr>
          <p:cNvSpPr/>
          <p:nvPr/>
        </p:nvSpPr>
        <p:spPr>
          <a:xfrm>
            <a:off x="4642338" y="5360345"/>
            <a:ext cx="902677" cy="37224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3EB1A1D0-0643-D401-03D0-7E1ED2479DFB}"/>
              </a:ext>
            </a:extLst>
          </p:cNvPr>
          <p:cNvSpPr/>
          <p:nvPr/>
        </p:nvSpPr>
        <p:spPr>
          <a:xfrm rot="20975219">
            <a:off x="4590832" y="3847963"/>
            <a:ext cx="3799355" cy="385335"/>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91831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抽象, 挿絵 が含まれている画像&#10;&#10;自動的に生成された説明">
            <a:extLst>
              <a:ext uri="{FF2B5EF4-FFF2-40B4-BE49-F238E27FC236}">
                <a16:creationId xmlns:a16="http://schemas.microsoft.com/office/drawing/2014/main" id="{E7D4EA66-2356-1B7E-2ADA-CCB2B90DE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6" name="図 5" descr="アイコン&#10;&#10;自動的に生成された説明">
            <a:extLst>
              <a:ext uri="{FF2B5EF4-FFF2-40B4-BE49-F238E27FC236}">
                <a16:creationId xmlns:a16="http://schemas.microsoft.com/office/drawing/2014/main" id="{A89EB83C-22D7-2FC4-C7F0-E8297C797C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研究の目的</a:t>
            </a:r>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p:txBody>
          <a:bodyPr/>
          <a:lstStyle/>
          <a:p>
            <a:r>
              <a:rPr lang="ja-JP" altLang="en-US" dirty="0"/>
              <a:t>ヘルメット着用後における髪形の乱れの評価が必要不可欠</a:t>
            </a:r>
            <a:endParaRPr lang="en-US" altLang="ja-JP" dirty="0"/>
          </a:p>
          <a:p>
            <a:r>
              <a:rPr lang="ja-JP" altLang="en-US" dirty="0"/>
              <a:t>髪形の乱れ具合を定量化した研究はない</a:t>
            </a:r>
            <a:endParaRPr lang="en-US" altLang="ja-JP" dirty="0"/>
          </a:p>
          <a:p>
            <a:pPr>
              <a:buFontTx/>
              <a:buChar char="-"/>
            </a:pPr>
            <a:endParaRPr lang="en-US" altLang="ja-JP" dirty="0"/>
          </a:p>
          <a:p>
            <a:pPr marL="0" indent="0">
              <a:buNone/>
            </a:pPr>
            <a:r>
              <a:rPr lang="ja-JP" altLang="en-US" dirty="0"/>
              <a:t>→髪形の乱れ具合を定量的に評価する機械学習モデルの作成</a:t>
            </a:r>
            <a:endParaRPr lang="en-US" altLang="ja-JP" dirty="0"/>
          </a:p>
        </p:txBody>
      </p:sp>
    </p:spTree>
    <p:extLst>
      <p:ext uri="{BB962C8B-B14F-4D97-AF65-F5344CB8AC3E}">
        <p14:creationId xmlns:p14="http://schemas.microsoft.com/office/powerpoint/2010/main" val="1222141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図 35" descr="アイコン&#10;&#10;自動的に生成された説明">
            <a:extLst>
              <a:ext uri="{FF2B5EF4-FFF2-40B4-BE49-F238E27FC236}">
                <a16:creationId xmlns:a16="http://schemas.microsoft.com/office/drawing/2014/main" id="{65C1C6F8-7DE4-A532-5804-9EBA130CCE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研究の概要</a:t>
            </a:r>
          </a:p>
        </p:txBody>
      </p:sp>
      <p:grpSp>
        <p:nvGrpSpPr>
          <p:cNvPr id="26" name="グループ化 25">
            <a:extLst>
              <a:ext uri="{FF2B5EF4-FFF2-40B4-BE49-F238E27FC236}">
                <a16:creationId xmlns:a16="http://schemas.microsoft.com/office/drawing/2014/main" id="{BDBF2A72-B1F0-4246-227F-9D96BDB91D8E}"/>
              </a:ext>
            </a:extLst>
          </p:cNvPr>
          <p:cNvGrpSpPr/>
          <p:nvPr/>
        </p:nvGrpSpPr>
        <p:grpSpPr>
          <a:xfrm>
            <a:off x="195508" y="4402960"/>
            <a:ext cx="11800982" cy="1909435"/>
            <a:chOff x="217080" y="4067680"/>
            <a:chExt cx="11800982" cy="1909435"/>
          </a:xfrm>
        </p:grpSpPr>
        <p:sp>
          <p:nvSpPr>
            <p:cNvPr id="4" name="テキスト ボックス 3">
              <a:extLst>
                <a:ext uri="{FF2B5EF4-FFF2-40B4-BE49-F238E27FC236}">
                  <a16:creationId xmlns:a16="http://schemas.microsoft.com/office/drawing/2014/main" id="{A6CF4194-DFF2-98B0-2B52-4872C3AE9FA1}"/>
                </a:ext>
              </a:extLst>
            </p:cNvPr>
            <p:cNvSpPr txBox="1"/>
            <p:nvPr/>
          </p:nvSpPr>
          <p:spPr>
            <a:xfrm>
              <a:off x="217080" y="4285891"/>
              <a:ext cx="1723549" cy="1200329"/>
            </a:xfrm>
            <a:prstGeom prst="rect">
              <a:avLst/>
            </a:prstGeom>
            <a:noFill/>
          </p:spPr>
          <p:txBody>
            <a:bodyPr wrap="none" rtlCol="0">
              <a:spAutoFit/>
            </a:bodyPr>
            <a:lstStyle/>
            <a:p>
              <a:pPr algn="ctr"/>
              <a:r>
                <a:rPr kumimoji="1" lang="ja-JP" altLang="en-US" sz="2400" dirty="0"/>
                <a:t>ヘルメット</a:t>
              </a:r>
              <a:endParaRPr kumimoji="1" lang="en-US" altLang="ja-JP" sz="2400" dirty="0"/>
            </a:p>
            <a:p>
              <a:pPr algn="ctr"/>
              <a:r>
                <a:rPr kumimoji="1" lang="ja-JP" altLang="en-US" sz="2400" dirty="0"/>
                <a:t>着用前後の</a:t>
              </a:r>
              <a:endParaRPr kumimoji="1" lang="en-US" altLang="ja-JP" sz="2400" dirty="0"/>
            </a:p>
            <a:p>
              <a:pPr algn="ctr"/>
              <a:r>
                <a:rPr lang="ja-JP" altLang="en-US" sz="2400" dirty="0"/>
                <a:t>頭部画像</a:t>
              </a:r>
              <a:endParaRPr kumimoji="1" lang="ja-JP" altLang="en-US" sz="2400" dirty="0"/>
            </a:p>
          </p:txBody>
        </p:sp>
        <p:sp>
          <p:nvSpPr>
            <p:cNvPr id="5" name="四角形: 角を丸くする 4">
              <a:extLst>
                <a:ext uri="{FF2B5EF4-FFF2-40B4-BE49-F238E27FC236}">
                  <a16:creationId xmlns:a16="http://schemas.microsoft.com/office/drawing/2014/main" id="{A6E24511-C1BC-013B-AD0D-FCC1C42DBC44}"/>
                </a:ext>
              </a:extLst>
            </p:cNvPr>
            <p:cNvSpPr/>
            <p:nvPr/>
          </p:nvSpPr>
          <p:spPr>
            <a:xfrm>
              <a:off x="2606040" y="4067680"/>
              <a:ext cx="2468880" cy="624840"/>
            </a:xfrm>
            <a:prstGeom prst="roundRect">
              <a:avLst/>
            </a:prstGeom>
            <a:solidFill>
              <a:srgbClr val="72AE7C">
                <a:alpha val="6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頭髪輪郭の抽出</a:t>
              </a:r>
            </a:p>
          </p:txBody>
        </p:sp>
        <p:sp>
          <p:nvSpPr>
            <p:cNvPr id="6" name="四角形: 角を丸くする 5">
              <a:extLst>
                <a:ext uri="{FF2B5EF4-FFF2-40B4-BE49-F238E27FC236}">
                  <a16:creationId xmlns:a16="http://schemas.microsoft.com/office/drawing/2014/main" id="{1F35276D-81AD-736E-04EC-36C40ADE11E2}"/>
                </a:ext>
              </a:extLst>
            </p:cNvPr>
            <p:cNvSpPr/>
            <p:nvPr/>
          </p:nvSpPr>
          <p:spPr>
            <a:xfrm>
              <a:off x="2606040" y="5340637"/>
              <a:ext cx="2468880" cy="624840"/>
            </a:xfrm>
            <a:prstGeom prst="roundRect">
              <a:avLst/>
            </a:prstGeom>
            <a:solidFill>
              <a:srgbClr val="D7D335">
                <a:alpha val="60000"/>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毛流の抽出</a:t>
              </a:r>
            </a:p>
          </p:txBody>
        </p:sp>
        <p:sp>
          <p:nvSpPr>
            <p:cNvPr id="7" name="四角形: 角を丸くする 6">
              <a:extLst>
                <a:ext uri="{FF2B5EF4-FFF2-40B4-BE49-F238E27FC236}">
                  <a16:creationId xmlns:a16="http://schemas.microsoft.com/office/drawing/2014/main" id="{57B9A8E1-1DD4-F1E8-5899-4339A28A9952}"/>
                </a:ext>
              </a:extLst>
            </p:cNvPr>
            <p:cNvSpPr/>
            <p:nvPr/>
          </p:nvSpPr>
          <p:spPr>
            <a:xfrm>
              <a:off x="5593082" y="4067680"/>
              <a:ext cx="2072640" cy="624840"/>
            </a:xfrm>
            <a:prstGeom prst="roundRect">
              <a:avLst/>
            </a:prstGeom>
            <a:solidFill>
              <a:srgbClr val="72AE7C">
                <a:alpha val="6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輪郭差分</a:t>
              </a:r>
              <a:r>
                <a:rPr kumimoji="1" lang="en-US" altLang="ja-JP" sz="2400" dirty="0">
                  <a:solidFill>
                    <a:schemeClr val="tx1"/>
                  </a:solidFill>
                </a:rPr>
                <a:t>NN</a:t>
              </a:r>
              <a:endParaRPr kumimoji="1" lang="ja-JP" altLang="en-US" sz="2400" dirty="0">
                <a:solidFill>
                  <a:schemeClr val="tx1"/>
                </a:solidFill>
              </a:endParaRPr>
            </a:p>
          </p:txBody>
        </p:sp>
        <p:sp>
          <p:nvSpPr>
            <p:cNvPr id="8" name="四角形: 角を丸くする 7">
              <a:extLst>
                <a:ext uri="{FF2B5EF4-FFF2-40B4-BE49-F238E27FC236}">
                  <a16:creationId xmlns:a16="http://schemas.microsoft.com/office/drawing/2014/main" id="{6C71F978-5FC6-8352-E72E-1D88FD6EB0AE}"/>
                </a:ext>
              </a:extLst>
            </p:cNvPr>
            <p:cNvSpPr/>
            <p:nvPr/>
          </p:nvSpPr>
          <p:spPr>
            <a:xfrm>
              <a:off x="5593082" y="5352275"/>
              <a:ext cx="2072640" cy="624840"/>
            </a:xfrm>
            <a:prstGeom prst="roundRect">
              <a:avLst/>
            </a:prstGeom>
            <a:solidFill>
              <a:srgbClr val="D7D335">
                <a:alpha val="60000"/>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solidFill>
                </a:rPr>
                <a:t>毛流差分</a:t>
              </a:r>
              <a:r>
                <a:rPr lang="en-US" altLang="ja-JP" sz="2400" dirty="0">
                  <a:solidFill>
                    <a:schemeClr val="tx1"/>
                  </a:solidFill>
                </a:rPr>
                <a:t>NN</a:t>
              </a:r>
              <a:endParaRPr kumimoji="1" lang="ja-JP" altLang="en-US" sz="2400" dirty="0">
                <a:solidFill>
                  <a:schemeClr val="tx1"/>
                </a:solidFill>
              </a:endParaRPr>
            </a:p>
          </p:txBody>
        </p:sp>
        <p:sp>
          <p:nvSpPr>
            <p:cNvPr id="9" name="四角形: 角を丸くする 8">
              <a:extLst>
                <a:ext uri="{FF2B5EF4-FFF2-40B4-BE49-F238E27FC236}">
                  <a16:creationId xmlns:a16="http://schemas.microsoft.com/office/drawing/2014/main" id="{419527F2-B224-4488-97EC-214A40C7DBA9}"/>
                </a:ext>
              </a:extLst>
            </p:cNvPr>
            <p:cNvSpPr/>
            <p:nvPr/>
          </p:nvSpPr>
          <p:spPr>
            <a:xfrm>
              <a:off x="8183884" y="4662040"/>
              <a:ext cx="2011680" cy="624840"/>
            </a:xfrm>
            <a:prstGeom prst="roundRect">
              <a:avLst/>
            </a:prstGeom>
            <a:solidFill>
              <a:srgbClr val="FF0909">
                <a:alpha val="6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solidFill>
                </a:rPr>
                <a:t>乱れ評価</a:t>
              </a:r>
              <a:r>
                <a:rPr lang="en-US" altLang="ja-JP" sz="2400" dirty="0">
                  <a:solidFill>
                    <a:schemeClr val="tx1"/>
                  </a:solidFill>
                </a:rPr>
                <a:t>NN</a:t>
              </a:r>
              <a:endParaRPr kumimoji="1" lang="ja-JP" altLang="en-US" sz="2400" dirty="0">
                <a:solidFill>
                  <a:schemeClr val="tx1"/>
                </a:solidFill>
              </a:endParaRPr>
            </a:p>
          </p:txBody>
        </p:sp>
        <p:sp>
          <p:nvSpPr>
            <p:cNvPr id="10" name="テキスト ボックス 9">
              <a:extLst>
                <a:ext uri="{FF2B5EF4-FFF2-40B4-BE49-F238E27FC236}">
                  <a16:creationId xmlns:a16="http://schemas.microsoft.com/office/drawing/2014/main" id="{5555F4CD-483F-69DC-C251-F16004CD2A4A}"/>
                </a:ext>
              </a:extLst>
            </p:cNvPr>
            <p:cNvSpPr txBox="1"/>
            <p:nvPr/>
          </p:nvSpPr>
          <p:spPr>
            <a:xfrm>
              <a:off x="10910066" y="4732375"/>
              <a:ext cx="1107996" cy="461665"/>
            </a:xfrm>
            <a:prstGeom prst="rect">
              <a:avLst/>
            </a:prstGeom>
            <a:noFill/>
          </p:spPr>
          <p:txBody>
            <a:bodyPr wrap="none" rtlCol="0">
              <a:spAutoFit/>
            </a:bodyPr>
            <a:lstStyle/>
            <a:p>
              <a:pPr algn="ctr"/>
              <a:r>
                <a:rPr lang="ja-JP" altLang="en-US" sz="2400" dirty="0"/>
                <a:t>評価値</a:t>
              </a:r>
              <a:endParaRPr kumimoji="1" lang="en-US" altLang="ja-JP" sz="2400" dirty="0"/>
            </a:p>
          </p:txBody>
        </p:sp>
        <p:cxnSp>
          <p:nvCxnSpPr>
            <p:cNvPr id="12" name="直線矢印コネクタ 11">
              <a:extLst>
                <a:ext uri="{FF2B5EF4-FFF2-40B4-BE49-F238E27FC236}">
                  <a16:creationId xmlns:a16="http://schemas.microsoft.com/office/drawing/2014/main" id="{6F57C156-7E9C-5518-760D-AF3A07AFB0A2}"/>
                </a:ext>
              </a:extLst>
            </p:cNvPr>
            <p:cNvCxnSpPr>
              <a:stCxn id="4" idx="3"/>
              <a:endCxn id="5" idx="1"/>
            </p:cNvCxnSpPr>
            <p:nvPr/>
          </p:nvCxnSpPr>
          <p:spPr>
            <a:xfrm flipV="1">
              <a:off x="1940629" y="4380100"/>
              <a:ext cx="665411" cy="505956"/>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0B17BC53-79FF-EFDB-0F41-6F448435AAEA}"/>
                </a:ext>
              </a:extLst>
            </p:cNvPr>
            <p:cNvCxnSpPr>
              <a:cxnSpLocks/>
              <a:stCxn id="4" idx="3"/>
              <a:endCxn id="6" idx="1"/>
            </p:cNvCxnSpPr>
            <p:nvPr/>
          </p:nvCxnSpPr>
          <p:spPr>
            <a:xfrm>
              <a:off x="1940629" y="4886056"/>
              <a:ext cx="665411" cy="767001"/>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41A2BC5-1CA5-56C5-40A1-AC1094161675}"/>
                </a:ext>
              </a:extLst>
            </p:cNvPr>
            <p:cNvCxnSpPr>
              <a:cxnSpLocks/>
              <a:endCxn id="7" idx="1"/>
            </p:cNvCxnSpPr>
            <p:nvPr/>
          </p:nvCxnSpPr>
          <p:spPr>
            <a:xfrm>
              <a:off x="5062257" y="4380100"/>
              <a:ext cx="530825"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21BDD3D9-0B02-65C9-5038-E66CE34977FF}"/>
                </a:ext>
              </a:extLst>
            </p:cNvPr>
            <p:cNvCxnSpPr>
              <a:cxnSpLocks/>
            </p:cNvCxnSpPr>
            <p:nvPr/>
          </p:nvCxnSpPr>
          <p:spPr>
            <a:xfrm>
              <a:off x="5074920" y="5653057"/>
              <a:ext cx="530825" cy="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DBCA8647-3496-E52E-278F-CBEDDD06C817}"/>
                </a:ext>
              </a:extLst>
            </p:cNvPr>
            <p:cNvCxnSpPr>
              <a:cxnSpLocks/>
              <a:stCxn id="7" idx="3"/>
              <a:endCxn id="9" idx="1"/>
            </p:cNvCxnSpPr>
            <p:nvPr/>
          </p:nvCxnSpPr>
          <p:spPr>
            <a:xfrm>
              <a:off x="7665722" y="4380100"/>
              <a:ext cx="518162" cy="594360"/>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303C77A5-67CA-EC42-0188-C318DEFF4C3C}"/>
                </a:ext>
              </a:extLst>
            </p:cNvPr>
            <p:cNvCxnSpPr>
              <a:cxnSpLocks/>
              <a:stCxn id="8" idx="3"/>
              <a:endCxn id="9" idx="1"/>
            </p:cNvCxnSpPr>
            <p:nvPr/>
          </p:nvCxnSpPr>
          <p:spPr>
            <a:xfrm flipV="1">
              <a:off x="7665722" y="4974460"/>
              <a:ext cx="518162" cy="690235"/>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C23AEE67-BF66-5AA4-BB28-452C58479DAB}"/>
                </a:ext>
              </a:extLst>
            </p:cNvPr>
            <p:cNvCxnSpPr>
              <a:cxnSpLocks/>
              <a:stCxn id="9" idx="3"/>
              <a:endCxn id="10" idx="1"/>
            </p:cNvCxnSpPr>
            <p:nvPr/>
          </p:nvCxnSpPr>
          <p:spPr>
            <a:xfrm flipV="1">
              <a:off x="10195564" y="4963208"/>
              <a:ext cx="714502" cy="11252"/>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テキスト ボックス 26">
            <a:extLst>
              <a:ext uri="{FF2B5EF4-FFF2-40B4-BE49-F238E27FC236}">
                <a16:creationId xmlns:a16="http://schemas.microsoft.com/office/drawing/2014/main" id="{CF38BF08-31E9-A282-A62B-8B8D2EF5D16D}"/>
              </a:ext>
            </a:extLst>
          </p:cNvPr>
          <p:cNvSpPr txBox="1"/>
          <p:nvPr/>
        </p:nvSpPr>
        <p:spPr>
          <a:xfrm>
            <a:off x="996323" y="1564155"/>
            <a:ext cx="7930376" cy="2246769"/>
          </a:xfrm>
          <a:prstGeom prst="rect">
            <a:avLst/>
          </a:prstGeom>
          <a:noFill/>
        </p:spPr>
        <p:txBody>
          <a:bodyPr wrap="none" rtlCol="0">
            <a:spAutoFit/>
          </a:bodyPr>
          <a:lstStyle/>
          <a:p>
            <a:r>
              <a:rPr kumimoji="1" lang="ja-JP" altLang="en-US" sz="2800" dirty="0"/>
              <a:t>以下の一連のシステムを構築する</a:t>
            </a:r>
            <a:endParaRPr kumimoji="1" lang="en-US" altLang="ja-JP" sz="2800" dirty="0"/>
          </a:p>
          <a:p>
            <a:endParaRPr kumimoji="1" lang="en-US" altLang="ja-JP" sz="2800" dirty="0"/>
          </a:p>
          <a:p>
            <a:pPr marL="914400" lvl="1" indent="-457200">
              <a:buFont typeface="Arial" panose="020B0604020202020204" pitchFamily="34" charset="0"/>
              <a:buChar char="•"/>
            </a:pPr>
            <a:r>
              <a:rPr kumimoji="1" lang="ja-JP" altLang="en-US" sz="2800" dirty="0"/>
              <a:t>頭髪の輪郭と毛流の</a:t>
            </a:r>
            <a:r>
              <a:rPr lang="ja-JP" altLang="en-US" sz="2800" dirty="0"/>
              <a:t>２つの評価指標</a:t>
            </a:r>
            <a:endParaRPr lang="en-US" altLang="ja-JP" sz="2800" dirty="0"/>
          </a:p>
          <a:p>
            <a:pPr marL="914400" lvl="1" indent="-457200">
              <a:buFont typeface="Arial" panose="020B0604020202020204" pitchFamily="34" charset="0"/>
              <a:buChar char="•"/>
            </a:pPr>
            <a:r>
              <a:rPr kumimoji="1" lang="ja-JP" altLang="en-US" sz="2800" dirty="0"/>
              <a:t>着用前後におけるそれぞれの差分を定量化</a:t>
            </a:r>
            <a:endParaRPr lang="en-US" altLang="ja-JP" sz="2800" dirty="0"/>
          </a:p>
          <a:p>
            <a:pPr marL="914400" lvl="1" indent="-457200">
              <a:buFont typeface="Arial" panose="020B0604020202020204" pitchFamily="34" charset="0"/>
              <a:buChar char="•"/>
            </a:pPr>
            <a:r>
              <a:rPr kumimoji="1" lang="ja-JP" altLang="en-US" sz="2800" dirty="0"/>
              <a:t>乱れの強弱を評価し評価値を出力</a:t>
            </a:r>
            <a:endParaRPr kumimoji="1" lang="en-US" altLang="ja-JP" sz="2800" dirty="0"/>
          </a:p>
        </p:txBody>
      </p:sp>
      <p:sp>
        <p:nvSpPr>
          <p:cNvPr id="28" name="左中かっこ 27">
            <a:extLst>
              <a:ext uri="{FF2B5EF4-FFF2-40B4-BE49-F238E27FC236}">
                <a16:creationId xmlns:a16="http://schemas.microsoft.com/office/drawing/2014/main" id="{0D8F7D07-34C6-A93F-E37F-15FEA861B8AD}"/>
              </a:ext>
            </a:extLst>
          </p:cNvPr>
          <p:cNvSpPr/>
          <p:nvPr/>
        </p:nvSpPr>
        <p:spPr>
          <a:xfrm>
            <a:off x="1057283" y="2463064"/>
            <a:ext cx="274320" cy="1198124"/>
          </a:xfrm>
          <a:prstGeom prst="leftBrace">
            <a:avLst/>
          </a:prstGeom>
          <a:no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1119639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図 21" descr="抽象, 挿絵 が含まれている画像&#10;&#10;自動的に生成された説明">
            <a:extLst>
              <a:ext uri="{FF2B5EF4-FFF2-40B4-BE49-F238E27FC236}">
                <a16:creationId xmlns:a16="http://schemas.microsoft.com/office/drawing/2014/main" id="{7BF148A4-2617-E4B7-1EAE-CF1010AA2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24" name="図 23" descr="アイコン&#10;&#10;自動的に生成された説明">
            <a:extLst>
              <a:ext uri="{FF2B5EF4-FFF2-40B4-BE49-F238E27FC236}">
                <a16:creationId xmlns:a16="http://schemas.microsoft.com/office/drawing/2014/main" id="{A5FC8377-E4CE-59B5-7AC6-DBD36C57D5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研究の概要</a:t>
            </a:r>
          </a:p>
        </p:txBody>
      </p:sp>
      <p:sp>
        <p:nvSpPr>
          <p:cNvPr id="3" name="四角形: 角を丸くする 2">
            <a:extLst>
              <a:ext uri="{FF2B5EF4-FFF2-40B4-BE49-F238E27FC236}">
                <a16:creationId xmlns:a16="http://schemas.microsoft.com/office/drawing/2014/main" id="{24BBF8D8-DAF2-B48B-FA91-BF021A31B8E4}"/>
              </a:ext>
            </a:extLst>
          </p:cNvPr>
          <p:cNvSpPr/>
          <p:nvPr/>
        </p:nvSpPr>
        <p:spPr>
          <a:xfrm>
            <a:off x="838200" y="1690688"/>
            <a:ext cx="2819400" cy="624840"/>
          </a:xfrm>
          <a:prstGeom prst="roundRect">
            <a:avLst/>
          </a:prstGeom>
          <a:solidFill>
            <a:srgbClr val="72AE7C">
              <a:alpha val="6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頭髪輪郭の抽出</a:t>
            </a:r>
          </a:p>
        </p:txBody>
      </p:sp>
      <p:sp>
        <p:nvSpPr>
          <p:cNvPr id="11" name="テキスト ボックス 10">
            <a:extLst>
              <a:ext uri="{FF2B5EF4-FFF2-40B4-BE49-F238E27FC236}">
                <a16:creationId xmlns:a16="http://schemas.microsoft.com/office/drawing/2014/main" id="{15425A10-20AC-04A1-F04B-8464B15F7791}"/>
              </a:ext>
            </a:extLst>
          </p:cNvPr>
          <p:cNvSpPr txBox="1"/>
          <p:nvPr/>
        </p:nvSpPr>
        <p:spPr>
          <a:xfrm>
            <a:off x="1447800" y="2336672"/>
            <a:ext cx="5161991" cy="954107"/>
          </a:xfrm>
          <a:prstGeom prst="rect">
            <a:avLst/>
          </a:prstGeom>
          <a:noFill/>
        </p:spPr>
        <p:txBody>
          <a:bodyPr wrap="none" rtlCol="0">
            <a:spAutoFit/>
          </a:bodyPr>
          <a:lstStyle/>
          <a:p>
            <a:pPr marL="457200" indent="-457200">
              <a:buFont typeface="Arial" panose="020B0604020202020204" pitchFamily="34" charset="0"/>
              <a:buChar char="•"/>
            </a:pPr>
            <a:r>
              <a:rPr kumimoji="1" lang="en-US" altLang="ja-JP" sz="2800" dirty="0"/>
              <a:t>Matte-Anything</a:t>
            </a:r>
          </a:p>
          <a:p>
            <a:pPr marL="457200" indent="-457200">
              <a:buFont typeface="Arial" panose="020B0604020202020204" pitchFamily="34" charset="0"/>
              <a:buChar char="•"/>
            </a:pPr>
            <a:r>
              <a:rPr kumimoji="1" lang="ja-JP" altLang="en-US" sz="2800" dirty="0"/>
              <a:t>毛先まで</a:t>
            </a:r>
            <a:r>
              <a:rPr kumimoji="1" lang="ja-JP" altLang="en-US" sz="2800" dirty="0">
                <a:solidFill>
                  <a:srgbClr val="FF0000"/>
                </a:solidFill>
              </a:rPr>
              <a:t>詳細に</a:t>
            </a:r>
            <a:r>
              <a:rPr kumimoji="1" lang="en-US" altLang="ja-JP" sz="2800" dirty="0"/>
              <a:t>Matting</a:t>
            </a:r>
            <a:r>
              <a:rPr kumimoji="1" lang="ja-JP" altLang="en-US" sz="2800" dirty="0"/>
              <a:t>可能</a:t>
            </a:r>
            <a:endParaRPr kumimoji="1" lang="en-US" altLang="ja-JP" sz="2800" dirty="0"/>
          </a:p>
        </p:txBody>
      </p:sp>
      <p:sp>
        <p:nvSpPr>
          <p:cNvPr id="20" name="テキスト ボックス 19">
            <a:extLst>
              <a:ext uri="{FF2B5EF4-FFF2-40B4-BE49-F238E27FC236}">
                <a16:creationId xmlns:a16="http://schemas.microsoft.com/office/drawing/2014/main" id="{DD4D7035-A0FA-1A14-1742-957EF0DD2D66}"/>
              </a:ext>
            </a:extLst>
          </p:cNvPr>
          <p:cNvSpPr txBox="1"/>
          <p:nvPr/>
        </p:nvSpPr>
        <p:spPr>
          <a:xfrm>
            <a:off x="4572000" y="6488668"/>
            <a:ext cx="8305800" cy="369332"/>
          </a:xfrm>
          <a:prstGeom prst="rect">
            <a:avLst/>
          </a:prstGeom>
          <a:noFill/>
        </p:spPr>
        <p:txBody>
          <a:bodyPr wrap="square">
            <a:spAutoFit/>
          </a:bodyPr>
          <a:lstStyle/>
          <a:p>
            <a:r>
              <a:rPr lang="ja-JP" altLang="en-US" dirty="0">
                <a:solidFill>
                  <a:schemeClr val="bg1">
                    <a:lumMod val="65000"/>
                  </a:schemeClr>
                </a:solidFill>
              </a:rPr>
              <a:t>https://github.com/hustvl/Matte-Anything/blob/main/figs/demo1.png</a:t>
            </a:r>
          </a:p>
        </p:txBody>
      </p:sp>
      <p:pic>
        <p:nvPicPr>
          <p:cNvPr id="29" name="図 28" descr="クマの顔&#10;&#10;自動的に生成された説明">
            <a:extLst>
              <a:ext uri="{FF2B5EF4-FFF2-40B4-BE49-F238E27FC236}">
                <a16:creationId xmlns:a16="http://schemas.microsoft.com/office/drawing/2014/main" id="{5EF5D4A8-FEB5-4CFF-FCBE-0C7B21D96B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4115" y="3303385"/>
            <a:ext cx="2209914" cy="3098959"/>
          </a:xfrm>
          <a:prstGeom prst="rect">
            <a:avLst/>
          </a:prstGeom>
        </p:spPr>
      </p:pic>
      <p:pic>
        <p:nvPicPr>
          <p:cNvPr id="31" name="図 30" descr="白い背景に刷っている猫の白黒写真&#10;&#10;中程度の精度で自動的に生成された説明">
            <a:extLst>
              <a:ext uri="{FF2B5EF4-FFF2-40B4-BE49-F238E27FC236}">
                <a16:creationId xmlns:a16="http://schemas.microsoft.com/office/drawing/2014/main" id="{E491760B-595B-389A-D696-5D2369E4D9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85975" y="3309735"/>
            <a:ext cx="2165461" cy="3092609"/>
          </a:xfrm>
          <a:prstGeom prst="rect">
            <a:avLst/>
          </a:prstGeom>
        </p:spPr>
      </p:pic>
      <p:pic>
        <p:nvPicPr>
          <p:cNvPr id="33" name="図 32" descr="茶色のクマ&#10;&#10;自動的に生成された説明">
            <a:extLst>
              <a:ext uri="{FF2B5EF4-FFF2-40B4-BE49-F238E27FC236}">
                <a16:creationId xmlns:a16="http://schemas.microsoft.com/office/drawing/2014/main" id="{92FFB393-8674-F2B1-3BFB-AF4EEBB3B4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38784" y="3290779"/>
            <a:ext cx="2184512" cy="3035456"/>
          </a:xfrm>
          <a:prstGeom prst="rect">
            <a:avLst/>
          </a:prstGeom>
        </p:spPr>
      </p:pic>
    </p:spTree>
    <p:extLst>
      <p:ext uri="{BB962C8B-B14F-4D97-AF65-F5344CB8AC3E}">
        <p14:creationId xmlns:p14="http://schemas.microsoft.com/office/powerpoint/2010/main" val="2009375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descr="抽象, 挿絵 が含まれている画像&#10;&#10;自動的に生成された説明">
            <a:extLst>
              <a:ext uri="{FF2B5EF4-FFF2-40B4-BE49-F238E27FC236}">
                <a16:creationId xmlns:a16="http://schemas.microsoft.com/office/drawing/2014/main" id="{D9759FFB-73A7-D3F7-9C08-764DD6626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14" name="図 13" descr="アイコン&#10;&#10;自動的に生成された説明">
            <a:extLst>
              <a:ext uri="{FF2B5EF4-FFF2-40B4-BE49-F238E27FC236}">
                <a16:creationId xmlns:a16="http://schemas.microsoft.com/office/drawing/2014/main" id="{FECE0B2D-2AB1-3367-EE0B-73CE924C73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研究の概要</a:t>
            </a:r>
          </a:p>
        </p:txBody>
      </p:sp>
      <p:sp>
        <p:nvSpPr>
          <p:cNvPr id="11" name="テキスト ボックス 10">
            <a:extLst>
              <a:ext uri="{FF2B5EF4-FFF2-40B4-BE49-F238E27FC236}">
                <a16:creationId xmlns:a16="http://schemas.microsoft.com/office/drawing/2014/main" id="{15425A10-20AC-04A1-F04B-8464B15F7791}"/>
              </a:ext>
            </a:extLst>
          </p:cNvPr>
          <p:cNvSpPr txBox="1"/>
          <p:nvPr/>
        </p:nvSpPr>
        <p:spPr>
          <a:xfrm>
            <a:off x="1417320" y="2398822"/>
            <a:ext cx="10774680" cy="1384995"/>
          </a:xfrm>
          <a:prstGeom prst="rect">
            <a:avLst/>
          </a:prstGeom>
          <a:noFill/>
        </p:spPr>
        <p:txBody>
          <a:bodyPr wrap="square" rtlCol="0">
            <a:spAutoFit/>
          </a:bodyPr>
          <a:lstStyle/>
          <a:p>
            <a:pPr marL="457200" indent="-457200">
              <a:buFont typeface="Arial" panose="020B0604020202020204" pitchFamily="34" charset="0"/>
              <a:buChar char="•"/>
            </a:pPr>
            <a:r>
              <a:rPr kumimoji="1" lang="en-US" altLang="ja-JP" sz="2800" dirty="0"/>
              <a:t>OpenCV</a:t>
            </a:r>
            <a:r>
              <a:rPr kumimoji="1" lang="ja-JP" altLang="en-US" sz="2800" dirty="0"/>
              <a:t>で頭髪の輪郭を抽出</a:t>
            </a:r>
            <a:endParaRPr kumimoji="1" lang="en-US" altLang="ja-JP" sz="2800" dirty="0"/>
          </a:p>
          <a:p>
            <a:pPr marL="457200" indent="-457200">
              <a:buFont typeface="Arial" panose="020B0604020202020204" pitchFamily="34" charset="0"/>
              <a:buChar char="•"/>
            </a:pPr>
            <a:r>
              <a:rPr kumimoji="1" lang="en-US" altLang="ja-JP" sz="2800" dirty="0"/>
              <a:t>Matte-Anything</a:t>
            </a:r>
            <a:r>
              <a:rPr kumimoji="1" lang="ja-JP" altLang="en-US" sz="2800" dirty="0"/>
              <a:t>の頭髪マスク画像と掛け合わせて</a:t>
            </a:r>
            <a:br>
              <a:rPr kumimoji="1" lang="en-US" altLang="ja-JP" sz="2800" dirty="0"/>
            </a:br>
            <a:r>
              <a:rPr kumimoji="1" lang="ja-JP" altLang="en-US" sz="2800" dirty="0"/>
              <a:t>詳細な頭髪輪郭を得る</a:t>
            </a:r>
            <a:endParaRPr kumimoji="1" lang="en-US" altLang="ja-JP" sz="2800" dirty="0"/>
          </a:p>
        </p:txBody>
      </p:sp>
      <p:sp>
        <p:nvSpPr>
          <p:cNvPr id="8" name="乗算記号 7">
            <a:extLst>
              <a:ext uri="{FF2B5EF4-FFF2-40B4-BE49-F238E27FC236}">
                <a16:creationId xmlns:a16="http://schemas.microsoft.com/office/drawing/2014/main" id="{651E93B1-9883-8B81-3DBE-E97E4B4BBDBC}"/>
              </a:ext>
            </a:extLst>
          </p:cNvPr>
          <p:cNvSpPr/>
          <p:nvPr/>
        </p:nvSpPr>
        <p:spPr>
          <a:xfrm>
            <a:off x="5575439" y="4604780"/>
            <a:ext cx="960120" cy="914400"/>
          </a:xfrm>
          <a:prstGeom prst="mathMultiply">
            <a:avLst>
              <a:gd name="adj1" fmla="val 15187"/>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960608CC-C4E0-99D6-3517-5EF68C7CC6A9}"/>
              </a:ext>
            </a:extLst>
          </p:cNvPr>
          <p:cNvSpPr/>
          <p:nvPr/>
        </p:nvSpPr>
        <p:spPr>
          <a:xfrm>
            <a:off x="838200" y="1690688"/>
            <a:ext cx="2819400" cy="624840"/>
          </a:xfrm>
          <a:prstGeom prst="roundRect">
            <a:avLst/>
          </a:prstGeom>
          <a:solidFill>
            <a:srgbClr val="72AE7C">
              <a:alpha val="60000"/>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頭髪輪郭の抽出</a:t>
            </a:r>
          </a:p>
        </p:txBody>
      </p:sp>
      <p:pic>
        <p:nvPicPr>
          <p:cNvPr id="19" name="図 18" descr="光 が含まれている画像&#10;&#10;自動的に生成された説明">
            <a:extLst>
              <a:ext uri="{FF2B5EF4-FFF2-40B4-BE49-F238E27FC236}">
                <a16:creationId xmlns:a16="http://schemas.microsoft.com/office/drawing/2014/main" id="{B1336459-7E2F-912F-FE84-CA8F9571FE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98321" y="4078604"/>
            <a:ext cx="3872000" cy="2178000"/>
          </a:xfrm>
          <a:prstGeom prst="rect">
            <a:avLst/>
          </a:prstGeom>
        </p:spPr>
      </p:pic>
      <p:pic>
        <p:nvPicPr>
          <p:cNvPr id="21" name="図 20">
            <a:extLst>
              <a:ext uri="{FF2B5EF4-FFF2-40B4-BE49-F238E27FC236}">
                <a16:creationId xmlns:a16="http://schemas.microsoft.com/office/drawing/2014/main" id="{759786D1-C7C8-5432-568D-B413B00161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21681" y="4087812"/>
            <a:ext cx="3872000" cy="2178000"/>
          </a:xfrm>
          <a:prstGeom prst="rect">
            <a:avLst/>
          </a:prstGeom>
        </p:spPr>
      </p:pic>
    </p:spTree>
    <p:extLst>
      <p:ext uri="{BB962C8B-B14F-4D97-AF65-F5344CB8AC3E}">
        <p14:creationId xmlns:p14="http://schemas.microsoft.com/office/powerpoint/2010/main" val="1221778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図 13" descr="抽象, 挿絵 が含まれている画像&#10;&#10;自動的に生成された説明">
            <a:extLst>
              <a:ext uri="{FF2B5EF4-FFF2-40B4-BE49-F238E27FC236}">
                <a16:creationId xmlns:a16="http://schemas.microsoft.com/office/drawing/2014/main" id="{03712126-2C9A-E789-00F4-8AFA2BD03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15" name="図 14" descr="アイコン&#10;&#10;自動的に生成された説明">
            <a:extLst>
              <a:ext uri="{FF2B5EF4-FFF2-40B4-BE49-F238E27FC236}">
                <a16:creationId xmlns:a16="http://schemas.microsoft.com/office/drawing/2014/main" id="{5054A52D-E34E-1A3E-E181-499BBA835B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4" name="四角形: 角を丸くする 3">
            <a:extLst>
              <a:ext uri="{FF2B5EF4-FFF2-40B4-BE49-F238E27FC236}">
                <a16:creationId xmlns:a16="http://schemas.microsoft.com/office/drawing/2014/main" id="{F2F97CE0-AB79-8450-81CA-C40F96A2F0B7}"/>
              </a:ext>
            </a:extLst>
          </p:cNvPr>
          <p:cNvSpPr/>
          <p:nvPr/>
        </p:nvSpPr>
        <p:spPr>
          <a:xfrm>
            <a:off x="838200" y="1683003"/>
            <a:ext cx="2468880" cy="624840"/>
          </a:xfrm>
          <a:prstGeom prst="roundRect">
            <a:avLst/>
          </a:prstGeom>
          <a:solidFill>
            <a:srgbClr val="D7D335">
              <a:alpha val="60000"/>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rPr>
              <a:t>毛流の抽出</a:t>
            </a:r>
          </a:p>
        </p:txBody>
      </p:sp>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研究の概要</a:t>
            </a:r>
          </a:p>
        </p:txBody>
      </p:sp>
      <p:pic>
        <p:nvPicPr>
          <p:cNvPr id="9" name="図 8" descr="文字の書かれた紙&#10;&#10;自動的に生成された説明">
            <a:extLst>
              <a:ext uri="{FF2B5EF4-FFF2-40B4-BE49-F238E27FC236}">
                <a16:creationId xmlns:a16="http://schemas.microsoft.com/office/drawing/2014/main" id="{15E15C62-B3E5-EF9E-A022-684EE1D1ED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0260" y="2588373"/>
            <a:ext cx="1794540" cy="3749040"/>
          </a:xfrm>
          <a:prstGeom prst="rect">
            <a:avLst/>
          </a:prstGeom>
        </p:spPr>
      </p:pic>
      <p:sp>
        <p:nvSpPr>
          <p:cNvPr id="12" name="テキスト ボックス 11">
            <a:extLst>
              <a:ext uri="{FF2B5EF4-FFF2-40B4-BE49-F238E27FC236}">
                <a16:creationId xmlns:a16="http://schemas.microsoft.com/office/drawing/2014/main" id="{D46EAC08-568B-D251-9901-F3C2763E35CE}"/>
              </a:ext>
            </a:extLst>
          </p:cNvPr>
          <p:cNvSpPr txBox="1"/>
          <p:nvPr/>
        </p:nvSpPr>
        <p:spPr>
          <a:xfrm>
            <a:off x="2072640" y="6436732"/>
            <a:ext cx="10180320" cy="369332"/>
          </a:xfrm>
          <a:prstGeom prst="rect">
            <a:avLst/>
          </a:prstGeom>
          <a:noFill/>
        </p:spPr>
        <p:txBody>
          <a:bodyPr wrap="square">
            <a:spAutoFit/>
          </a:bodyPr>
          <a:lstStyle/>
          <a:p>
            <a:r>
              <a:rPr lang="ja-JP" altLang="en-US" dirty="0">
                <a:solidFill>
                  <a:schemeClr val="bg1">
                    <a:lumMod val="65000"/>
                  </a:schemeClr>
                </a:solidFill>
              </a:rPr>
              <a:t>https://www.amazon.co.jp/dp/B08RB651JR?tag=biglobeugc-kitemiyo-22&amp;linkCode=osi&amp;th=1</a:t>
            </a:r>
          </a:p>
        </p:txBody>
      </p:sp>
      <p:sp>
        <p:nvSpPr>
          <p:cNvPr id="13" name="テキスト ボックス 12">
            <a:extLst>
              <a:ext uri="{FF2B5EF4-FFF2-40B4-BE49-F238E27FC236}">
                <a16:creationId xmlns:a16="http://schemas.microsoft.com/office/drawing/2014/main" id="{431A2AF7-ADB5-6431-18DA-97B4A72781BA}"/>
              </a:ext>
            </a:extLst>
          </p:cNvPr>
          <p:cNvSpPr txBox="1"/>
          <p:nvPr/>
        </p:nvSpPr>
        <p:spPr>
          <a:xfrm>
            <a:off x="1493520" y="2588373"/>
            <a:ext cx="7827784" cy="1384995"/>
          </a:xfrm>
          <a:prstGeom prst="rect">
            <a:avLst/>
          </a:prstGeom>
          <a:noFill/>
        </p:spPr>
        <p:txBody>
          <a:bodyPr wrap="none" rtlCol="0">
            <a:spAutoFit/>
          </a:bodyPr>
          <a:lstStyle/>
          <a:p>
            <a:pPr marL="457200" indent="-457200">
              <a:buFont typeface="Arial" panose="020B0604020202020204" pitchFamily="34" charset="0"/>
              <a:buChar char="•"/>
            </a:pPr>
            <a:r>
              <a:rPr kumimoji="1" lang="ja-JP" altLang="en-US" sz="2800" dirty="0"/>
              <a:t>毛流を調べたい髪の毛をメッシュ状に染髪</a:t>
            </a:r>
            <a:endParaRPr lang="en-US" altLang="ja-JP" sz="2800" dirty="0"/>
          </a:p>
          <a:p>
            <a:pPr marL="457200" indent="-457200">
              <a:buFont typeface="Arial" panose="020B0604020202020204" pitchFamily="34" charset="0"/>
              <a:buChar char="•"/>
            </a:pPr>
            <a:r>
              <a:rPr lang="ja-JP" altLang="en-US" sz="2800" dirty="0"/>
              <a:t>染髪部分の位置・形状の差分を調べる</a:t>
            </a:r>
            <a:endParaRPr lang="en-US" altLang="ja-JP" sz="2800" dirty="0"/>
          </a:p>
          <a:p>
            <a:pPr marL="457200" indent="-457200">
              <a:buFont typeface="Arial" panose="020B0604020202020204" pitchFamily="34" charset="0"/>
              <a:buChar char="•"/>
            </a:pPr>
            <a:r>
              <a:rPr kumimoji="1" lang="ja-JP" altLang="en-US" sz="2800" dirty="0"/>
              <a:t>染髪には一時的な染髪が可能な染髪剤を使用</a:t>
            </a:r>
          </a:p>
        </p:txBody>
      </p:sp>
    </p:spTree>
    <p:extLst>
      <p:ext uri="{BB962C8B-B14F-4D97-AF65-F5344CB8AC3E}">
        <p14:creationId xmlns:p14="http://schemas.microsoft.com/office/powerpoint/2010/main" val="4270673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descr="抽象, 挿絵 が含まれている画像&#10;&#10;自動的に生成された説明">
            <a:extLst>
              <a:ext uri="{FF2B5EF4-FFF2-40B4-BE49-F238E27FC236}">
                <a16:creationId xmlns:a16="http://schemas.microsoft.com/office/drawing/2014/main" id="{1FE52A17-1647-49C1-CBD1-66947871B1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17" name="図 16" descr="アイコン&#10;&#10;自動的に生成された説明">
            <a:extLst>
              <a:ext uri="{FF2B5EF4-FFF2-40B4-BE49-F238E27FC236}">
                <a16:creationId xmlns:a16="http://schemas.microsoft.com/office/drawing/2014/main" id="{0A172020-AD64-C738-BB64-DB64E17061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a:t>
            </a:r>
            <a:r>
              <a:rPr lang="ja-JP" altLang="en-US" dirty="0"/>
              <a:t>現状</a:t>
            </a:r>
            <a:endParaRPr kumimoji="1" lang="ja-JP" altLang="en-US" dirty="0"/>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p:txBody>
          <a:bodyPr/>
          <a:lstStyle/>
          <a:p>
            <a:r>
              <a:rPr lang="en-US" altLang="ja-JP" dirty="0"/>
              <a:t>32</a:t>
            </a:r>
            <a:r>
              <a:rPr lang="ja-JP" altLang="en-US" dirty="0"/>
              <a:t>人の前後左右の頭部を撮影した</a:t>
            </a:r>
            <a:endParaRPr lang="en-US" altLang="ja-JP" dirty="0"/>
          </a:p>
          <a:p>
            <a:pPr marL="0" indent="0">
              <a:buNone/>
            </a:pPr>
            <a:endParaRPr lang="en-US" altLang="ja-JP" dirty="0"/>
          </a:p>
          <a:p>
            <a:pPr marL="0" indent="0">
              <a:buNone/>
            </a:pPr>
            <a:endParaRPr lang="en-US" altLang="ja-JP" dirty="0"/>
          </a:p>
        </p:txBody>
      </p:sp>
      <p:pic>
        <p:nvPicPr>
          <p:cNvPr id="15" name="図 14" descr="屋内, 座る, テーブル, フロント が含まれている画像&#10;&#10;自動的に生成された説明">
            <a:extLst>
              <a:ext uri="{FF2B5EF4-FFF2-40B4-BE49-F238E27FC236}">
                <a16:creationId xmlns:a16="http://schemas.microsoft.com/office/drawing/2014/main" id="{EA9DD209-51D9-979B-7E49-3235EC43A9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01863" y="2427726"/>
            <a:ext cx="2785110" cy="3713480"/>
          </a:xfrm>
          <a:prstGeom prst="rect">
            <a:avLst/>
          </a:prstGeom>
        </p:spPr>
      </p:pic>
      <p:sp>
        <p:nvSpPr>
          <p:cNvPr id="18" name="テキスト ボックス 17">
            <a:extLst>
              <a:ext uri="{FF2B5EF4-FFF2-40B4-BE49-F238E27FC236}">
                <a16:creationId xmlns:a16="http://schemas.microsoft.com/office/drawing/2014/main" id="{E83937B4-8BC4-6611-2C33-1442B3D360B9}"/>
              </a:ext>
            </a:extLst>
          </p:cNvPr>
          <p:cNvSpPr txBox="1"/>
          <p:nvPr/>
        </p:nvSpPr>
        <p:spPr>
          <a:xfrm>
            <a:off x="5283141" y="6067460"/>
            <a:ext cx="2383986" cy="707886"/>
          </a:xfrm>
          <a:prstGeom prst="rect">
            <a:avLst/>
          </a:prstGeom>
          <a:noFill/>
        </p:spPr>
        <p:txBody>
          <a:bodyPr wrap="none" rtlCol="0">
            <a:spAutoFit/>
          </a:bodyPr>
          <a:lstStyle/>
          <a:p>
            <a:r>
              <a:rPr kumimoji="1" lang="en-US" altLang="ja-JP" sz="2000" dirty="0"/>
              <a:t>ELECOM</a:t>
            </a:r>
          </a:p>
          <a:p>
            <a:r>
              <a:rPr lang="en-US" altLang="ja-JP" sz="2000" dirty="0"/>
              <a:t>UCAM-CX20ABBK</a:t>
            </a:r>
            <a:endParaRPr kumimoji="1" lang="ja-JP" altLang="en-US" sz="2000" dirty="0"/>
          </a:p>
        </p:txBody>
      </p:sp>
      <p:pic>
        <p:nvPicPr>
          <p:cNvPr id="20" name="図 19" descr="ドアの前に立つ男性&#10;&#10;中程度の精度で自動的に生成された説明">
            <a:extLst>
              <a:ext uri="{FF2B5EF4-FFF2-40B4-BE49-F238E27FC236}">
                <a16:creationId xmlns:a16="http://schemas.microsoft.com/office/drawing/2014/main" id="{61887169-285A-DB25-F7DC-D8DAB793FA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33626" y="2541296"/>
            <a:ext cx="2937494" cy="1652340"/>
          </a:xfrm>
          <a:prstGeom prst="rect">
            <a:avLst/>
          </a:prstGeom>
        </p:spPr>
      </p:pic>
      <p:pic>
        <p:nvPicPr>
          <p:cNvPr id="22" name="図 21" descr="男, 人, 立つ, フロント が含まれている画像&#10;&#10;自動的に生成された説明">
            <a:extLst>
              <a:ext uri="{FF2B5EF4-FFF2-40B4-BE49-F238E27FC236}">
                <a16:creationId xmlns:a16="http://schemas.microsoft.com/office/drawing/2014/main" id="{A6BEEFE6-B644-5D76-3E74-77ABC0917E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16410" y="4261104"/>
            <a:ext cx="2937493" cy="1652340"/>
          </a:xfrm>
          <a:prstGeom prst="rect">
            <a:avLst/>
          </a:prstGeom>
        </p:spPr>
      </p:pic>
      <p:pic>
        <p:nvPicPr>
          <p:cNvPr id="24" name="図 23" descr="白い壁の前に立っている男性&#10;&#10;中程度の精度で自動的に生成された説明">
            <a:extLst>
              <a:ext uri="{FF2B5EF4-FFF2-40B4-BE49-F238E27FC236}">
                <a16:creationId xmlns:a16="http://schemas.microsoft.com/office/drawing/2014/main" id="{7531A002-2AFC-F858-C26F-AB414A92CD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88427" y="5013503"/>
            <a:ext cx="2937493" cy="1652340"/>
          </a:xfrm>
          <a:prstGeom prst="rect">
            <a:avLst/>
          </a:prstGeom>
        </p:spPr>
      </p:pic>
      <p:pic>
        <p:nvPicPr>
          <p:cNvPr id="26" name="図 25" descr="アプリケーション&#10;&#10;低い精度で自動的に生成された説明">
            <a:extLst>
              <a:ext uri="{FF2B5EF4-FFF2-40B4-BE49-F238E27FC236}">
                <a16:creationId xmlns:a16="http://schemas.microsoft.com/office/drawing/2014/main" id="{5BE203BC-794D-97C7-C74C-1DD8B7074E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45746" y="3293695"/>
            <a:ext cx="2937491" cy="1652339"/>
          </a:xfrm>
          <a:prstGeom prst="rect">
            <a:avLst/>
          </a:prstGeom>
        </p:spPr>
      </p:pic>
    </p:spTree>
    <p:extLst>
      <p:ext uri="{BB962C8B-B14F-4D97-AF65-F5344CB8AC3E}">
        <p14:creationId xmlns:p14="http://schemas.microsoft.com/office/powerpoint/2010/main" val="3959218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抽象, 挿絵 が含まれている画像&#10;&#10;自動的に生成された説明">
            <a:extLst>
              <a:ext uri="{FF2B5EF4-FFF2-40B4-BE49-F238E27FC236}">
                <a16:creationId xmlns:a16="http://schemas.microsoft.com/office/drawing/2014/main" id="{AF8D3B41-6B92-D77F-6E5A-D45422243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5" name="図 4" descr="アイコン&#10;&#10;自動的に生成された説明">
            <a:extLst>
              <a:ext uri="{FF2B5EF4-FFF2-40B4-BE49-F238E27FC236}">
                <a16:creationId xmlns:a16="http://schemas.microsoft.com/office/drawing/2014/main" id="{0876DF35-1037-8C9E-11CB-0D96A302E9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a:t>
            </a:r>
            <a:r>
              <a:rPr lang="ja-JP" altLang="en-US" dirty="0"/>
              <a:t>現状</a:t>
            </a:r>
            <a:endParaRPr kumimoji="1" lang="ja-JP" altLang="en-US" dirty="0"/>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p:txBody>
          <a:bodyPr/>
          <a:lstStyle/>
          <a:p>
            <a:r>
              <a:rPr lang="ja-JP" altLang="en-US" dirty="0"/>
              <a:t>頭部画像を </a:t>
            </a:r>
            <a:r>
              <a:rPr lang="en-US" altLang="ja-JP" dirty="0"/>
              <a:t>Matte-Anything </a:t>
            </a:r>
            <a:r>
              <a:rPr lang="ja-JP" altLang="en-US" dirty="0"/>
              <a:t>にかけて髪領域のマスク画像を</a:t>
            </a:r>
            <a:br>
              <a:rPr lang="en-US" altLang="ja-JP" dirty="0"/>
            </a:br>
            <a:r>
              <a:rPr lang="ja-JP" altLang="en-US" dirty="0"/>
              <a:t>取り出した</a:t>
            </a:r>
            <a:endParaRPr lang="en-US" altLang="ja-JP" dirty="0"/>
          </a:p>
          <a:p>
            <a:pPr marL="0" indent="0">
              <a:buNone/>
            </a:pPr>
            <a:endParaRPr lang="en-US" altLang="ja-JP" dirty="0"/>
          </a:p>
        </p:txBody>
      </p:sp>
      <p:pic>
        <p:nvPicPr>
          <p:cNvPr id="8" name="図 7" descr="光 が含まれている画像&#10;&#10;自動的に生成された説明">
            <a:extLst>
              <a:ext uri="{FF2B5EF4-FFF2-40B4-BE49-F238E27FC236}">
                <a16:creationId xmlns:a16="http://schemas.microsoft.com/office/drawing/2014/main" id="{69B5DE75-275D-A757-CA87-BACB672FC592}"/>
              </a:ext>
            </a:extLst>
          </p:cNvPr>
          <p:cNvPicPr>
            <a:picLocks noChangeAspect="1"/>
          </p:cNvPicPr>
          <p:nvPr/>
        </p:nvPicPr>
        <p:blipFill rotWithShape="1">
          <a:blip r:embed="rId5">
            <a:extLst>
              <a:ext uri="{28A0092B-C50C-407E-A947-70E740481C1C}">
                <a14:useLocalDpi xmlns:a14="http://schemas.microsoft.com/office/drawing/2010/main" val="0"/>
              </a:ext>
            </a:extLst>
          </a:blip>
          <a:srcRect l="35222" t="13242" r="31305" b="29796"/>
          <a:stretch/>
        </p:blipFill>
        <p:spPr>
          <a:xfrm>
            <a:off x="6727680" y="4442576"/>
            <a:ext cx="1772327" cy="1696504"/>
          </a:xfrm>
          <a:prstGeom prst="rect">
            <a:avLst/>
          </a:prstGeom>
        </p:spPr>
      </p:pic>
      <p:pic>
        <p:nvPicPr>
          <p:cNvPr id="12" name="図 11" descr="黒い背景とぼやけた写真&#10;&#10;中程度の精度で自動的に生成された説明">
            <a:extLst>
              <a:ext uri="{FF2B5EF4-FFF2-40B4-BE49-F238E27FC236}">
                <a16:creationId xmlns:a16="http://schemas.microsoft.com/office/drawing/2014/main" id="{8E0647E0-2069-4E1E-945A-3E614C6605F3}"/>
              </a:ext>
            </a:extLst>
          </p:cNvPr>
          <p:cNvPicPr>
            <a:picLocks noChangeAspect="1"/>
          </p:cNvPicPr>
          <p:nvPr/>
        </p:nvPicPr>
        <p:blipFill rotWithShape="1">
          <a:blip r:embed="rId6">
            <a:extLst>
              <a:ext uri="{28A0092B-C50C-407E-A947-70E740481C1C}">
                <a14:useLocalDpi xmlns:a14="http://schemas.microsoft.com/office/drawing/2010/main" val="0"/>
              </a:ext>
            </a:extLst>
          </a:blip>
          <a:srcRect l="30511" t="9307" r="36016" b="39173"/>
          <a:stretch/>
        </p:blipFill>
        <p:spPr>
          <a:xfrm>
            <a:off x="7551191" y="2783840"/>
            <a:ext cx="1772327" cy="1534424"/>
          </a:xfrm>
          <a:prstGeom prst="rect">
            <a:avLst/>
          </a:prstGeom>
        </p:spPr>
      </p:pic>
      <p:pic>
        <p:nvPicPr>
          <p:cNvPr id="14" name="図 13" descr="黒い背景とぼやけた写真&#10;&#10;中程度の精度で自動的に生成された説明">
            <a:extLst>
              <a:ext uri="{FF2B5EF4-FFF2-40B4-BE49-F238E27FC236}">
                <a16:creationId xmlns:a16="http://schemas.microsoft.com/office/drawing/2014/main" id="{A5E97294-93F7-17F1-0783-48DB710F5031}"/>
              </a:ext>
            </a:extLst>
          </p:cNvPr>
          <p:cNvPicPr>
            <a:picLocks noChangeAspect="1"/>
          </p:cNvPicPr>
          <p:nvPr/>
        </p:nvPicPr>
        <p:blipFill rotWithShape="1">
          <a:blip r:embed="rId7">
            <a:extLst>
              <a:ext uri="{28A0092B-C50C-407E-A947-70E740481C1C}">
                <a14:useLocalDpi xmlns:a14="http://schemas.microsoft.com/office/drawing/2010/main" val="0"/>
              </a:ext>
            </a:extLst>
          </a:blip>
          <a:srcRect l="32435" t="13242" r="38167" b="41705"/>
          <a:stretch/>
        </p:blipFill>
        <p:spPr>
          <a:xfrm>
            <a:off x="8825188" y="4895628"/>
            <a:ext cx="1852915" cy="1597247"/>
          </a:xfrm>
          <a:prstGeom prst="rect">
            <a:avLst/>
          </a:prstGeom>
        </p:spPr>
      </p:pic>
      <p:pic>
        <p:nvPicPr>
          <p:cNvPr id="16" name="図 15" descr="食品, 花 が含まれている画像&#10;&#10;自動的に生成された説明">
            <a:extLst>
              <a:ext uri="{FF2B5EF4-FFF2-40B4-BE49-F238E27FC236}">
                <a16:creationId xmlns:a16="http://schemas.microsoft.com/office/drawing/2014/main" id="{B3536B18-B9AE-9AC1-068A-474BD034CE90}"/>
              </a:ext>
            </a:extLst>
          </p:cNvPr>
          <p:cNvPicPr>
            <a:picLocks noChangeAspect="1"/>
          </p:cNvPicPr>
          <p:nvPr/>
        </p:nvPicPr>
        <p:blipFill rotWithShape="1">
          <a:blip r:embed="rId8">
            <a:extLst>
              <a:ext uri="{28A0092B-C50C-407E-A947-70E740481C1C}">
                <a14:useLocalDpi xmlns:a14="http://schemas.microsoft.com/office/drawing/2010/main" val="0"/>
              </a:ext>
            </a:extLst>
          </a:blip>
          <a:srcRect l="35058" t="16655" r="37273" b="37132"/>
          <a:stretch/>
        </p:blipFill>
        <p:spPr>
          <a:xfrm>
            <a:off x="9589568" y="3019867"/>
            <a:ext cx="1852915" cy="1740824"/>
          </a:xfrm>
          <a:prstGeom prst="rect">
            <a:avLst/>
          </a:prstGeom>
        </p:spPr>
      </p:pic>
      <p:pic>
        <p:nvPicPr>
          <p:cNvPr id="17" name="図 16" descr="ドアの前に立つ男性&#10;&#10;中程度の精度で自動的に生成された説明">
            <a:extLst>
              <a:ext uri="{FF2B5EF4-FFF2-40B4-BE49-F238E27FC236}">
                <a16:creationId xmlns:a16="http://schemas.microsoft.com/office/drawing/2014/main" id="{B20BE390-0419-9112-B55A-D62E42D6544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3019" y="2663725"/>
            <a:ext cx="2408247" cy="1354639"/>
          </a:xfrm>
          <a:prstGeom prst="rect">
            <a:avLst/>
          </a:prstGeom>
        </p:spPr>
      </p:pic>
      <p:pic>
        <p:nvPicPr>
          <p:cNvPr id="18" name="図 17" descr="男, 人, 立つ, フロント が含まれている画像&#10;&#10;自動的に生成された説明">
            <a:extLst>
              <a:ext uri="{FF2B5EF4-FFF2-40B4-BE49-F238E27FC236}">
                <a16:creationId xmlns:a16="http://schemas.microsoft.com/office/drawing/2014/main" id="{E28A4704-3B92-36B2-DEDB-12AF0DE98EC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5434" y="4069773"/>
            <a:ext cx="2408246" cy="1354639"/>
          </a:xfrm>
          <a:prstGeom prst="rect">
            <a:avLst/>
          </a:prstGeom>
        </p:spPr>
      </p:pic>
      <p:pic>
        <p:nvPicPr>
          <p:cNvPr id="19" name="図 18" descr="白い壁の前に立っている男性&#10;&#10;中程度の精度で自動的に生成された説明">
            <a:extLst>
              <a:ext uri="{FF2B5EF4-FFF2-40B4-BE49-F238E27FC236}">
                <a16:creationId xmlns:a16="http://schemas.microsoft.com/office/drawing/2014/main" id="{59B7005A-82CF-783D-B1AB-610BF1306F1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91460" y="4557430"/>
            <a:ext cx="2408246" cy="1354639"/>
          </a:xfrm>
          <a:prstGeom prst="rect">
            <a:avLst/>
          </a:prstGeom>
        </p:spPr>
      </p:pic>
      <p:pic>
        <p:nvPicPr>
          <p:cNvPr id="20" name="図 19" descr="アプリケーション&#10;&#10;低い精度で自動的に生成された説明">
            <a:extLst>
              <a:ext uri="{FF2B5EF4-FFF2-40B4-BE49-F238E27FC236}">
                <a16:creationId xmlns:a16="http://schemas.microsoft.com/office/drawing/2014/main" id="{8C59C2FE-C5D5-1B54-0350-2FEAD11AED1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6827" y="3170026"/>
            <a:ext cx="2408245" cy="1354638"/>
          </a:xfrm>
          <a:prstGeom prst="rect">
            <a:avLst/>
          </a:prstGeom>
        </p:spPr>
      </p:pic>
    </p:spTree>
    <p:extLst>
      <p:ext uri="{BB962C8B-B14F-4D97-AF65-F5344CB8AC3E}">
        <p14:creationId xmlns:p14="http://schemas.microsoft.com/office/powerpoint/2010/main" val="2779108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抽象, 挿絵 が含まれている画像&#10;&#10;自動的に生成された説明">
            <a:extLst>
              <a:ext uri="{FF2B5EF4-FFF2-40B4-BE49-F238E27FC236}">
                <a16:creationId xmlns:a16="http://schemas.microsoft.com/office/drawing/2014/main" id="{AF8D3B41-6B92-D77F-6E5A-D45422243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5" name="図 4" descr="アイコン&#10;&#10;自動的に生成された説明">
            <a:extLst>
              <a:ext uri="{FF2B5EF4-FFF2-40B4-BE49-F238E27FC236}">
                <a16:creationId xmlns:a16="http://schemas.microsoft.com/office/drawing/2014/main" id="{0876DF35-1037-8C9E-11CB-0D96A302E9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a:t>
            </a:r>
            <a:r>
              <a:rPr lang="ja-JP" altLang="en-US" dirty="0"/>
              <a:t>現状</a:t>
            </a:r>
            <a:endParaRPr kumimoji="1" lang="ja-JP" altLang="en-US" dirty="0"/>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p:txBody>
          <a:bodyPr/>
          <a:lstStyle/>
          <a:p>
            <a:r>
              <a:rPr lang="en-US" altLang="ja-JP" dirty="0"/>
              <a:t>OpenCV</a:t>
            </a:r>
            <a:r>
              <a:rPr lang="ja-JP" altLang="en-US" dirty="0"/>
              <a:t>によりマスク画像から髪領域の輪郭を抽出した</a:t>
            </a:r>
            <a:endParaRPr lang="en-US" altLang="ja-JP" dirty="0"/>
          </a:p>
        </p:txBody>
      </p:sp>
      <p:pic>
        <p:nvPicPr>
          <p:cNvPr id="8" name="図 7" descr="光 が含まれている画像&#10;&#10;自動的に生成された説明">
            <a:extLst>
              <a:ext uri="{FF2B5EF4-FFF2-40B4-BE49-F238E27FC236}">
                <a16:creationId xmlns:a16="http://schemas.microsoft.com/office/drawing/2014/main" id="{69B5DE75-275D-A757-CA87-BACB672FC592}"/>
              </a:ext>
            </a:extLst>
          </p:cNvPr>
          <p:cNvPicPr>
            <a:picLocks noChangeAspect="1"/>
          </p:cNvPicPr>
          <p:nvPr/>
        </p:nvPicPr>
        <p:blipFill rotWithShape="1">
          <a:blip r:embed="rId5">
            <a:extLst>
              <a:ext uri="{28A0092B-C50C-407E-A947-70E740481C1C}">
                <a14:useLocalDpi xmlns:a14="http://schemas.microsoft.com/office/drawing/2010/main" val="0"/>
              </a:ext>
            </a:extLst>
          </a:blip>
          <a:srcRect l="35222" t="13242" r="31305" b="29796"/>
          <a:stretch/>
        </p:blipFill>
        <p:spPr>
          <a:xfrm>
            <a:off x="1231120" y="4162224"/>
            <a:ext cx="1772327" cy="1696504"/>
          </a:xfrm>
          <a:prstGeom prst="rect">
            <a:avLst/>
          </a:prstGeom>
        </p:spPr>
      </p:pic>
      <p:pic>
        <p:nvPicPr>
          <p:cNvPr id="12" name="図 11" descr="黒い背景とぼやけた写真&#10;&#10;中程度の精度で自動的に生成された説明">
            <a:extLst>
              <a:ext uri="{FF2B5EF4-FFF2-40B4-BE49-F238E27FC236}">
                <a16:creationId xmlns:a16="http://schemas.microsoft.com/office/drawing/2014/main" id="{8E0647E0-2069-4E1E-945A-3E614C6605F3}"/>
              </a:ext>
            </a:extLst>
          </p:cNvPr>
          <p:cNvPicPr>
            <a:picLocks noChangeAspect="1"/>
          </p:cNvPicPr>
          <p:nvPr/>
        </p:nvPicPr>
        <p:blipFill rotWithShape="1">
          <a:blip r:embed="rId6">
            <a:extLst>
              <a:ext uri="{28A0092B-C50C-407E-A947-70E740481C1C}">
                <a14:useLocalDpi xmlns:a14="http://schemas.microsoft.com/office/drawing/2010/main" val="0"/>
              </a:ext>
            </a:extLst>
          </a:blip>
          <a:srcRect l="30511" t="9307" r="36016" b="39173"/>
          <a:stretch/>
        </p:blipFill>
        <p:spPr>
          <a:xfrm>
            <a:off x="2054631" y="2503488"/>
            <a:ext cx="1772327" cy="1534424"/>
          </a:xfrm>
          <a:prstGeom prst="rect">
            <a:avLst/>
          </a:prstGeom>
        </p:spPr>
      </p:pic>
      <p:pic>
        <p:nvPicPr>
          <p:cNvPr id="14" name="図 13" descr="黒い背景とぼやけた写真&#10;&#10;中程度の精度で自動的に生成された説明">
            <a:extLst>
              <a:ext uri="{FF2B5EF4-FFF2-40B4-BE49-F238E27FC236}">
                <a16:creationId xmlns:a16="http://schemas.microsoft.com/office/drawing/2014/main" id="{A5E97294-93F7-17F1-0783-48DB710F5031}"/>
              </a:ext>
            </a:extLst>
          </p:cNvPr>
          <p:cNvPicPr>
            <a:picLocks noChangeAspect="1"/>
          </p:cNvPicPr>
          <p:nvPr/>
        </p:nvPicPr>
        <p:blipFill rotWithShape="1">
          <a:blip r:embed="rId7">
            <a:extLst>
              <a:ext uri="{28A0092B-C50C-407E-A947-70E740481C1C}">
                <a14:useLocalDpi xmlns:a14="http://schemas.microsoft.com/office/drawing/2010/main" val="0"/>
              </a:ext>
            </a:extLst>
          </a:blip>
          <a:srcRect l="32435" t="13242" r="38167" b="41705"/>
          <a:stretch/>
        </p:blipFill>
        <p:spPr>
          <a:xfrm>
            <a:off x="3328628" y="4615276"/>
            <a:ext cx="1852915" cy="1597247"/>
          </a:xfrm>
          <a:prstGeom prst="rect">
            <a:avLst/>
          </a:prstGeom>
        </p:spPr>
      </p:pic>
      <p:pic>
        <p:nvPicPr>
          <p:cNvPr id="16" name="図 15" descr="食品, 花 が含まれている画像&#10;&#10;自動的に生成された説明">
            <a:extLst>
              <a:ext uri="{FF2B5EF4-FFF2-40B4-BE49-F238E27FC236}">
                <a16:creationId xmlns:a16="http://schemas.microsoft.com/office/drawing/2014/main" id="{B3536B18-B9AE-9AC1-068A-474BD034CE90}"/>
              </a:ext>
            </a:extLst>
          </p:cNvPr>
          <p:cNvPicPr>
            <a:picLocks noChangeAspect="1"/>
          </p:cNvPicPr>
          <p:nvPr/>
        </p:nvPicPr>
        <p:blipFill rotWithShape="1">
          <a:blip r:embed="rId8">
            <a:extLst>
              <a:ext uri="{28A0092B-C50C-407E-A947-70E740481C1C}">
                <a14:useLocalDpi xmlns:a14="http://schemas.microsoft.com/office/drawing/2010/main" val="0"/>
              </a:ext>
            </a:extLst>
          </a:blip>
          <a:srcRect l="35058" t="16655" r="37273" b="37132"/>
          <a:stretch/>
        </p:blipFill>
        <p:spPr>
          <a:xfrm>
            <a:off x="4093008" y="2739515"/>
            <a:ext cx="1852915" cy="1740824"/>
          </a:xfrm>
          <a:prstGeom prst="rect">
            <a:avLst/>
          </a:prstGeom>
        </p:spPr>
      </p:pic>
      <p:pic>
        <p:nvPicPr>
          <p:cNvPr id="7" name="図 6" descr="光, 挿絵 が含まれている画像&#10;&#10;自動的に生成された説明">
            <a:extLst>
              <a:ext uri="{FF2B5EF4-FFF2-40B4-BE49-F238E27FC236}">
                <a16:creationId xmlns:a16="http://schemas.microsoft.com/office/drawing/2014/main" id="{40F1222C-03D7-5E75-07C4-9C8E284F9350}"/>
              </a:ext>
            </a:extLst>
          </p:cNvPr>
          <p:cNvPicPr>
            <a:picLocks noChangeAspect="1"/>
          </p:cNvPicPr>
          <p:nvPr/>
        </p:nvPicPr>
        <p:blipFill rotWithShape="1">
          <a:blip r:embed="rId9">
            <a:extLst>
              <a:ext uri="{28A0092B-C50C-407E-A947-70E740481C1C}">
                <a14:useLocalDpi xmlns:a14="http://schemas.microsoft.com/office/drawing/2010/main" val="0"/>
              </a:ext>
            </a:extLst>
          </a:blip>
          <a:srcRect l="35202" t="13999" r="39843" b="45409"/>
          <a:stretch/>
        </p:blipFill>
        <p:spPr>
          <a:xfrm>
            <a:off x="7316536" y="2739515"/>
            <a:ext cx="1852915" cy="1695395"/>
          </a:xfrm>
          <a:prstGeom prst="rect">
            <a:avLst/>
          </a:prstGeom>
        </p:spPr>
      </p:pic>
      <p:pic>
        <p:nvPicPr>
          <p:cNvPr id="10" name="図 9">
            <a:extLst>
              <a:ext uri="{FF2B5EF4-FFF2-40B4-BE49-F238E27FC236}">
                <a16:creationId xmlns:a16="http://schemas.microsoft.com/office/drawing/2014/main" id="{8F186C8C-5DEE-5AEA-E915-F84339E55F9B}"/>
              </a:ext>
            </a:extLst>
          </p:cNvPr>
          <p:cNvPicPr>
            <a:picLocks noChangeAspect="1"/>
          </p:cNvPicPr>
          <p:nvPr/>
        </p:nvPicPr>
        <p:blipFill rotWithShape="1">
          <a:blip r:embed="rId10">
            <a:extLst>
              <a:ext uri="{28A0092B-C50C-407E-A947-70E740481C1C}">
                <a14:useLocalDpi xmlns:a14="http://schemas.microsoft.com/office/drawing/2010/main" val="0"/>
              </a:ext>
            </a:extLst>
          </a:blip>
          <a:srcRect l="37873" t="15552" r="35127" b="36616"/>
          <a:stretch/>
        </p:blipFill>
        <p:spPr>
          <a:xfrm>
            <a:off x="6798463" y="4671054"/>
            <a:ext cx="1852916" cy="1846427"/>
          </a:xfrm>
          <a:prstGeom prst="rect">
            <a:avLst/>
          </a:prstGeom>
        </p:spPr>
      </p:pic>
      <p:pic>
        <p:nvPicPr>
          <p:cNvPr id="13" name="図 12" descr="黒い背景と白い文字&#10;&#10;中程度の精度で自動的に生成された説明">
            <a:extLst>
              <a:ext uri="{FF2B5EF4-FFF2-40B4-BE49-F238E27FC236}">
                <a16:creationId xmlns:a16="http://schemas.microsoft.com/office/drawing/2014/main" id="{9732110B-851D-4D87-E566-3A3C489E9872}"/>
              </a:ext>
            </a:extLst>
          </p:cNvPr>
          <p:cNvPicPr>
            <a:picLocks noChangeAspect="1"/>
          </p:cNvPicPr>
          <p:nvPr/>
        </p:nvPicPr>
        <p:blipFill rotWithShape="1">
          <a:blip r:embed="rId11">
            <a:extLst>
              <a:ext uri="{28A0092B-C50C-407E-A947-70E740481C1C}">
                <a14:useLocalDpi xmlns:a14="http://schemas.microsoft.com/office/drawing/2010/main" val="0"/>
              </a:ext>
            </a:extLst>
          </a:blip>
          <a:srcRect l="35412" t="14260" r="39755" b="43786"/>
          <a:stretch/>
        </p:blipFill>
        <p:spPr>
          <a:xfrm>
            <a:off x="8889138" y="4905441"/>
            <a:ext cx="2006295" cy="1906574"/>
          </a:xfrm>
          <a:prstGeom prst="rect">
            <a:avLst/>
          </a:prstGeom>
        </p:spPr>
      </p:pic>
      <p:pic>
        <p:nvPicPr>
          <p:cNvPr id="21" name="図 20" descr="黒い背景と白い文字&#10;&#10;自動的に生成された説明">
            <a:extLst>
              <a:ext uri="{FF2B5EF4-FFF2-40B4-BE49-F238E27FC236}">
                <a16:creationId xmlns:a16="http://schemas.microsoft.com/office/drawing/2014/main" id="{62E41CB7-488E-9180-A9DD-90F0D6AC26BE}"/>
              </a:ext>
            </a:extLst>
          </p:cNvPr>
          <p:cNvPicPr>
            <a:picLocks noChangeAspect="1"/>
          </p:cNvPicPr>
          <p:nvPr/>
        </p:nvPicPr>
        <p:blipFill rotWithShape="1">
          <a:blip r:embed="rId12">
            <a:extLst>
              <a:ext uri="{28A0092B-C50C-407E-A947-70E740481C1C}">
                <a14:useLocalDpi xmlns:a14="http://schemas.microsoft.com/office/drawing/2010/main" val="0"/>
              </a:ext>
            </a:extLst>
          </a:blip>
          <a:srcRect l="38064" t="16560" r="38451" b="42847"/>
          <a:stretch/>
        </p:blipFill>
        <p:spPr>
          <a:xfrm>
            <a:off x="9435501" y="2969040"/>
            <a:ext cx="1852915" cy="1801464"/>
          </a:xfrm>
          <a:prstGeom prst="rect">
            <a:avLst/>
          </a:prstGeom>
        </p:spPr>
      </p:pic>
    </p:spTree>
    <p:extLst>
      <p:ext uri="{BB962C8B-B14F-4D97-AF65-F5344CB8AC3E}">
        <p14:creationId xmlns:p14="http://schemas.microsoft.com/office/powerpoint/2010/main" val="3104946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抽象, 挿絵 が含まれている画像&#10;&#10;自動的に生成された説明">
            <a:extLst>
              <a:ext uri="{FF2B5EF4-FFF2-40B4-BE49-F238E27FC236}">
                <a16:creationId xmlns:a16="http://schemas.microsoft.com/office/drawing/2014/main" id="{AF8D3B41-6B92-D77F-6E5A-D45422243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5" name="図 4" descr="アイコン&#10;&#10;自動的に生成された説明">
            <a:extLst>
              <a:ext uri="{FF2B5EF4-FFF2-40B4-BE49-F238E27FC236}">
                <a16:creationId xmlns:a16="http://schemas.microsoft.com/office/drawing/2014/main" id="{0876DF35-1037-8C9E-11CB-0D96A302E9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kumimoji="1" lang="ja-JP" altLang="en-US" dirty="0"/>
              <a:t>研究の</a:t>
            </a:r>
            <a:r>
              <a:rPr lang="ja-JP" altLang="en-US" dirty="0"/>
              <a:t>現状</a:t>
            </a:r>
            <a:endParaRPr kumimoji="1" lang="ja-JP" altLang="en-US" dirty="0"/>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p:txBody>
          <a:bodyPr/>
          <a:lstStyle/>
          <a:p>
            <a:r>
              <a:rPr lang="en-US" altLang="ja-JP" dirty="0"/>
              <a:t>Matte-Anything</a:t>
            </a:r>
            <a:r>
              <a:rPr lang="ja-JP" altLang="en-US" dirty="0"/>
              <a:t>のマスク画像と</a:t>
            </a:r>
            <a:r>
              <a:rPr lang="en-US" altLang="ja-JP" dirty="0"/>
              <a:t>OpenCV</a:t>
            </a:r>
            <a:r>
              <a:rPr lang="ja-JP" altLang="en-US" dirty="0"/>
              <a:t>の輪郭画像を掛け合わせて詳細な輪郭画像を取り出した</a:t>
            </a:r>
            <a:endParaRPr lang="en-US" altLang="ja-JP" dirty="0"/>
          </a:p>
        </p:txBody>
      </p:sp>
      <p:pic>
        <p:nvPicPr>
          <p:cNvPr id="9" name="図 8">
            <a:extLst>
              <a:ext uri="{FF2B5EF4-FFF2-40B4-BE49-F238E27FC236}">
                <a16:creationId xmlns:a16="http://schemas.microsoft.com/office/drawing/2014/main" id="{22CDCD59-EFC2-7566-AEF0-8A8E08316468}"/>
              </a:ext>
            </a:extLst>
          </p:cNvPr>
          <p:cNvPicPr>
            <a:picLocks noChangeAspect="1"/>
          </p:cNvPicPr>
          <p:nvPr/>
        </p:nvPicPr>
        <p:blipFill rotWithShape="1">
          <a:blip r:embed="rId5">
            <a:extLst>
              <a:ext uri="{28A0092B-C50C-407E-A947-70E740481C1C}">
                <a14:useLocalDpi xmlns:a14="http://schemas.microsoft.com/office/drawing/2010/main" val="0"/>
              </a:ext>
            </a:extLst>
          </a:blip>
          <a:srcRect l="35991" t="15421" r="40166" b="46889"/>
          <a:stretch/>
        </p:blipFill>
        <p:spPr>
          <a:xfrm>
            <a:off x="591274" y="3052504"/>
            <a:ext cx="2392399" cy="2127351"/>
          </a:xfrm>
          <a:prstGeom prst="rect">
            <a:avLst/>
          </a:prstGeom>
        </p:spPr>
      </p:pic>
      <p:pic>
        <p:nvPicPr>
          <p:cNvPr id="15" name="図 14">
            <a:extLst>
              <a:ext uri="{FF2B5EF4-FFF2-40B4-BE49-F238E27FC236}">
                <a16:creationId xmlns:a16="http://schemas.microsoft.com/office/drawing/2014/main" id="{F5BBE8CD-7045-7AFC-C77F-5818A6B1EEAE}"/>
              </a:ext>
            </a:extLst>
          </p:cNvPr>
          <p:cNvPicPr>
            <a:picLocks noChangeAspect="1"/>
          </p:cNvPicPr>
          <p:nvPr/>
        </p:nvPicPr>
        <p:blipFill rotWithShape="1">
          <a:blip r:embed="rId6">
            <a:extLst>
              <a:ext uri="{28A0092B-C50C-407E-A947-70E740481C1C}">
                <a14:useLocalDpi xmlns:a14="http://schemas.microsoft.com/office/drawing/2010/main" val="0"/>
              </a:ext>
            </a:extLst>
          </a:blip>
          <a:srcRect l="38539" t="16736" r="34794" b="37042"/>
          <a:stretch/>
        </p:blipFill>
        <p:spPr>
          <a:xfrm>
            <a:off x="3753151" y="3091360"/>
            <a:ext cx="2142046" cy="2088495"/>
          </a:xfrm>
          <a:prstGeom prst="rect">
            <a:avLst/>
          </a:prstGeom>
        </p:spPr>
      </p:pic>
      <p:pic>
        <p:nvPicPr>
          <p:cNvPr id="18" name="図 17">
            <a:extLst>
              <a:ext uri="{FF2B5EF4-FFF2-40B4-BE49-F238E27FC236}">
                <a16:creationId xmlns:a16="http://schemas.microsoft.com/office/drawing/2014/main" id="{0CFAE276-1E7B-24B7-F87A-D5637C896025}"/>
              </a:ext>
            </a:extLst>
          </p:cNvPr>
          <p:cNvPicPr>
            <a:picLocks noChangeAspect="1"/>
          </p:cNvPicPr>
          <p:nvPr/>
        </p:nvPicPr>
        <p:blipFill rotWithShape="1">
          <a:blip r:embed="rId7">
            <a:extLst>
              <a:ext uri="{28A0092B-C50C-407E-A947-70E740481C1C}">
                <a14:useLocalDpi xmlns:a14="http://schemas.microsoft.com/office/drawing/2010/main" val="0"/>
              </a:ext>
            </a:extLst>
          </a:blip>
          <a:srcRect l="36246" t="17103" r="40755" b="43786"/>
          <a:stretch/>
        </p:blipFill>
        <p:spPr>
          <a:xfrm>
            <a:off x="6461762" y="3091360"/>
            <a:ext cx="2183427" cy="2088495"/>
          </a:xfrm>
          <a:prstGeom prst="rect">
            <a:avLst/>
          </a:prstGeom>
        </p:spPr>
      </p:pic>
      <p:pic>
        <p:nvPicPr>
          <p:cNvPr id="20" name="図 19">
            <a:extLst>
              <a:ext uri="{FF2B5EF4-FFF2-40B4-BE49-F238E27FC236}">
                <a16:creationId xmlns:a16="http://schemas.microsoft.com/office/drawing/2014/main" id="{E2EA82AA-881C-206F-F354-930CF95433AF}"/>
              </a:ext>
            </a:extLst>
          </p:cNvPr>
          <p:cNvPicPr>
            <a:picLocks noChangeAspect="1"/>
          </p:cNvPicPr>
          <p:nvPr/>
        </p:nvPicPr>
        <p:blipFill rotWithShape="1">
          <a:blip r:embed="rId8">
            <a:extLst>
              <a:ext uri="{28A0092B-C50C-407E-A947-70E740481C1C}">
                <a14:useLocalDpi xmlns:a14="http://schemas.microsoft.com/office/drawing/2010/main" val="0"/>
              </a:ext>
            </a:extLst>
          </a:blip>
          <a:srcRect l="38618" t="16905" r="40382" b="48725"/>
          <a:stretch/>
        </p:blipFill>
        <p:spPr>
          <a:xfrm>
            <a:off x="9206884" y="3104240"/>
            <a:ext cx="2254545" cy="2075615"/>
          </a:xfrm>
          <a:prstGeom prst="rect">
            <a:avLst/>
          </a:prstGeom>
        </p:spPr>
      </p:pic>
    </p:spTree>
    <p:extLst>
      <p:ext uri="{BB962C8B-B14F-4D97-AF65-F5344CB8AC3E}">
        <p14:creationId xmlns:p14="http://schemas.microsoft.com/office/powerpoint/2010/main" val="1988291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抽象, 挿絵 が含まれている画像&#10;&#10;自動的に生成された説明">
            <a:extLst>
              <a:ext uri="{FF2B5EF4-FFF2-40B4-BE49-F238E27FC236}">
                <a16:creationId xmlns:a16="http://schemas.microsoft.com/office/drawing/2014/main" id="{C356ABCB-6746-2E3B-80AA-C0EDD087DC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5" name="図 4" descr="アイコン&#10;&#10;自動的に生成された説明">
            <a:extLst>
              <a:ext uri="{FF2B5EF4-FFF2-40B4-BE49-F238E27FC236}">
                <a16:creationId xmlns:a16="http://schemas.microsoft.com/office/drawing/2014/main" id="{02AB222A-170C-32BC-AE6C-D0BA9AE37D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lang="ja-JP" altLang="en-US" dirty="0"/>
              <a:t>今後の方針</a:t>
            </a:r>
            <a:endParaRPr kumimoji="1" lang="ja-JP" altLang="en-US" dirty="0"/>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p:txBody>
          <a:bodyPr/>
          <a:lstStyle/>
          <a:p>
            <a:pPr marL="514350" indent="-514350">
              <a:buFont typeface="+mj-lt"/>
              <a:buAutoNum type="arabicPeriod"/>
            </a:pPr>
            <a:r>
              <a:rPr kumimoji="1" lang="ja-JP" altLang="en-US" dirty="0"/>
              <a:t>染髪部分の取り出し（毛流の抽出）</a:t>
            </a:r>
            <a:endParaRPr lang="en-US" altLang="ja-JP" dirty="0"/>
          </a:p>
          <a:p>
            <a:pPr marL="514350" indent="-514350">
              <a:buFont typeface="+mj-lt"/>
              <a:buAutoNum type="arabicPeriod"/>
            </a:pPr>
            <a:r>
              <a:rPr lang="ja-JP" altLang="en-US" dirty="0"/>
              <a:t>輪郭・毛流の差分検出</a:t>
            </a:r>
            <a:r>
              <a:rPr lang="en-US" altLang="ja-JP" dirty="0"/>
              <a:t>NN</a:t>
            </a:r>
            <a:r>
              <a:rPr lang="ja-JP" altLang="en-US" dirty="0"/>
              <a:t>の作成</a:t>
            </a:r>
            <a:endParaRPr lang="en-US" altLang="ja-JP" dirty="0"/>
          </a:p>
          <a:p>
            <a:pPr marL="514350" indent="-514350">
              <a:buFont typeface="+mj-lt"/>
              <a:buAutoNum type="arabicPeriod"/>
            </a:pPr>
            <a:r>
              <a:rPr lang="ja-JP" altLang="en-US" dirty="0"/>
              <a:t>乱れ評価</a:t>
            </a:r>
            <a:r>
              <a:rPr lang="en-US" altLang="ja-JP" dirty="0"/>
              <a:t>NN</a:t>
            </a:r>
            <a:r>
              <a:rPr lang="ja-JP" altLang="en-US" dirty="0"/>
              <a:t>の作成</a:t>
            </a:r>
            <a:endParaRPr lang="en-US" altLang="ja-JP" dirty="0"/>
          </a:p>
          <a:p>
            <a:pPr>
              <a:buFontTx/>
              <a:buChar char="-"/>
            </a:pPr>
            <a:endParaRPr kumimoji="1" lang="en-US" altLang="ja-JP" dirty="0"/>
          </a:p>
          <a:p>
            <a:r>
              <a:rPr kumimoji="1" lang="ja-JP" altLang="en-US" dirty="0"/>
              <a:t>画像入力→乱れ評価出力までの一連の流れの自動化</a:t>
            </a:r>
          </a:p>
        </p:txBody>
      </p:sp>
    </p:spTree>
    <p:extLst>
      <p:ext uri="{BB962C8B-B14F-4D97-AF65-F5344CB8AC3E}">
        <p14:creationId xmlns:p14="http://schemas.microsoft.com/office/powerpoint/2010/main" val="3603851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抽象, 挿絵 が含まれている画像&#10;&#10;自動的に生成された説明">
            <a:extLst>
              <a:ext uri="{FF2B5EF4-FFF2-40B4-BE49-F238E27FC236}">
                <a16:creationId xmlns:a16="http://schemas.microsoft.com/office/drawing/2014/main" id="{35D31126-D1A5-390A-CEC6-59B4982A1E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24412"/>
            <a:ext cx="2773681" cy="1433588"/>
          </a:xfrm>
          <a:prstGeom prst="rect">
            <a:avLst/>
          </a:prstGeom>
        </p:spPr>
      </p:pic>
      <p:pic>
        <p:nvPicPr>
          <p:cNvPr id="7" name="図 6" descr="アイコン&#10;&#10;自動的に生成された説明">
            <a:extLst>
              <a:ext uri="{FF2B5EF4-FFF2-40B4-BE49-F238E27FC236}">
                <a16:creationId xmlns:a16="http://schemas.microsoft.com/office/drawing/2014/main" id="{B7910063-1A82-E741-B4DE-82B1EAD365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5501" y="260592"/>
            <a:ext cx="2333769" cy="1982671"/>
          </a:xfrm>
          <a:prstGeom prst="rect">
            <a:avLst/>
          </a:prstGeom>
        </p:spPr>
      </p:pic>
      <p:sp>
        <p:nvSpPr>
          <p:cNvPr id="2" name="タイトル 1">
            <a:extLst>
              <a:ext uri="{FF2B5EF4-FFF2-40B4-BE49-F238E27FC236}">
                <a16:creationId xmlns:a16="http://schemas.microsoft.com/office/drawing/2014/main" id="{D7BABE2F-A063-6C6F-9EDF-06AE35FD5DD4}"/>
              </a:ext>
            </a:extLst>
          </p:cNvPr>
          <p:cNvSpPr>
            <a:spLocks noGrp="1"/>
          </p:cNvSpPr>
          <p:nvPr>
            <p:ph type="title"/>
          </p:nvPr>
        </p:nvSpPr>
        <p:spPr/>
        <p:txBody>
          <a:bodyPr/>
          <a:lstStyle/>
          <a:p>
            <a:r>
              <a:rPr lang="ja-JP" altLang="en-US" dirty="0"/>
              <a:t>今後の方針</a:t>
            </a:r>
            <a:endParaRPr kumimoji="1" lang="ja-JP" altLang="en-US" dirty="0"/>
          </a:p>
        </p:txBody>
      </p:sp>
      <p:sp>
        <p:nvSpPr>
          <p:cNvPr id="3" name="コンテンツ プレースホルダー 2">
            <a:extLst>
              <a:ext uri="{FF2B5EF4-FFF2-40B4-BE49-F238E27FC236}">
                <a16:creationId xmlns:a16="http://schemas.microsoft.com/office/drawing/2014/main" id="{DF830EA6-CBB0-765D-720B-0C75661C2BA0}"/>
              </a:ext>
            </a:extLst>
          </p:cNvPr>
          <p:cNvSpPr>
            <a:spLocks noGrp="1"/>
          </p:cNvSpPr>
          <p:nvPr>
            <p:ph idx="1"/>
          </p:nvPr>
        </p:nvSpPr>
        <p:spPr>
          <a:xfrm>
            <a:off x="548640" y="2501264"/>
            <a:ext cx="11353800" cy="3244215"/>
          </a:xfrm>
        </p:spPr>
        <p:txBody>
          <a:bodyPr>
            <a:normAutofit/>
          </a:bodyPr>
          <a:lstStyle/>
          <a:p>
            <a:pPr marL="0" indent="0">
              <a:buNone/>
            </a:pPr>
            <a:r>
              <a:rPr kumimoji="1" lang="ja-JP" altLang="en-US" dirty="0"/>
              <a:t>画像入力→輪郭抽出の自動化について</a:t>
            </a:r>
            <a:endParaRPr kumimoji="1" lang="en-US" altLang="ja-JP" dirty="0"/>
          </a:p>
          <a:p>
            <a:pPr marL="0" indent="0">
              <a:buNone/>
            </a:pPr>
            <a:endParaRPr lang="en-US" altLang="ja-JP" dirty="0"/>
          </a:p>
          <a:p>
            <a:r>
              <a:rPr kumimoji="1" lang="en-US" altLang="ja-JP" dirty="0"/>
              <a:t>Matte-Anything</a:t>
            </a:r>
            <a:r>
              <a:rPr kumimoji="1" lang="ja-JP" altLang="en-US" dirty="0"/>
              <a:t>では</a:t>
            </a:r>
            <a:r>
              <a:rPr kumimoji="1" lang="en-US" altLang="ja-JP" dirty="0"/>
              <a:t>Matting</a:t>
            </a:r>
            <a:r>
              <a:rPr kumimoji="1" lang="ja-JP" altLang="en-US" dirty="0"/>
              <a:t>する画像座標の指定が必要</a:t>
            </a:r>
            <a:endParaRPr lang="en-US" altLang="ja-JP" dirty="0"/>
          </a:p>
          <a:p>
            <a:r>
              <a:rPr kumimoji="1" lang="ja-JP" altLang="en-US" dirty="0"/>
              <a:t>そこで</a:t>
            </a:r>
            <a:r>
              <a:rPr kumimoji="1" lang="en-US" altLang="ja-JP" dirty="0"/>
              <a:t>...YOLOv8 </a:t>
            </a:r>
            <a:r>
              <a:rPr kumimoji="1" lang="ja-JP" altLang="en-US" dirty="0"/>
              <a:t>を利用した</a:t>
            </a:r>
            <a:r>
              <a:rPr lang="ja-JP" altLang="en-US" dirty="0"/>
              <a:t>人検出と目</a:t>
            </a:r>
            <a:r>
              <a:rPr lang="en-US" altLang="ja-JP" dirty="0"/>
              <a:t>, </a:t>
            </a:r>
            <a:r>
              <a:rPr lang="ja-JP" altLang="en-US" dirty="0"/>
              <a:t>鼻</a:t>
            </a:r>
            <a:r>
              <a:rPr lang="en-US" altLang="ja-JP" dirty="0"/>
              <a:t>, </a:t>
            </a:r>
            <a:r>
              <a:rPr lang="ja-JP" altLang="en-US" dirty="0"/>
              <a:t>耳検出による座標から髪領域を計算</a:t>
            </a:r>
            <a:endParaRPr lang="en-US" altLang="ja-JP" dirty="0"/>
          </a:p>
          <a:p>
            <a:r>
              <a:rPr lang="en-US" altLang="ja-JP" dirty="0"/>
              <a:t>Matting</a:t>
            </a:r>
            <a:r>
              <a:rPr lang="ja-JP" altLang="en-US" dirty="0"/>
              <a:t>座標位置を決定して自動化を実現</a:t>
            </a:r>
            <a:endParaRPr kumimoji="1" lang="ja-JP" altLang="en-US" dirty="0"/>
          </a:p>
        </p:txBody>
      </p:sp>
      <p:pic>
        <p:nvPicPr>
          <p:cNvPr id="9" name="図 8" descr="カレンダー&#10;&#10;低い精度で自動的に生成された説明">
            <a:extLst>
              <a:ext uri="{FF2B5EF4-FFF2-40B4-BE49-F238E27FC236}">
                <a16:creationId xmlns:a16="http://schemas.microsoft.com/office/drawing/2014/main" id="{E32F9282-B891-F557-72D2-97DCCC3FB3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3560" y="365125"/>
            <a:ext cx="3484880" cy="1960245"/>
          </a:xfrm>
          <a:prstGeom prst="rect">
            <a:avLst/>
          </a:prstGeom>
        </p:spPr>
      </p:pic>
      <p:pic>
        <p:nvPicPr>
          <p:cNvPr id="11" name="図 10" descr="人, 屋内, 持つ, フロント が含まれている画像&#10;&#10;自動的に生成された説明">
            <a:extLst>
              <a:ext uri="{FF2B5EF4-FFF2-40B4-BE49-F238E27FC236}">
                <a16:creationId xmlns:a16="http://schemas.microsoft.com/office/drawing/2014/main" id="{4AA2D79A-61D9-A40B-1960-436C33D703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92388" y="1532808"/>
            <a:ext cx="3443398" cy="1936912"/>
          </a:xfrm>
          <a:prstGeom prst="rect">
            <a:avLst/>
          </a:prstGeom>
        </p:spPr>
      </p:pic>
    </p:spTree>
    <p:extLst>
      <p:ext uri="{BB962C8B-B14F-4D97-AF65-F5344CB8AC3E}">
        <p14:creationId xmlns:p14="http://schemas.microsoft.com/office/powerpoint/2010/main" val="1880164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3D79A685-F2DE-63B1-9E7D-F7C88F630542}"/>
              </a:ext>
            </a:extLst>
          </p:cNvPr>
          <p:cNvSpPr>
            <a:spLocks noGrp="1"/>
          </p:cNvSpPr>
          <p:nvPr>
            <p:ph type="title"/>
          </p:nvPr>
        </p:nvSpPr>
        <p:spPr>
          <a:xfrm>
            <a:off x="1524002" y="1999615"/>
            <a:ext cx="9546333" cy="2764028"/>
          </a:xfrm>
        </p:spPr>
        <p:txBody>
          <a:bodyPr vert="horz" lIns="91440" tIns="45720" rIns="91440" bIns="45720" rtlCol="0" anchor="ctr">
            <a:normAutofit fontScale="90000"/>
          </a:bodyPr>
          <a:lstStyle/>
          <a:p>
            <a:pPr algn="ctr"/>
            <a:r>
              <a:rPr kumimoji="1" lang="ja-JP" altLang="en-US" sz="7200" kern="1200" dirty="0">
                <a:solidFill>
                  <a:schemeClr val="tx1"/>
                </a:solidFill>
                <a:latin typeface="+mj-lt"/>
                <a:ea typeface="+mj-ea"/>
                <a:cs typeface="+mj-cs"/>
              </a:rPr>
              <a:t>ご清聴</a:t>
            </a:r>
            <a:br>
              <a:rPr kumimoji="1" lang="en-US" altLang="ja-JP" sz="7200" kern="1200" dirty="0">
                <a:solidFill>
                  <a:schemeClr val="tx1"/>
                </a:solidFill>
                <a:latin typeface="+mj-lt"/>
                <a:ea typeface="+mj-ea"/>
                <a:cs typeface="+mj-cs"/>
              </a:rPr>
            </a:br>
            <a:r>
              <a:rPr kumimoji="1" lang="ja-JP" altLang="en-US" sz="7200" kern="1200" dirty="0">
                <a:solidFill>
                  <a:schemeClr val="tx1"/>
                </a:solidFill>
                <a:latin typeface="+mj-lt"/>
                <a:ea typeface="+mj-ea"/>
                <a:cs typeface="+mj-cs"/>
              </a:rPr>
              <a:t>ありがとうございました。</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679180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4D74F909B5E604BA88980952E711E1B" ma:contentTypeVersion="7" ma:contentTypeDescription="新しいドキュメントを作成します。" ma:contentTypeScope="" ma:versionID="c6401549babf118462da7bdc349b74b4">
  <xsd:schema xmlns:xsd="http://www.w3.org/2001/XMLSchema" xmlns:xs="http://www.w3.org/2001/XMLSchema" xmlns:p="http://schemas.microsoft.com/office/2006/metadata/properties" xmlns:ns2="c56aeba1-5cd1-4d74-986a-1eb510da8c93" xmlns:ns3="67a3588e-4679-4286-a55a-a82ba0b56507" targetNamespace="http://schemas.microsoft.com/office/2006/metadata/properties" ma:root="true" ma:fieldsID="7cab084d16ba7d647a92ddcf03f0fc50" ns2:_="" ns3:_="">
    <xsd:import namespace="c56aeba1-5cd1-4d74-986a-1eb510da8c93"/>
    <xsd:import namespace="67a3588e-4679-4286-a55a-a82ba0b5650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6aeba1-5cd1-4d74-986a-1eb510da8c93" elementFormDefault="qualified">
    <xsd:import namespace="http://schemas.microsoft.com/office/2006/documentManagement/types"/>
    <xsd:import namespace="http://schemas.microsoft.com/office/infopath/2007/PartnerControls"/>
    <xsd:element name="SharedWithUsers" ma:index="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共有相手の詳細情報"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7a3588e-4679-4286-a55a-a82ba0b5650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C72B8D7-786E-4AE0-B60A-0C887633FBF5}"/>
</file>

<file path=customXml/itemProps2.xml><?xml version="1.0" encoding="utf-8"?>
<ds:datastoreItem xmlns:ds="http://schemas.openxmlformats.org/officeDocument/2006/customXml" ds:itemID="{3427384B-1CB4-4ACB-9BD0-E4746BDEA342}"/>
</file>

<file path=customXml/itemProps3.xml><?xml version="1.0" encoding="utf-8"?>
<ds:datastoreItem xmlns:ds="http://schemas.openxmlformats.org/officeDocument/2006/customXml" ds:itemID="{B59957D7-B19D-4B81-9110-8E5A278137BC}"/>
</file>

<file path=docProps/app.xml><?xml version="1.0" encoding="utf-8"?>
<Properties xmlns="http://schemas.openxmlformats.org/officeDocument/2006/extended-properties" xmlns:vt="http://schemas.openxmlformats.org/officeDocument/2006/docPropsVTypes">
  <TotalTime>1258</TotalTime>
  <Words>1537</Words>
  <Application>Microsoft Office PowerPoint</Application>
  <PresentationFormat>ワイド画面</PresentationFormat>
  <Paragraphs>122</Paragraphs>
  <Slides>15</Slides>
  <Notes>15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游ゴシック</vt:lpstr>
      <vt:lpstr>游ゴシック Light</vt:lpstr>
      <vt:lpstr>Arial</vt:lpstr>
      <vt:lpstr>Calibri</vt:lpstr>
      <vt:lpstr>Office テーマ</vt:lpstr>
      <vt:lpstr>卒業研究中間発表  髪形の乱れの定量化に関する研究</vt:lpstr>
      <vt:lpstr>研究の背景</vt:lpstr>
      <vt:lpstr>研究の背景</vt:lpstr>
      <vt:lpstr>研究の目的</vt:lpstr>
      <vt:lpstr>研究の概要</vt:lpstr>
      <vt:lpstr>研究の概要</vt:lpstr>
      <vt:lpstr>研究の概要</vt:lpstr>
      <vt:lpstr>研究の概要</vt:lpstr>
      <vt:lpstr>研究の現状</vt:lpstr>
      <vt:lpstr>研究の現状</vt:lpstr>
      <vt:lpstr>研究の現状</vt:lpstr>
      <vt:lpstr>研究の現状</vt:lpstr>
      <vt:lpstr>今後の方針</vt:lpstr>
      <vt:lpstr>今後の方針</vt:lpstr>
      <vt:lpstr>ご清聴 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朝斗 今立</dc:creator>
  <cp:lastModifiedBy>朝斗 今立</cp:lastModifiedBy>
  <cp:revision>2</cp:revision>
  <dcterms:created xsi:type="dcterms:W3CDTF">2023-07-23T11:56:39Z</dcterms:created>
  <dcterms:modified xsi:type="dcterms:W3CDTF">2023-07-26T07:31:19Z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0x01010014D74F909B5E604BA88980952E711E1B</vt:lpwstr>
  </property>
</Properties>
</file>