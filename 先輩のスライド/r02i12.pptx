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EBC49-AE83-AFDE-F8B9-226DEE2A58F9}" v="61" dt="2024-10-28T11:38:12.455"/>
    <p1510:client id="{641B21DD-97B1-2EB5-1E82-7C98C2E44333}" v="199" dt="2024-10-29T06:24:55.856"/>
    <p1510:client id="{A1C10A67-C243-F096-C61B-0045687E8173}" v="97" dt="2024-10-29T04:12:17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749218808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57278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65293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2355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3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59170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90947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50726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802578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98579991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126646416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53183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132" y="1212600"/>
            <a:ext cx="10577763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光源の入射角度推定を利用した</a:t>
            </a:r>
            <a:br>
              <a:rPr lang="ja-JP" altLang="en-US" sz="4000" dirty="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</a:br>
            <a:r>
              <a:rPr lang="ja-JP" altLang="en-US" sz="40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合成画像の生成</a:t>
            </a:r>
            <a:endParaRPr lang="ja-JP" altLang="en-US" sz="40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787118" cy="12095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sz="2800" b="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研究室：箕浦研究室</a:t>
            </a:r>
          </a:p>
          <a:p>
            <a:r>
              <a:rPr lang="ja-JP" altLang="en-US" sz="2800" b="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5I12　小川姫愛</a:t>
            </a:r>
            <a:endParaRPr lang="ja-JP" altLang="en-US" sz="2800" b="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604E1F-9072-1DC2-2B7F-125DA9F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背景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合成画像の精度を高めるにはどうすればよいか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先行研究では機械学習を用いて光源の角度推定を実施している</a:t>
            </a: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より正確な光源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の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角度推定を行う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0364DF-C7C2-3A20-1FAE-11D2FA0E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43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目的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教師データの積み増しによって、撮影した画像の陰影から</a:t>
            </a:r>
            <a:endParaRPr lang="ja-JP" altLang="en-US">
              <a:solidFill>
                <a:schemeClr val="bg2">
                  <a:lumMod val="25000"/>
                </a:schemeClr>
              </a:solidFill>
              <a:latin typeface="MS PGothic"/>
              <a:ea typeface="MS PGothic"/>
              <a:cs typeface="+mj-lt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機械学習で得られたデ ー タ を も と に 光 源 パ ラ メ ー タ を 測 定 し 、</a:t>
            </a:r>
            <a:endParaRPr lang="ja-JP" altLang="en-US">
              <a:solidFill>
                <a:schemeClr val="bg2">
                  <a:lumMod val="25000"/>
                </a:schemeClr>
              </a:solidFill>
              <a:latin typeface="MS PGothic"/>
              <a:ea typeface="MS PGothic"/>
              <a:cs typeface="+mj-lt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j-lt"/>
              </a:rPr>
              <a:t>合 成 画 像 の 整 合 性 を 向 上 さ せ る 。</a:t>
            </a:r>
            <a:endParaRPr lang="ja-JP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F2305D-27AA-7B72-DC7F-F9E7545B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ja-JP" altLang="en-US"/>
          </a:p>
        </p:txBody>
      </p:sp>
      <p:pic>
        <p:nvPicPr>
          <p:cNvPr id="5" name="図 4" descr="屋内, テーブル, 座る, 棒 が含まれている画像&#10;&#10;説明は自動で生成されたものです">
            <a:extLst>
              <a:ext uri="{FF2B5EF4-FFF2-40B4-BE49-F238E27FC236}">
                <a16:creationId xmlns:a16="http://schemas.microsoft.com/office/drawing/2014/main" id="{36DE05A8-2C3D-3AD8-553C-5C224D9F5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72" y="3487152"/>
            <a:ext cx="4053807" cy="304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4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概要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①被写体に光を照射し、Rasbperry Piで写真を撮影する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②RGB画像とグレースケール変換した画像を用意する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③回帰問題として学習させ、光源の角度推定を行う</a:t>
            </a:r>
            <a:endParaRPr lang="ja-JP" sz="2400" b="1" u="sng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CA851E-F9ED-B3B3-D5F2-4663E805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5716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概要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pic>
        <p:nvPicPr>
          <p:cNvPr id="4" name="コンテンツ プレースホルダー 3" descr="ロゴ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F24EDB8-8CC6-2E27-73CC-194F797F4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819" r="18883" b="1015"/>
          <a:stretch/>
        </p:blipFill>
        <p:spPr>
          <a:xfrm>
            <a:off x="842210" y="2792120"/>
            <a:ext cx="2386269" cy="1957118"/>
          </a:xfrm>
        </p:spPr>
      </p:pic>
      <p:pic>
        <p:nvPicPr>
          <p:cNvPr id="5" name="図 4" descr="アイコン&#10;&#10;説明は自動で生成されたものです">
            <a:extLst>
              <a:ext uri="{FF2B5EF4-FFF2-40B4-BE49-F238E27FC236}">
                <a16:creationId xmlns:a16="http://schemas.microsoft.com/office/drawing/2014/main" id="{CE57B3CA-2E5F-C3A5-EE77-2A626050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844" y="2695073"/>
            <a:ext cx="1666445" cy="205940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6407D11-13E1-9DF0-E21F-90C343ED7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720" y="2847975"/>
            <a:ext cx="3933825" cy="11620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22731CB-2ACD-6EE3-279A-98BD7C3DC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053" y="5223711"/>
            <a:ext cx="3489157" cy="87228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0AACE5-138A-7AEA-B621-73B751E917D1}"/>
              </a:ext>
            </a:extLst>
          </p:cNvPr>
          <p:cNvSpPr txBox="1"/>
          <p:nvPr/>
        </p:nvSpPr>
        <p:spPr>
          <a:xfrm>
            <a:off x="842210" y="1854867"/>
            <a:ext cx="23962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画像撮影</a:t>
            </a:r>
            <a:endParaRPr lang="ja-JP" altLang="en-US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D50701-8F65-73D6-B582-FB79C3C82033}"/>
              </a:ext>
            </a:extLst>
          </p:cNvPr>
          <p:cNvSpPr txBox="1"/>
          <p:nvPr/>
        </p:nvSpPr>
        <p:spPr>
          <a:xfrm>
            <a:off x="7419473" y="1854867"/>
            <a:ext cx="23962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使用言語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63B407-74BE-8919-CA07-E6FC3664F053}"/>
              </a:ext>
            </a:extLst>
          </p:cNvPr>
          <p:cNvSpPr txBox="1"/>
          <p:nvPr/>
        </p:nvSpPr>
        <p:spPr>
          <a:xfrm>
            <a:off x="7419472" y="4491787"/>
            <a:ext cx="44516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深層学習用フレームワーク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E64936-F103-4C76-6675-28D73F00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2894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概要①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2400" b="1" u="sng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被写体に光源を照射し、Rasbperry Piで写真を撮影する</a:t>
            </a:r>
          </a:p>
          <a:p>
            <a:pPr marL="0" indent="0">
              <a:buNone/>
            </a:pPr>
            <a:endParaRPr lang="ja-JP" altLang="en-US" sz="2400" u="sng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３種類の被写体を用意</a:t>
            </a: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光源の角度を変えながら一定時間ごとに撮影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7A768A6-18D8-073D-3AFF-673D90D7A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17" y="3477125"/>
            <a:ext cx="3561349" cy="2671012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009815-BED9-4197-74D6-81E0C6F9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6181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概要②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2400" b="1" u="sng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RGB画像とグレースケール変換した画像を用意する</a:t>
            </a:r>
            <a:endParaRPr lang="ja-JP" sz="2400" b="1" u="sng">
              <a:solidFill>
                <a:schemeClr val="bg2">
                  <a:lumMod val="25000"/>
                </a:schemeClr>
              </a:solidFill>
              <a:latin typeface="Aptos" panose="020B0004020202020204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ja-JP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54E0BE-D1B4-2B25-40C7-80E868EF89EA}"/>
              </a:ext>
            </a:extLst>
          </p:cNvPr>
          <p:cNvSpPr txBox="1"/>
          <p:nvPr/>
        </p:nvSpPr>
        <p:spPr>
          <a:xfrm>
            <a:off x="1513975" y="6143296"/>
            <a:ext cx="30540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RGB画像</a:t>
            </a:r>
            <a:endParaRPr lang="ja-JP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B00BFD-B16E-0D78-6A46-5AC838DA7393}"/>
              </a:ext>
            </a:extLst>
          </p:cNvPr>
          <p:cNvSpPr txBox="1"/>
          <p:nvPr/>
        </p:nvSpPr>
        <p:spPr>
          <a:xfrm>
            <a:off x="7108659" y="6198442"/>
            <a:ext cx="35553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グレースケール画像</a:t>
            </a:r>
            <a:endParaRPr lang="ja-JP" sz="240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図 7" descr="屋内, テーブル, 窓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F8DBABEF-2C78-3A91-971B-55CC821D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16" y="2634915"/>
            <a:ext cx="4463718" cy="3342775"/>
          </a:xfrm>
          <a:prstGeom prst="rect">
            <a:avLst/>
          </a:prstGeom>
        </p:spPr>
      </p:pic>
      <p:pic>
        <p:nvPicPr>
          <p:cNvPr id="9" name="図 8" descr="屋内, 窓, テーブル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CD674F3C-2EA9-2ED3-76E4-B08542E49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352" y="2634916"/>
            <a:ext cx="4543927" cy="3342774"/>
          </a:xfrm>
          <a:prstGeom prst="rect">
            <a:avLst/>
          </a:prstGeom>
        </p:spPr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D0B3E336-AC72-ED8A-00C2-67CC7030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42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概要③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2400" b="1" u="sng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回帰問題として学習させ、</a:t>
            </a:r>
            <a:r>
              <a:rPr lang="ja-JP" altLang="en-US" sz="2400" b="1" u="sng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光源座標の推定を行う</a:t>
            </a:r>
            <a:endParaRPr lang="en-US" altLang="ja-JP" sz="2400" b="1" u="sng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画像データからCNNを用いて機械学習を行う</a:t>
            </a:r>
            <a:endParaRPr lang="en-US" altLang="ja-JP" sz="240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en-US" altLang="ja-JP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en-US" altLang="ja-JP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743406"/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en-US" altLang="ja-JP" sz="240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en-US" altLang="ja-JP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</p:txBody>
      </p:sp>
      <p:pic>
        <p:nvPicPr>
          <p:cNvPr id="4" name="図 3" descr="グラフ&#10;&#10;説明は自動で生成されたものです">
            <a:extLst>
              <a:ext uri="{FF2B5EF4-FFF2-40B4-BE49-F238E27FC236}">
                <a16:creationId xmlns:a16="http://schemas.microsoft.com/office/drawing/2014/main" id="{73590A3E-31DA-7371-9D71-4FF6D7A29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77" r="6318" b="290"/>
          <a:stretch/>
        </p:blipFill>
        <p:spPr>
          <a:xfrm>
            <a:off x="7102642" y="2825415"/>
            <a:ext cx="4313199" cy="3222863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EE6395-ECA8-2DC3-9949-2ADC7933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8</a:t>
            </a:fld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D9B566-F30D-B3A9-C4A2-0787CBBBCCA4}"/>
              </a:ext>
            </a:extLst>
          </p:cNvPr>
          <p:cNvSpPr txBox="1"/>
          <p:nvPr/>
        </p:nvSpPr>
        <p:spPr>
          <a:xfrm>
            <a:off x="1260847" y="3425931"/>
            <a:ext cx="45725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loss:訓練時の平均二乗誤差損失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C8FBBF-A654-4A8A-D81D-8C32B88C46E2}"/>
              </a:ext>
            </a:extLst>
          </p:cNvPr>
          <p:cNvSpPr txBox="1"/>
          <p:nvPr/>
        </p:nvSpPr>
        <p:spPr>
          <a:xfrm>
            <a:off x="7757900" y="6062852"/>
            <a:ext cx="34797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訓練誤差グラフ（室内）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AE770F5-ADC3-0765-64F7-1C39339A67F4}"/>
              </a:ext>
            </a:extLst>
          </p:cNvPr>
          <p:cNvSpPr txBox="1"/>
          <p:nvPr/>
        </p:nvSpPr>
        <p:spPr>
          <a:xfrm>
            <a:off x="318372" y="5150457"/>
            <a:ext cx="45725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最適化関数：Adam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302E9F-04B4-CD75-9220-A6E2480431E3}"/>
              </a:ext>
            </a:extLst>
          </p:cNvPr>
          <p:cNvSpPr txBox="1"/>
          <p:nvPr/>
        </p:nvSpPr>
        <p:spPr>
          <a:xfrm>
            <a:off x="4509373" y="4207983"/>
            <a:ext cx="24770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ＭＳ Ｐゴシック"/>
                <a:ea typeface="ＭＳ Ｐゴシック"/>
              </a:rPr>
              <a:t>yi: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ea typeface="ＭＳ Ｐゴシック"/>
              </a:rPr>
              <a:t>入射角度</a:t>
            </a:r>
            <a:endParaRPr lang="ja-JP">
              <a:solidFill>
                <a:schemeClr val="bg2">
                  <a:lumMod val="25000"/>
                </a:schemeClr>
              </a:solidFill>
              <a:ea typeface="ＭＳ Ｐゴシック"/>
            </a:endParaRPr>
          </a:p>
        </p:txBody>
      </p:sp>
      <p:pic>
        <p:nvPicPr>
          <p:cNvPr id="13" name="図 12" descr="テキスト, 手紙&#10;&#10;説明は自動で生成されたものです">
            <a:extLst>
              <a:ext uri="{FF2B5EF4-FFF2-40B4-BE49-F238E27FC236}">
                <a16:creationId xmlns:a16="http://schemas.microsoft.com/office/drawing/2014/main" id="{459B4514-1D58-DC44-01D2-3350E9C39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61" b="50558"/>
          <a:stretch/>
        </p:blipFill>
        <p:spPr>
          <a:xfrm>
            <a:off x="1391904" y="3939591"/>
            <a:ext cx="3314807" cy="1006128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E70A83-AA80-FC24-63F5-CAE0211FFC51}"/>
              </a:ext>
            </a:extLst>
          </p:cNvPr>
          <p:cNvSpPr txBox="1"/>
          <p:nvPr/>
        </p:nvSpPr>
        <p:spPr>
          <a:xfrm>
            <a:off x="4890372" y="3982390"/>
            <a:ext cx="4016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ＭＳ Ｐゴシック"/>
                <a:ea typeface="ＭＳ Ｐゴシック"/>
              </a:rPr>
              <a:t>^</a:t>
            </a: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ＭＳ Ｐゴシック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048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研究の現状</a:t>
            </a:r>
            <a:endParaRPr lang="ja-JP" altLang="en-US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各被写体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の画像データ収集(室内)</a:t>
            </a:r>
          </a:p>
          <a:p>
            <a:pPr marL="0" indent="0">
              <a:buNone/>
            </a:pPr>
            <a:endParaRPr lang="en-US" altLang="ja-JP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RGB画像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と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グレースケール画像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で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の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機械学習の実施</a:t>
            </a: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学習データを用いた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</a:rPr>
              <a:t>光源の角度推定</a:t>
            </a: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C71839-D22D-0597-1672-95517A33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9</a:t>
            </a:fld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211C14-E1D8-024B-4634-2C0B76C44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511" y="3737810"/>
            <a:ext cx="3721770" cy="279132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FA2A98-C244-B172-4231-21C94E0B9CFC}"/>
              </a:ext>
            </a:extLst>
          </p:cNvPr>
          <p:cNvSpPr txBox="1"/>
          <p:nvPr/>
        </p:nvSpPr>
        <p:spPr>
          <a:xfrm>
            <a:off x="7437058" y="6062851"/>
            <a:ext cx="24770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solidFill>
                  <a:schemeClr val="bg1"/>
                </a:solidFill>
                <a:latin typeface="ＭＳ Ｐゴシック"/>
                <a:ea typeface="ＭＳ Ｐゴシック"/>
              </a:rPr>
              <a:t>基準(0度)⬆</a:t>
            </a:r>
            <a:endParaRPr lang="ja-JP" altLang="en-US" sz="2400" dirty="0">
              <a:solidFill>
                <a:schemeClr val="bg1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11" name="円: 塗りつぶしなし 10">
            <a:extLst>
              <a:ext uri="{FF2B5EF4-FFF2-40B4-BE49-F238E27FC236}">
                <a16:creationId xmlns:a16="http://schemas.microsoft.com/office/drawing/2014/main" id="{4F5C434E-AB54-DD8E-725B-9C8C1D52FB76}"/>
              </a:ext>
            </a:extLst>
          </p:cNvPr>
          <p:cNvSpPr/>
          <p:nvPr/>
        </p:nvSpPr>
        <p:spPr>
          <a:xfrm>
            <a:off x="9160042" y="5847849"/>
            <a:ext cx="285750" cy="257174"/>
          </a:xfrm>
          <a:prstGeom prst="don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357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8EB3-AB06-9255-1025-7D4BA7E5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>
                <a:solidFill>
                  <a:schemeClr val="bg2">
                    <a:lumMod val="25000"/>
                  </a:schemeClr>
                </a:solidFill>
                <a:latin typeface="HGPSoeiKakugothicUB"/>
                <a:ea typeface="HGPSoeiKakugothicUB"/>
              </a:rPr>
              <a:t>今後の方針</a:t>
            </a:r>
            <a:endParaRPr lang="ja-JP" altLang="en-US" sz="3600" dirty="0">
              <a:solidFill>
                <a:schemeClr val="bg2">
                  <a:lumMod val="25000"/>
                </a:schemeClr>
              </a:solidFill>
              <a:latin typeface="HGPSoeiKakugothicUB"/>
              <a:ea typeface="HGPSoeiKakugothicUB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276CC-A8C9-9A3F-1B1F-EDC33146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  <a:cs typeface="+mn-lt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n-lt"/>
              </a:rPr>
              <a:t>RGB画像とグレースケール画像の精度比較</a:t>
            </a: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  <a:cs typeface="+mn-lt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n-lt"/>
              </a:rPr>
              <a:t>太陽を光源とした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n-lt"/>
              </a:rPr>
              <a:t>屋外でのデータ収集</a:t>
            </a:r>
            <a:endParaRPr lang="ja-JP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endParaRPr lang="ja-JP" altLang="en-US" sz="2400" dirty="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  <a:p>
            <a:pPr marL="0" indent="0">
              <a:buNone/>
            </a:pPr>
            <a:r>
              <a:rPr lang="ja-JP" sz="2400">
                <a:solidFill>
                  <a:schemeClr val="bg2">
                    <a:lumMod val="49000"/>
                  </a:schemeClr>
                </a:solidFill>
                <a:latin typeface="MS PGothic"/>
                <a:ea typeface="MS PGothic"/>
                <a:cs typeface="+mn-lt"/>
              </a:rPr>
              <a:t>●</a:t>
            </a:r>
            <a:r>
              <a:rPr lang="ja-JP" sz="2400">
                <a:solidFill>
                  <a:schemeClr val="bg2">
                    <a:lumMod val="25000"/>
                  </a:schemeClr>
                </a:solidFill>
                <a:latin typeface="MS PGothic"/>
                <a:ea typeface="MS PGothic"/>
                <a:cs typeface="+mn-lt"/>
              </a:rPr>
              <a:t>合成画像の精度向上</a:t>
            </a:r>
            <a:endParaRPr lang="ja-JP" sz="2400">
              <a:solidFill>
                <a:schemeClr val="bg2">
                  <a:lumMod val="25000"/>
                </a:schemeClr>
              </a:solidFill>
              <a:latin typeface="MS PGothic"/>
              <a:ea typeface="MS PGothic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92988C-5E9F-1FF2-EC3A-F1D87009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0979194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1" baseType="lpstr">
      <vt:lpstr>VeniceBeachVTI</vt:lpstr>
      <vt:lpstr>光源の入射角度推定を利用した 合成画像の生成</vt:lpstr>
      <vt:lpstr>背景</vt:lpstr>
      <vt:lpstr>目的</vt:lpstr>
      <vt:lpstr>概要</vt:lpstr>
      <vt:lpstr>概要</vt:lpstr>
      <vt:lpstr>概要①</vt:lpstr>
      <vt:lpstr>概要②</vt:lpstr>
      <vt:lpstr>概要③</vt:lpstr>
      <vt:lpstr>研究の現状</vt:lpstr>
      <vt:lpstr>今後の方針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521</cp:revision>
  <dcterms:created xsi:type="dcterms:W3CDTF">2024-10-22T04:26:37Z</dcterms:created>
  <dcterms:modified xsi:type="dcterms:W3CDTF">2024-10-29T06:28:59Z</dcterms:modified>
</cp:coreProperties>
</file>