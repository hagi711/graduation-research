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media/image10.jpg" ContentType="image/png"/>
  <Override PartName="/ppt/media/image11.jpg" ContentType="image/png"/>
  <Override PartName="/ppt/media/image12.jpg" ContentType="image/png"/>
  <Override PartName="/ppt/media/image13.jpg" ContentType="image/png"/>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media/image14.jpg" ContentType="image/png"/>
  <Override PartName="/ppt/media/image15.jpg" ContentType="image/png"/>
  <Override PartName="/ppt/media/image16.jpg" ContentType="image/png"/>
  <Override PartName="/ppt/media/image17.jpg" ContentType="image/png"/>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5"/>
  </p:notesMasterIdLst>
  <p:sldIdLst>
    <p:sldId id="256" r:id="rId2"/>
    <p:sldId id="257" r:id="rId3"/>
    <p:sldId id="270" r:id="rId4"/>
    <p:sldId id="278" r:id="rId5"/>
    <p:sldId id="267" r:id="rId6"/>
    <p:sldId id="272" r:id="rId7"/>
    <p:sldId id="277" r:id="rId8"/>
    <p:sldId id="284" r:id="rId9"/>
    <p:sldId id="285" r:id="rId10"/>
    <p:sldId id="286" r:id="rId11"/>
    <p:sldId id="288" r:id="rId12"/>
    <p:sldId id="263" r:id="rId13"/>
    <p:sldId id="281" r:id="rId14"/>
    <p:sldId id="268" r:id="rId15"/>
    <p:sldId id="283" r:id="rId16"/>
    <p:sldId id="264" r:id="rId17"/>
    <p:sldId id="274" r:id="rId18"/>
    <p:sldId id="290" r:id="rId19"/>
    <p:sldId id="291" r:id="rId20"/>
    <p:sldId id="293" r:id="rId21"/>
    <p:sldId id="289" r:id="rId22"/>
    <p:sldId id="266" r:id="rId23"/>
    <p:sldId id="292" r:id="rId24"/>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76" autoAdjust="0"/>
    <p:restoredTop sz="94660"/>
  </p:normalViewPr>
  <p:slideViewPr>
    <p:cSldViewPr snapToGrid="0">
      <p:cViewPr>
        <p:scale>
          <a:sx n="66" d="100"/>
          <a:sy n="66" d="100"/>
        </p:scale>
        <p:origin x="1061" y="163"/>
      </p:cViewPr>
      <p:guideLst/>
    </p:cSldViewPr>
  </p:slideViewPr>
  <p:notesTextViewPr>
    <p:cViewPr>
      <p:scale>
        <a:sx n="125" d="100"/>
        <a:sy n="125" d="100"/>
      </p:scale>
      <p:origin x="0" y="-34"/>
    </p:cViewPr>
  </p:notesTextViewPr>
  <p:sorterViewPr>
    <p:cViewPr>
      <p:scale>
        <a:sx n="100" d="100"/>
        <a:sy n="100" d="100"/>
      </p:scale>
      <p:origin x="0" y="0"/>
    </p:cViewPr>
  </p:sorterViewPr>
  <p:notesViewPr>
    <p:cSldViewPr snapToGrid="0">
      <p:cViewPr>
        <p:scale>
          <a:sx n="75" d="100"/>
          <a:sy n="75" d="100"/>
        </p:scale>
        <p:origin x="2726" y="-42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5DB03D7-2E64-4A2E-BF3D-756647B4F59A}" type="datetimeFigureOut">
              <a:rPr kumimoji="1" lang="ja-JP" altLang="en-US" smtClean="0"/>
              <a:t>2024/10/29</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7AE9AF-B2CF-49FC-B858-AEF5C7502A61}" type="slidenum">
              <a:rPr kumimoji="1" lang="ja-JP" altLang="en-US" smtClean="0"/>
              <a:t>‹#›</a:t>
            </a:fld>
            <a:endParaRPr kumimoji="1" lang="ja-JP" altLang="en-US"/>
          </a:p>
        </p:txBody>
      </p:sp>
    </p:spTree>
    <p:extLst>
      <p:ext uri="{BB962C8B-B14F-4D97-AF65-F5344CB8AC3E}">
        <p14:creationId xmlns:p14="http://schemas.microsoft.com/office/powerpoint/2010/main" val="276538252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今から、</a:t>
            </a:r>
            <a:r>
              <a:rPr kumimoji="1" lang="en-US" altLang="ja-JP" dirty="0"/>
              <a:t>CG</a:t>
            </a:r>
            <a:r>
              <a:rPr kumimoji="1" lang="ja-JP" altLang="en-US" dirty="0"/>
              <a:t>画像を用いた深層学習によるチップ角度の検出について発表します。</a:t>
            </a:r>
          </a:p>
        </p:txBody>
      </p:sp>
      <p:sp>
        <p:nvSpPr>
          <p:cNvPr id="4" name="スライド番号プレースホルダー 3"/>
          <p:cNvSpPr>
            <a:spLocks noGrp="1"/>
          </p:cNvSpPr>
          <p:nvPr>
            <p:ph type="sldNum" sz="quarter" idx="5"/>
          </p:nvPr>
        </p:nvSpPr>
        <p:spPr/>
        <p:txBody>
          <a:bodyPr/>
          <a:lstStyle/>
          <a:p>
            <a:fld id="{D57AE9AF-B2CF-49FC-B858-AEF5C7502A61}" type="slidenum">
              <a:rPr kumimoji="1" lang="ja-JP" altLang="en-US" smtClean="0"/>
              <a:t>1</a:t>
            </a:fld>
            <a:endParaRPr kumimoji="1" lang="ja-JP" altLang="en-US"/>
          </a:p>
        </p:txBody>
      </p:sp>
    </p:spTree>
    <p:extLst>
      <p:ext uri="{BB962C8B-B14F-4D97-AF65-F5344CB8AC3E}">
        <p14:creationId xmlns:p14="http://schemas.microsoft.com/office/powerpoint/2010/main" val="6524528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まずは研究の背景を説明させていただきます。工場の自動化にともない、ある企業ではチップを掴んでホルダにはめ込むという工程を機械で行っていました。</a:t>
            </a:r>
            <a:endParaRPr kumimoji="1" lang="en-US" altLang="ja-JP" dirty="0"/>
          </a:p>
          <a:p>
            <a:r>
              <a:rPr kumimoji="1" lang="ja-JP" altLang="en-US" dirty="0"/>
              <a:t>こ</a:t>
            </a:r>
            <a:r>
              <a:rPr lang="ja-JP" altLang="en-US" dirty="0"/>
              <a:t>の工程では</a:t>
            </a:r>
            <a:r>
              <a:rPr kumimoji="1" lang="ja-JP" altLang="en-US" dirty="0"/>
              <a:t>、チップを正確につかむために、カメラで撮影した画像からチップの位置と角度を検出する技術が必要となっています。</a:t>
            </a:r>
          </a:p>
        </p:txBody>
      </p:sp>
      <p:sp>
        <p:nvSpPr>
          <p:cNvPr id="4" name="スライド番号プレースホルダー 3"/>
          <p:cNvSpPr>
            <a:spLocks noGrp="1"/>
          </p:cNvSpPr>
          <p:nvPr>
            <p:ph type="sldNum" sz="quarter" idx="5"/>
          </p:nvPr>
        </p:nvSpPr>
        <p:spPr/>
        <p:txBody>
          <a:bodyPr/>
          <a:lstStyle/>
          <a:p>
            <a:fld id="{D57AE9AF-B2CF-49FC-B858-AEF5C7502A61}" type="slidenum">
              <a:rPr kumimoji="1" lang="ja-JP" altLang="en-US" smtClean="0"/>
              <a:t>2</a:t>
            </a:fld>
            <a:endParaRPr kumimoji="1" lang="ja-JP" altLang="en-US"/>
          </a:p>
        </p:txBody>
      </p:sp>
    </p:spTree>
    <p:extLst>
      <p:ext uri="{BB962C8B-B14F-4D97-AF65-F5344CB8AC3E}">
        <p14:creationId xmlns:p14="http://schemas.microsoft.com/office/powerpoint/2010/main" val="7981133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その企業で現在使われているシステムは市販のソフトを組み合わせたもので、自社の物ではないため、速度や精度の改善が難しいのが問題でした。そこで、企業から当研究室へ検出技術の開発依頼があり、研究を行っています。</a:t>
            </a:r>
          </a:p>
        </p:txBody>
      </p:sp>
      <p:sp>
        <p:nvSpPr>
          <p:cNvPr id="4" name="スライド番号プレースホルダー 3"/>
          <p:cNvSpPr>
            <a:spLocks noGrp="1"/>
          </p:cNvSpPr>
          <p:nvPr>
            <p:ph type="sldNum" sz="quarter" idx="5"/>
          </p:nvPr>
        </p:nvSpPr>
        <p:spPr/>
        <p:txBody>
          <a:bodyPr/>
          <a:lstStyle/>
          <a:p>
            <a:fld id="{D57AE9AF-B2CF-49FC-B858-AEF5C7502A61}" type="slidenum">
              <a:rPr kumimoji="1" lang="ja-JP" altLang="en-US" smtClean="0"/>
              <a:t>3</a:t>
            </a:fld>
            <a:endParaRPr kumimoji="1" lang="ja-JP" altLang="en-US"/>
          </a:p>
        </p:txBody>
      </p:sp>
    </p:spTree>
    <p:extLst>
      <p:ext uri="{BB962C8B-B14F-4D97-AF65-F5344CB8AC3E}">
        <p14:creationId xmlns:p14="http://schemas.microsoft.com/office/powerpoint/2010/main" val="30579657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BAF434-7DF1-2601-18C4-0B240A5B8FE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06F4559-4839-C1C7-9A7E-389719DB1F3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B6A34F7-D4D6-36FB-0D3C-7393588C6F3C}"/>
              </a:ext>
            </a:extLst>
          </p:cNvPr>
          <p:cNvSpPr>
            <a:spLocks noGrp="1"/>
          </p:cNvSpPr>
          <p:nvPr>
            <p:ph type="body" idx="1"/>
          </p:nvPr>
        </p:nvSpPr>
        <p:spPr/>
        <p:txBody>
          <a:bodyPr/>
          <a:lstStyle/>
          <a:p>
            <a:r>
              <a:rPr kumimoji="1" lang="ja-JP" altLang="en-US" dirty="0"/>
              <a:t>現在主に研究しているのは、チップの角度を検出するタスクです</a:t>
            </a:r>
            <a:r>
              <a:rPr lang="ja-JP" altLang="en-US" dirty="0"/>
              <a:t>。</a:t>
            </a:r>
            <a:r>
              <a:rPr kumimoji="1" lang="ja-JP" altLang="en-US" dirty="0"/>
              <a:t>このタスクでは、チップを正面から見た時に、チップの中心と頂点を結ぶ線が、カメラの垂直線となす角度を求めます。目標誤差は</a:t>
            </a:r>
            <a:r>
              <a:rPr kumimoji="1" lang="en-US" altLang="ja-JP" dirty="0"/>
              <a:t>0.167°</a:t>
            </a:r>
            <a:r>
              <a:rPr kumimoji="1" lang="ja-JP" altLang="en-US" dirty="0"/>
              <a:t>であり、この高い精度を出すことが研究の目標になっています。</a:t>
            </a:r>
          </a:p>
        </p:txBody>
      </p:sp>
      <p:sp>
        <p:nvSpPr>
          <p:cNvPr id="4" name="スライド番号プレースホルダー 3">
            <a:extLst>
              <a:ext uri="{FF2B5EF4-FFF2-40B4-BE49-F238E27FC236}">
                <a16:creationId xmlns:a16="http://schemas.microsoft.com/office/drawing/2014/main" id="{AFDC9A7D-EF74-99ED-656C-753ABFD9499D}"/>
              </a:ext>
            </a:extLst>
          </p:cNvPr>
          <p:cNvSpPr>
            <a:spLocks noGrp="1"/>
          </p:cNvSpPr>
          <p:nvPr>
            <p:ph type="sldNum" sz="quarter" idx="5"/>
          </p:nvPr>
        </p:nvSpPr>
        <p:spPr/>
        <p:txBody>
          <a:bodyPr/>
          <a:lstStyle/>
          <a:p>
            <a:fld id="{D57AE9AF-B2CF-49FC-B858-AEF5C7502A61}" type="slidenum">
              <a:rPr kumimoji="1" lang="ja-JP" altLang="en-US" smtClean="0"/>
              <a:t>4</a:t>
            </a:fld>
            <a:endParaRPr kumimoji="1" lang="ja-JP" altLang="en-US"/>
          </a:p>
        </p:txBody>
      </p:sp>
    </p:spTree>
    <p:extLst>
      <p:ext uri="{BB962C8B-B14F-4D97-AF65-F5344CB8AC3E}">
        <p14:creationId xmlns:p14="http://schemas.microsoft.com/office/powerpoint/2010/main" val="13732576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先行研究では、チップを回転台に乗せて撮影し、チップの周辺部分のみを切り取った画像を使用して、深層学習モデルの訓練を行っていました。</a:t>
            </a:r>
            <a:endParaRPr kumimoji="1" lang="en-US" altLang="ja-JP" dirty="0"/>
          </a:p>
          <a:p>
            <a:r>
              <a:rPr kumimoji="1" lang="ja-JP" altLang="en-US" dirty="0"/>
              <a:t>しかし、目標誤差</a:t>
            </a:r>
            <a:r>
              <a:rPr kumimoji="1" lang="en-US" altLang="ja-JP" dirty="0"/>
              <a:t>0.167°</a:t>
            </a:r>
            <a:r>
              <a:rPr kumimoji="1" lang="ja-JP" altLang="en-US" dirty="0"/>
              <a:t>に対して推論結果の誤差が</a:t>
            </a:r>
            <a:r>
              <a:rPr kumimoji="1" lang="en-US" altLang="ja-JP" dirty="0"/>
              <a:t>2°</a:t>
            </a:r>
            <a:r>
              <a:rPr kumimoji="1" lang="ja-JP" altLang="en-US" dirty="0"/>
              <a:t>あり、精度を上げる必要がありました。</a:t>
            </a:r>
            <a:endParaRPr kumimoji="1" lang="en-US" altLang="ja-JP" dirty="0"/>
          </a:p>
        </p:txBody>
      </p:sp>
      <p:sp>
        <p:nvSpPr>
          <p:cNvPr id="4" name="スライド番号プレースホルダー 3"/>
          <p:cNvSpPr>
            <a:spLocks noGrp="1"/>
          </p:cNvSpPr>
          <p:nvPr>
            <p:ph type="sldNum" sz="quarter" idx="5"/>
          </p:nvPr>
        </p:nvSpPr>
        <p:spPr/>
        <p:txBody>
          <a:bodyPr/>
          <a:lstStyle/>
          <a:p>
            <a:fld id="{D57AE9AF-B2CF-49FC-B858-AEF5C7502A61}" type="slidenum">
              <a:rPr kumimoji="1" lang="ja-JP" altLang="en-US" smtClean="0"/>
              <a:t>5</a:t>
            </a:fld>
            <a:endParaRPr kumimoji="1" lang="ja-JP" altLang="en-US"/>
          </a:p>
        </p:txBody>
      </p:sp>
    </p:spTree>
    <p:extLst>
      <p:ext uri="{BB962C8B-B14F-4D97-AF65-F5344CB8AC3E}">
        <p14:creationId xmlns:p14="http://schemas.microsoft.com/office/powerpoint/2010/main" val="35447132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1B308-B8B1-9EBA-40F8-8BFF74A81C5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D6B40DB-DB97-8940-88E7-11564A95E97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A976D1F-35E4-607E-2D96-E8C2C02A680B}"/>
              </a:ext>
            </a:extLst>
          </p:cNvPr>
          <p:cNvSpPr>
            <a:spLocks noGrp="1"/>
          </p:cNvSpPr>
          <p:nvPr>
            <p:ph type="body" idx="1"/>
          </p:nvPr>
        </p:nvSpPr>
        <p:spPr/>
        <p:txBody>
          <a:bodyPr/>
          <a:lstStyle/>
          <a:p>
            <a:r>
              <a:rPr kumimoji="1" lang="ja-JP" altLang="en-US" dirty="0"/>
              <a:t>深層学習モデルの精度を上げる際に考えられることは、モデルと学習方法の変更、そして、データの数と質の向上です。</a:t>
            </a:r>
            <a:endParaRPr kumimoji="1" lang="en-US" altLang="ja-JP" dirty="0"/>
          </a:p>
          <a:p>
            <a:r>
              <a:rPr lang="ja-JP" altLang="en-US" dirty="0"/>
              <a:t>先行研究では、データの量を増やすことが課題として残されていました</a:t>
            </a:r>
            <a:r>
              <a:rPr kumimoji="1" lang="ja-JP" altLang="en-US" dirty="0"/>
              <a:t>。</a:t>
            </a:r>
          </a:p>
        </p:txBody>
      </p:sp>
      <p:sp>
        <p:nvSpPr>
          <p:cNvPr id="4" name="スライド番号プレースホルダー 3">
            <a:extLst>
              <a:ext uri="{FF2B5EF4-FFF2-40B4-BE49-F238E27FC236}">
                <a16:creationId xmlns:a16="http://schemas.microsoft.com/office/drawing/2014/main" id="{790A1798-8D77-6073-871A-6526D765F37E}"/>
              </a:ext>
            </a:extLst>
          </p:cNvPr>
          <p:cNvSpPr>
            <a:spLocks noGrp="1"/>
          </p:cNvSpPr>
          <p:nvPr>
            <p:ph type="sldNum" sz="quarter" idx="5"/>
          </p:nvPr>
        </p:nvSpPr>
        <p:spPr/>
        <p:txBody>
          <a:bodyPr/>
          <a:lstStyle/>
          <a:p>
            <a:fld id="{D57AE9AF-B2CF-49FC-B858-AEF5C7502A61}" type="slidenum">
              <a:rPr kumimoji="1" lang="ja-JP" altLang="en-US" smtClean="0"/>
              <a:t>6</a:t>
            </a:fld>
            <a:endParaRPr kumimoji="1" lang="ja-JP" altLang="en-US"/>
          </a:p>
        </p:txBody>
      </p:sp>
    </p:spTree>
    <p:extLst>
      <p:ext uri="{BB962C8B-B14F-4D97-AF65-F5344CB8AC3E}">
        <p14:creationId xmlns:p14="http://schemas.microsoft.com/office/powerpoint/2010/main" val="6529655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2EC7B-2796-6F39-CA7F-B31737F4FB2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A15E5E4-1331-65E7-F38E-0B692147375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9D74C1E-DF0F-AA2E-FBE3-9FFDCE02C1DD}"/>
              </a:ext>
            </a:extLst>
          </p:cNvPr>
          <p:cNvSpPr>
            <a:spLocks noGrp="1"/>
          </p:cNvSpPr>
          <p:nvPr>
            <p:ph type="body" idx="1"/>
          </p:nvPr>
        </p:nvSpPr>
        <p:spPr/>
        <p:txBody>
          <a:bodyPr/>
          <a:lstStyle/>
          <a:p>
            <a:r>
              <a:rPr kumimoji="1" lang="ja-JP" altLang="en-US" dirty="0"/>
              <a:t>データの数を増やすにあたり、先行研究のデータ作成方法では以下の二つの問題がありました。</a:t>
            </a:r>
            <a:r>
              <a:rPr kumimoji="1" lang="en-US" altLang="ja-JP" dirty="0"/>
              <a:t>1</a:t>
            </a:r>
            <a:r>
              <a:rPr kumimoji="1" lang="ja-JP" altLang="en-US" dirty="0"/>
              <a:t>つはチップを基準の角度に揃えて回転台に乗せるのが困難なことと、もう一つは、撮影装置に外乱が加わることでデータの品質が落ちることです。</a:t>
            </a:r>
          </a:p>
        </p:txBody>
      </p:sp>
      <p:sp>
        <p:nvSpPr>
          <p:cNvPr id="4" name="スライド番号プレースホルダー 3">
            <a:extLst>
              <a:ext uri="{FF2B5EF4-FFF2-40B4-BE49-F238E27FC236}">
                <a16:creationId xmlns:a16="http://schemas.microsoft.com/office/drawing/2014/main" id="{A010DFB8-43ED-F8CB-595E-F5A0C0312A00}"/>
              </a:ext>
            </a:extLst>
          </p:cNvPr>
          <p:cNvSpPr>
            <a:spLocks noGrp="1"/>
          </p:cNvSpPr>
          <p:nvPr>
            <p:ph type="sldNum" sz="quarter" idx="5"/>
          </p:nvPr>
        </p:nvSpPr>
        <p:spPr/>
        <p:txBody>
          <a:bodyPr/>
          <a:lstStyle/>
          <a:p>
            <a:fld id="{D57AE9AF-B2CF-49FC-B858-AEF5C7502A61}" type="slidenum">
              <a:rPr kumimoji="1" lang="ja-JP" altLang="en-US" smtClean="0"/>
              <a:t>7</a:t>
            </a:fld>
            <a:endParaRPr kumimoji="1" lang="ja-JP" altLang="en-US"/>
          </a:p>
        </p:txBody>
      </p:sp>
    </p:spTree>
    <p:extLst>
      <p:ext uri="{BB962C8B-B14F-4D97-AF65-F5344CB8AC3E}">
        <p14:creationId xmlns:p14="http://schemas.microsoft.com/office/powerpoint/2010/main" val="22867631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602C7-46CD-3126-9475-3A9362EB7C0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6BF0A2E-655F-8656-C93B-CC4705585FD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4B38FF9-5845-B826-D5CA-2CF04D9F056F}"/>
              </a:ext>
            </a:extLst>
          </p:cNvPr>
          <p:cNvSpPr>
            <a:spLocks noGrp="1"/>
          </p:cNvSpPr>
          <p:nvPr>
            <p:ph type="body" idx="1"/>
          </p:nvPr>
        </p:nvSpPr>
        <p:spPr/>
        <p:txBody>
          <a:bodyPr/>
          <a:lstStyle/>
          <a:p>
            <a:r>
              <a:rPr kumimoji="1" lang="en-US" altLang="ja-JP" dirty="0"/>
              <a:t>1</a:t>
            </a:r>
            <a:r>
              <a:rPr kumimoji="1" lang="ja-JP" altLang="en-US" dirty="0"/>
              <a:t>つ目の問題については、チップを基準の角度に揃えられなかった場合、撮影を行うたびに</a:t>
            </a:r>
            <a:r>
              <a:rPr kumimoji="1" lang="en-US" altLang="ja-JP" dirty="0"/>
              <a:t>0°</a:t>
            </a:r>
            <a:r>
              <a:rPr kumimoji="1" lang="ja-JP" altLang="en-US" dirty="0"/>
              <a:t>の基準が違うデータが作成され、モデルの精度を落とすことにつながると考えられます。</a:t>
            </a:r>
          </a:p>
        </p:txBody>
      </p:sp>
      <p:sp>
        <p:nvSpPr>
          <p:cNvPr id="4" name="スライド番号プレースホルダー 3">
            <a:extLst>
              <a:ext uri="{FF2B5EF4-FFF2-40B4-BE49-F238E27FC236}">
                <a16:creationId xmlns:a16="http://schemas.microsoft.com/office/drawing/2014/main" id="{10649680-71EA-A92D-7148-4739CDF22BB3}"/>
              </a:ext>
            </a:extLst>
          </p:cNvPr>
          <p:cNvSpPr>
            <a:spLocks noGrp="1"/>
          </p:cNvSpPr>
          <p:nvPr>
            <p:ph type="sldNum" sz="quarter" idx="5"/>
          </p:nvPr>
        </p:nvSpPr>
        <p:spPr/>
        <p:txBody>
          <a:bodyPr/>
          <a:lstStyle/>
          <a:p>
            <a:fld id="{D57AE9AF-B2CF-49FC-B858-AEF5C7502A61}" type="slidenum">
              <a:rPr kumimoji="1" lang="ja-JP" altLang="en-US" smtClean="0"/>
              <a:t>8</a:t>
            </a:fld>
            <a:endParaRPr kumimoji="1" lang="ja-JP" altLang="en-US"/>
          </a:p>
        </p:txBody>
      </p:sp>
    </p:spTree>
    <p:extLst>
      <p:ext uri="{BB962C8B-B14F-4D97-AF65-F5344CB8AC3E}">
        <p14:creationId xmlns:p14="http://schemas.microsoft.com/office/powerpoint/2010/main" val="16739720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222C0D-86C3-C5DC-F530-36F76C2EE72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1080EB6-003C-34EB-0273-364DF9DE255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21C84B5-1509-9876-A774-4A7D7EA30311}"/>
              </a:ext>
            </a:extLst>
          </p:cNvPr>
          <p:cNvSpPr>
            <a:spLocks noGrp="1"/>
          </p:cNvSpPr>
          <p:nvPr>
            <p:ph type="body" idx="1"/>
          </p:nvPr>
        </p:nvSpPr>
        <p:spPr/>
        <p:txBody>
          <a:bodyPr/>
          <a:lstStyle/>
          <a:p>
            <a:r>
              <a:rPr kumimoji="1" lang="en-US" altLang="ja-JP" dirty="0"/>
              <a:t>2</a:t>
            </a:r>
            <a:r>
              <a:rPr kumimoji="1" lang="ja-JP" altLang="en-US" dirty="0"/>
              <a:t>つ目の問題では、絶えず外部の影響にさらされる回転台での撮影において、数時間の撮影でデータの品質を維持することが難しく、ピントのずれや装置の揺れによる画像のブレ、チップ自体が動いて角度がずれることによって正解ラベル自体が間違ってしまうことなどがありました。</a:t>
            </a:r>
          </a:p>
        </p:txBody>
      </p:sp>
      <p:sp>
        <p:nvSpPr>
          <p:cNvPr id="4" name="スライド番号プレースホルダー 3">
            <a:extLst>
              <a:ext uri="{FF2B5EF4-FFF2-40B4-BE49-F238E27FC236}">
                <a16:creationId xmlns:a16="http://schemas.microsoft.com/office/drawing/2014/main" id="{68F0EBD1-5173-525A-935E-30419E4A3424}"/>
              </a:ext>
            </a:extLst>
          </p:cNvPr>
          <p:cNvSpPr>
            <a:spLocks noGrp="1"/>
          </p:cNvSpPr>
          <p:nvPr>
            <p:ph type="sldNum" sz="quarter" idx="5"/>
          </p:nvPr>
        </p:nvSpPr>
        <p:spPr/>
        <p:txBody>
          <a:bodyPr/>
          <a:lstStyle/>
          <a:p>
            <a:fld id="{D57AE9AF-B2CF-49FC-B858-AEF5C7502A61}" type="slidenum">
              <a:rPr kumimoji="1" lang="ja-JP" altLang="en-US" smtClean="0"/>
              <a:t>9</a:t>
            </a:fld>
            <a:endParaRPr kumimoji="1" lang="ja-JP" altLang="en-US"/>
          </a:p>
        </p:txBody>
      </p:sp>
    </p:spTree>
    <p:extLst>
      <p:ext uri="{BB962C8B-B14F-4D97-AF65-F5344CB8AC3E}">
        <p14:creationId xmlns:p14="http://schemas.microsoft.com/office/powerpoint/2010/main" val="23878451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5C4B3-240E-4F49-C98D-B594D1EAB26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F5A141C-7063-A1B5-26FC-FDE417C03EF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419A17A-DC40-8454-94C7-338F6B0FE875}"/>
              </a:ext>
            </a:extLst>
          </p:cNvPr>
          <p:cNvSpPr>
            <a:spLocks noGrp="1"/>
          </p:cNvSpPr>
          <p:nvPr>
            <p:ph type="body" idx="1"/>
          </p:nvPr>
        </p:nvSpPr>
        <p:spPr/>
        <p:txBody>
          <a:bodyPr/>
          <a:lstStyle/>
          <a:p>
            <a:r>
              <a:rPr kumimoji="1" lang="ja-JP" altLang="en-US" dirty="0"/>
              <a:t>これらの理由から、より手軽にデータを作成できる方法が必要です。</a:t>
            </a:r>
          </a:p>
        </p:txBody>
      </p:sp>
      <p:sp>
        <p:nvSpPr>
          <p:cNvPr id="4" name="スライド番号プレースホルダー 3">
            <a:extLst>
              <a:ext uri="{FF2B5EF4-FFF2-40B4-BE49-F238E27FC236}">
                <a16:creationId xmlns:a16="http://schemas.microsoft.com/office/drawing/2014/main" id="{9E4945CA-3D2B-FE92-14CD-E2448DCB1CDF}"/>
              </a:ext>
            </a:extLst>
          </p:cNvPr>
          <p:cNvSpPr>
            <a:spLocks noGrp="1"/>
          </p:cNvSpPr>
          <p:nvPr>
            <p:ph type="sldNum" sz="quarter" idx="5"/>
          </p:nvPr>
        </p:nvSpPr>
        <p:spPr/>
        <p:txBody>
          <a:bodyPr/>
          <a:lstStyle/>
          <a:p>
            <a:fld id="{D57AE9AF-B2CF-49FC-B858-AEF5C7502A61}" type="slidenum">
              <a:rPr kumimoji="1" lang="ja-JP" altLang="en-US" smtClean="0"/>
              <a:t>10</a:t>
            </a:fld>
            <a:endParaRPr kumimoji="1" lang="ja-JP" altLang="en-US"/>
          </a:p>
        </p:txBody>
      </p:sp>
    </p:spTree>
    <p:extLst>
      <p:ext uri="{BB962C8B-B14F-4D97-AF65-F5344CB8AC3E}">
        <p14:creationId xmlns:p14="http://schemas.microsoft.com/office/powerpoint/2010/main" val="917475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DFE43E-01BA-0ECD-AE8D-54720F67B8B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0AF88BF-54F8-D7C4-FA59-D49AF9576A2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B9D3363-1D45-42F7-6D97-704154CC8022}"/>
              </a:ext>
            </a:extLst>
          </p:cNvPr>
          <p:cNvSpPr>
            <a:spLocks noGrp="1"/>
          </p:cNvSpPr>
          <p:nvPr>
            <p:ph type="body" idx="1"/>
          </p:nvPr>
        </p:nvSpPr>
        <p:spPr/>
        <p:txBody>
          <a:bodyPr/>
          <a:lstStyle/>
          <a:p>
            <a:r>
              <a:rPr kumimoji="1" lang="ja-JP" altLang="en-US" dirty="0"/>
              <a:t>そこで本研究では、深層学習モデルの手軽な学習データとして用いられている、</a:t>
            </a:r>
            <a:r>
              <a:rPr kumimoji="1" lang="en-US" altLang="ja-JP" dirty="0"/>
              <a:t>CG</a:t>
            </a:r>
            <a:r>
              <a:rPr kumimoji="1" lang="ja-JP" altLang="en-US" dirty="0"/>
              <a:t>画像を使用します。実際に検出を行う際の環境を模した</a:t>
            </a:r>
            <a:r>
              <a:rPr kumimoji="1" lang="en-US" altLang="ja-JP" dirty="0"/>
              <a:t>3D</a:t>
            </a:r>
            <a:r>
              <a:rPr kumimoji="1" lang="ja-JP" altLang="en-US" dirty="0"/>
              <a:t>空間を作成して、</a:t>
            </a:r>
            <a:r>
              <a:rPr kumimoji="1" lang="en-US" altLang="ja-JP" dirty="0"/>
              <a:t>3DCG</a:t>
            </a:r>
            <a:r>
              <a:rPr kumimoji="1" lang="ja-JP" altLang="en-US" dirty="0"/>
              <a:t>ソフトで</a:t>
            </a:r>
            <a:r>
              <a:rPr kumimoji="1" lang="en-US" altLang="ja-JP" dirty="0"/>
              <a:t>CG</a:t>
            </a:r>
            <a:r>
              <a:rPr kumimoji="1" lang="ja-JP" altLang="en-US" dirty="0"/>
              <a:t>画像の撮影を行いました。</a:t>
            </a:r>
          </a:p>
        </p:txBody>
      </p:sp>
      <p:sp>
        <p:nvSpPr>
          <p:cNvPr id="4" name="スライド番号プレースホルダー 3">
            <a:extLst>
              <a:ext uri="{FF2B5EF4-FFF2-40B4-BE49-F238E27FC236}">
                <a16:creationId xmlns:a16="http://schemas.microsoft.com/office/drawing/2014/main" id="{46BC044B-FC60-1628-EBBD-DEC6F1AA4CE1}"/>
              </a:ext>
            </a:extLst>
          </p:cNvPr>
          <p:cNvSpPr>
            <a:spLocks noGrp="1"/>
          </p:cNvSpPr>
          <p:nvPr>
            <p:ph type="sldNum" sz="quarter" idx="5"/>
          </p:nvPr>
        </p:nvSpPr>
        <p:spPr/>
        <p:txBody>
          <a:bodyPr/>
          <a:lstStyle/>
          <a:p>
            <a:fld id="{D57AE9AF-B2CF-49FC-B858-AEF5C7502A61}" type="slidenum">
              <a:rPr kumimoji="1" lang="ja-JP" altLang="en-US" smtClean="0"/>
              <a:t>11</a:t>
            </a:fld>
            <a:endParaRPr kumimoji="1" lang="ja-JP" altLang="en-US"/>
          </a:p>
        </p:txBody>
      </p:sp>
    </p:spTree>
    <p:extLst>
      <p:ext uri="{BB962C8B-B14F-4D97-AF65-F5344CB8AC3E}">
        <p14:creationId xmlns:p14="http://schemas.microsoft.com/office/powerpoint/2010/main" val="12011231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これらを踏まえ、本研究の目的は、</a:t>
            </a:r>
            <a:r>
              <a:rPr kumimoji="1" lang="en-US" altLang="ja-JP" dirty="0"/>
              <a:t>CG</a:t>
            </a:r>
            <a:r>
              <a:rPr kumimoji="1" lang="ja-JP" altLang="en-US" dirty="0"/>
              <a:t>画像で学習させた角度検出モデルを、実写画像に対する最大誤差が</a:t>
            </a:r>
            <a:r>
              <a:rPr kumimoji="1" lang="en-US" altLang="ja-JP" dirty="0"/>
              <a:t>0.167°</a:t>
            </a:r>
            <a:r>
              <a:rPr kumimoji="1" lang="ja-JP" altLang="en-US" dirty="0"/>
              <a:t>以下になるように作成することです。</a:t>
            </a:r>
          </a:p>
        </p:txBody>
      </p:sp>
      <p:sp>
        <p:nvSpPr>
          <p:cNvPr id="4" name="スライド番号プレースホルダー 3"/>
          <p:cNvSpPr>
            <a:spLocks noGrp="1"/>
          </p:cNvSpPr>
          <p:nvPr>
            <p:ph type="sldNum" sz="quarter" idx="5"/>
          </p:nvPr>
        </p:nvSpPr>
        <p:spPr/>
        <p:txBody>
          <a:bodyPr/>
          <a:lstStyle/>
          <a:p>
            <a:fld id="{D57AE9AF-B2CF-49FC-B858-AEF5C7502A61}" type="slidenum">
              <a:rPr kumimoji="1" lang="ja-JP" altLang="en-US" smtClean="0"/>
              <a:t>12</a:t>
            </a:fld>
            <a:endParaRPr kumimoji="1" lang="ja-JP" altLang="en-US"/>
          </a:p>
        </p:txBody>
      </p:sp>
    </p:spTree>
    <p:extLst>
      <p:ext uri="{BB962C8B-B14F-4D97-AF65-F5344CB8AC3E}">
        <p14:creationId xmlns:p14="http://schemas.microsoft.com/office/powerpoint/2010/main" val="23078170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96B961-E59E-A3FB-EF98-51305C65976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5D22391-D04F-0D63-E2BF-E2E22D97343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218298A-1E8F-163D-494E-EB840DFDC5D8}"/>
              </a:ext>
            </a:extLst>
          </p:cNvPr>
          <p:cNvSpPr>
            <a:spLocks noGrp="1"/>
          </p:cNvSpPr>
          <p:nvPr>
            <p:ph type="body" idx="1"/>
          </p:nvPr>
        </p:nvSpPr>
        <p:spPr/>
        <p:txBody>
          <a:bodyPr/>
          <a:lstStyle/>
          <a:p>
            <a:r>
              <a:rPr kumimoji="1" lang="en-US" altLang="ja-JP" dirty="0"/>
              <a:t>CG</a:t>
            </a:r>
            <a:r>
              <a:rPr kumimoji="1" lang="ja-JP" altLang="en-US" dirty="0"/>
              <a:t>画像の作成には</a:t>
            </a:r>
            <a:r>
              <a:rPr kumimoji="1" lang="en-US" altLang="ja-JP" dirty="0"/>
              <a:t>Blender</a:t>
            </a:r>
            <a:r>
              <a:rPr kumimoji="1" lang="ja-JP" altLang="en-US" dirty="0"/>
              <a:t>を用いました。</a:t>
            </a:r>
            <a:r>
              <a:rPr kumimoji="1" lang="en-US" altLang="ja-JP" dirty="0"/>
              <a:t>Blender</a:t>
            </a:r>
            <a:r>
              <a:rPr kumimoji="1" lang="ja-JP" altLang="en-US" dirty="0"/>
              <a:t>はオープンソースの</a:t>
            </a:r>
            <a:r>
              <a:rPr kumimoji="1" lang="en-US" altLang="ja-JP" dirty="0"/>
              <a:t>3DCG</a:t>
            </a:r>
            <a:r>
              <a:rPr kumimoji="1" lang="ja-JP" altLang="en-US" dirty="0"/>
              <a:t>ソフトウェアで、</a:t>
            </a:r>
            <a:r>
              <a:rPr kumimoji="1" lang="en-US" altLang="ja-JP" dirty="0"/>
              <a:t>python</a:t>
            </a:r>
            <a:r>
              <a:rPr kumimoji="1" lang="ja-JP" altLang="en-US" dirty="0"/>
              <a:t>を用いて撮影などを自動で行えるので、学習データの作成に適していると考えました。</a:t>
            </a:r>
          </a:p>
        </p:txBody>
      </p:sp>
      <p:sp>
        <p:nvSpPr>
          <p:cNvPr id="4" name="スライド番号プレースホルダー 3">
            <a:extLst>
              <a:ext uri="{FF2B5EF4-FFF2-40B4-BE49-F238E27FC236}">
                <a16:creationId xmlns:a16="http://schemas.microsoft.com/office/drawing/2014/main" id="{130CC830-36AA-9D7C-F83E-22227D910D81}"/>
              </a:ext>
            </a:extLst>
          </p:cNvPr>
          <p:cNvSpPr>
            <a:spLocks noGrp="1"/>
          </p:cNvSpPr>
          <p:nvPr>
            <p:ph type="sldNum" sz="quarter" idx="5"/>
          </p:nvPr>
        </p:nvSpPr>
        <p:spPr/>
        <p:txBody>
          <a:bodyPr/>
          <a:lstStyle/>
          <a:p>
            <a:fld id="{D57AE9AF-B2CF-49FC-B858-AEF5C7502A61}" type="slidenum">
              <a:rPr kumimoji="1" lang="ja-JP" altLang="en-US" smtClean="0"/>
              <a:t>13</a:t>
            </a:fld>
            <a:endParaRPr kumimoji="1" lang="ja-JP" altLang="en-US"/>
          </a:p>
        </p:txBody>
      </p:sp>
    </p:spTree>
    <p:extLst>
      <p:ext uri="{BB962C8B-B14F-4D97-AF65-F5344CB8AC3E}">
        <p14:creationId xmlns:p14="http://schemas.microsoft.com/office/powerpoint/2010/main" val="961582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モデルの学習に</a:t>
            </a:r>
            <a:r>
              <a:rPr kumimoji="1" lang="en-US" altLang="ja-JP" dirty="0"/>
              <a:t>CG</a:t>
            </a:r>
            <a:r>
              <a:rPr kumimoji="1" lang="ja-JP" altLang="en-US" dirty="0"/>
              <a:t>画像を用いるメリットは、チップの角度を数値で指定して正確に合わせられることと、品質が一定のまま、照明やカメラの位置、部品の個体差などの撮影条件を変化させた画像を大量に作れる点にあります。</a:t>
            </a:r>
          </a:p>
        </p:txBody>
      </p:sp>
      <p:sp>
        <p:nvSpPr>
          <p:cNvPr id="4" name="スライド番号プレースホルダー 3"/>
          <p:cNvSpPr>
            <a:spLocks noGrp="1"/>
          </p:cNvSpPr>
          <p:nvPr>
            <p:ph type="sldNum" sz="quarter" idx="5"/>
          </p:nvPr>
        </p:nvSpPr>
        <p:spPr/>
        <p:txBody>
          <a:bodyPr/>
          <a:lstStyle/>
          <a:p>
            <a:fld id="{D57AE9AF-B2CF-49FC-B858-AEF5C7502A61}" type="slidenum">
              <a:rPr kumimoji="1" lang="ja-JP" altLang="en-US" smtClean="0"/>
              <a:t>14</a:t>
            </a:fld>
            <a:endParaRPr kumimoji="1" lang="ja-JP" altLang="en-US"/>
          </a:p>
        </p:txBody>
      </p:sp>
    </p:spTree>
    <p:extLst>
      <p:ext uri="{BB962C8B-B14F-4D97-AF65-F5344CB8AC3E}">
        <p14:creationId xmlns:p14="http://schemas.microsoft.com/office/powerpoint/2010/main" val="3607779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12444A-84D4-39A0-F247-457B3DB6B4D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7309827-9F8C-4C93-2149-E3C88D03F62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6C65E58-B106-E6A1-429A-59ECF35503EE}"/>
              </a:ext>
            </a:extLst>
          </p:cNvPr>
          <p:cNvSpPr>
            <a:spLocks noGrp="1"/>
          </p:cNvSpPr>
          <p:nvPr>
            <p:ph type="body" idx="1"/>
          </p:nvPr>
        </p:nvSpPr>
        <p:spPr/>
        <p:txBody>
          <a:bodyPr/>
          <a:lstStyle/>
          <a:p>
            <a:r>
              <a:rPr kumimoji="1" lang="ja-JP" altLang="en-US" dirty="0"/>
              <a:t>逆にデメリットとしては、部品の開発元の設計図がないと、正確な</a:t>
            </a:r>
            <a:r>
              <a:rPr kumimoji="1" lang="en-US" altLang="ja-JP" dirty="0"/>
              <a:t>3D</a:t>
            </a:r>
            <a:r>
              <a:rPr kumimoji="1" lang="ja-JP" altLang="en-US" dirty="0"/>
              <a:t>モデルを作成できず、学習モデルの精度が落ちる可能性があることです。また、実写画像と</a:t>
            </a:r>
            <a:r>
              <a:rPr kumimoji="1" lang="en-US" altLang="ja-JP" dirty="0"/>
              <a:t>CG</a:t>
            </a:r>
            <a:r>
              <a:rPr kumimoji="1" lang="ja-JP" altLang="en-US" dirty="0"/>
              <a:t>画像では質感が異なるため、学習させたモデルが実写画像に上手く適用できない可能性があります。</a:t>
            </a:r>
          </a:p>
        </p:txBody>
      </p:sp>
      <p:sp>
        <p:nvSpPr>
          <p:cNvPr id="4" name="スライド番号プレースホルダー 3">
            <a:extLst>
              <a:ext uri="{FF2B5EF4-FFF2-40B4-BE49-F238E27FC236}">
                <a16:creationId xmlns:a16="http://schemas.microsoft.com/office/drawing/2014/main" id="{7CBD8AA0-8217-5EA0-DFE0-AA5E16391C52}"/>
              </a:ext>
            </a:extLst>
          </p:cNvPr>
          <p:cNvSpPr>
            <a:spLocks noGrp="1"/>
          </p:cNvSpPr>
          <p:nvPr>
            <p:ph type="sldNum" sz="quarter" idx="5"/>
          </p:nvPr>
        </p:nvSpPr>
        <p:spPr/>
        <p:txBody>
          <a:bodyPr/>
          <a:lstStyle/>
          <a:p>
            <a:fld id="{D57AE9AF-B2CF-49FC-B858-AEF5C7502A61}" type="slidenum">
              <a:rPr kumimoji="1" lang="ja-JP" altLang="en-US" smtClean="0"/>
              <a:t>15</a:t>
            </a:fld>
            <a:endParaRPr kumimoji="1" lang="ja-JP" altLang="en-US"/>
          </a:p>
        </p:txBody>
      </p:sp>
    </p:spTree>
    <p:extLst>
      <p:ext uri="{BB962C8B-B14F-4D97-AF65-F5344CB8AC3E}">
        <p14:creationId xmlns:p14="http://schemas.microsoft.com/office/powerpoint/2010/main" val="28917075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これらを踏まえて本研究でやりたいのは、まず、</a:t>
            </a:r>
            <a:r>
              <a:rPr kumimoji="1" lang="en-US" altLang="ja-JP" dirty="0"/>
              <a:t>CG</a:t>
            </a:r>
            <a:r>
              <a:rPr kumimoji="1" lang="ja-JP" altLang="en-US" dirty="0"/>
              <a:t>画像のテストデータに対して最大誤差</a:t>
            </a:r>
            <a:r>
              <a:rPr kumimoji="1" lang="en-US" altLang="ja-JP" dirty="0"/>
              <a:t>0.167°</a:t>
            </a:r>
            <a:r>
              <a:rPr kumimoji="1" lang="ja-JP" altLang="en-US" dirty="0"/>
              <a:t>以下のモデルを作る事です。次に、学習したモデルを</a:t>
            </a:r>
            <a:r>
              <a:rPr lang="ja-JP" altLang="en-US" sz="1200" b="0" dirty="0"/>
              <a:t>実写画像に適用して、前年度研究の精度を超える</a:t>
            </a:r>
            <a:r>
              <a:rPr kumimoji="1" lang="ja-JP" altLang="en-US" b="0" dirty="0"/>
              <a:t>事を目指します。そして最終目標として、実写画像に対して最大誤差が</a:t>
            </a:r>
            <a:r>
              <a:rPr kumimoji="1" lang="en-US" altLang="ja-JP" b="0" dirty="0"/>
              <a:t>0.167°</a:t>
            </a:r>
            <a:r>
              <a:rPr kumimoji="1" lang="ja-JP" altLang="en-US" b="0" dirty="0"/>
              <a:t>以下になるモデルを作成します。</a:t>
            </a:r>
          </a:p>
        </p:txBody>
      </p:sp>
      <p:sp>
        <p:nvSpPr>
          <p:cNvPr id="4" name="スライド番号プレースホルダー 3"/>
          <p:cNvSpPr>
            <a:spLocks noGrp="1"/>
          </p:cNvSpPr>
          <p:nvPr>
            <p:ph type="sldNum" sz="quarter" idx="5"/>
          </p:nvPr>
        </p:nvSpPr>
        <p:spPr/>
        <p:txBody>
          <a:bodyPr/>
          <a:lstStyle/>
          <a:p>
            <a:fld id="{D57AE9AF-B2CF-49FC-B858-AEF5C7502A61}" type="slidenum">
              <a:rPr kumimoji="1" lang="ja-JP" altLang="en-US" smtClean="0"/>
              <a:t>16</a:t>
            </a:fld>
            <a:endParaRPr kumimoji="1" lang="ja-JP" altLang="en-US"/>
          </a:p>
        </p:txBody>
      </p:sp>
    </p:spTree>
    <p:extLst>
      <p:ext uri="{BB962C8B-B14F-4D97-AF65-F5344CB8AC3E}">
        <p14:creationId xmlns:p14="http://schemas.microsoft.com/office/powerpoint/2010/main" val="25212960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現状としては、簡単な検証として、ひし形のチップでカメラの位置のみにバリエーションを持たせたデータで学習を行いました。</a:t>
            </a:r>
            <a:endParaRPr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チップは</a:t>
            </a:r>
            <a:r>
              <a:rPr lang="en-US" altLang="ja-JP" sz="1200" dirty="0"/>
              <a:t>0.01°</a:t>
            </a:r>
            <a:r>
              <a:rPr lang="ja-JP" altLang="en-US" sz="1200" dirty="0"/>
              <a:t>ごとに</a:t>
            </a:r>
            <a:r>
              <a:rPr lang="en-US" altLang="ja-JP" sz="1200" dirty="0"/>
              <a:t>180°</a:t>
            </a:r>
            <a:r>
              <a:rPr lang="ja-JP" altLang="en-US" sz="1200" dirty="0"/>
              <a:t>回転させ、</a:t>
            </a:r>
            <a:r>
              <a:rPr lang="en-US" altLang="ja-JP" sz="1200" dirty="0"/>
              <a:t>84×84</a:t>
            </a:r>
            <a:r>
              <a:rPr lang="ja-JP" altLang="en-US" sz="1200" dirty="0"/>
              <a:t>の</a:t>
            </a:r>
            <a:r>
              <a:rPr lang="en-US" altLang="ja-JP" sz="1200" dirty="0"/>
              <a:t>CG</a:t>
            </a:r>
            <a:r>
              <a:rPr lang="ja-JP" altLang="en-US" sz="1200" dirty="0"/>
              <a:t>画像を</a:t>
            </a:r>
            <a:r>
              <a:rPr lang="en-US" altLang="ja-JP" sz="1200" dirty="0"/>
              <a:t>7,2000</a:t>
            </a:r>
            <a:r>
              <a:rPr lang="ja-JP" altLang="en-US" sz="1200" dirty="0"/>
              <a:t>枚用意しました。</a:t>
            </a:r>
            <a:endParaRPr lang="en-US" altLang="ja-JP" sz="1200" dirty="0"/>
          </a:p>
        </p:txBody>
      </p:sp>
      <p:sp>
        <p:nvSpPr>
          <p:cNvPr id="4" name="スライド番号プレースホルダー 3"/>
          <p:cNvSpPr>
            <a:spLocks noGrp="1"/>
          </p:cNvSpPr>
          <p:nvPr>
            <p:ph type="sldNum" sz="quarter" idx="5"/>
          </p:nvPr>
        </p:nvSpPr>
        <p:spPr/>
        <p:txBody>
          <a:bodyPr/>
          <a:lstStyle/>
          <a:p>
            <a:fld id="{D57AE9AF-B2CF-49FC-B858-AEF5C7502A61}" type="slidenum">
              <a:rPr kumimoji="1" lang="ja-JP" altLang="en-US" smtClean="0"/>
              <a:t>17</a:t>
            </a:fld>
            <a:endParaRPr kumimoji="1" lang="ja-JP" altLang="en-US"/>
          </a:p>
        </p:txBody>
      </p:sp>
    </p:spTree>
    <p:extLst>
      <p:ext uri="{BB962C8B-B14F-4D97-AF65-F5344CB8AC3E}">
        <p14:creationId xmlns:p14="http://schemas.microsoft.com/office/powerpoint/2010/main" val="29769305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D5FD07-0DC4-AC93-698A-62CAADF5018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5AB2710-925C-D0DA-369B-80B735D7FF8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1085345-6E2F-ACD2-A8D7-71C1F8676F8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学習に使用したモデルは</a:t>
            </a:r>
            <a:r>
              <a:rPr kumimoji="1" lang="en-US" altLang="ja-JP" dirty="0" err="1"/>
              <a:t>Xception</a:t>
            </a:r>
            <a:r>
              <a:rPr kumimoji="1" lang="ja-JP" altLang="en-US" dirty="0"/>
              <a:t>で、転移学習したモデル</a:t>
            </a:r>
            <a:r>
              <a:rPr kumimoji="1" lang="en-US" altLang="ja-JP" dirty="0"/>
              <a:t>3</a:t>
            </a:r>
            <a:r>
              <a:rPr kumimoji="1" lang="ja-JP" altLang="en-US" dirty="0"/>
              <a:t>つをさらにアンサンブル学習させました。</a:t>
            </a:r>
            <a:r>
              <a:rPr lang="ja-JP" altLang="en-US" sz="1200" dirty="0"/>
              <a:t>損失関数は</a:t>
            </a:r>
            <a:r>
              <a:rPr lang="zh-TW" altLang="en-US" b="0" i="0" dirty="0">
                <a:solidFill>
                  <a:srgbClr val="040C28"/>
                </a:solidFill>
                <a:effectLst/>
                <a:latin typeface="Arial" panose="020B0604020202020204" pitchFamily="34" charset="0"/>
              </a:rPr>
              <a:t>二乗平均平方根誤差</a:t>
            </a:r>
            <a:r>
              <a:rPr lang="ja-JP" altLang="en-US" b="0" i="0" dirty="0">
                <a:solidFill>
                  <a:srgbClr val="040C28"/>
                </a:solidFill>
                <a:effectLst/>
                <a:latin typeface="Arial" panose="020B0604020202020204" pitchFamily="34" charset="0"/>
              </a:rPr>
              <a:t>です。</a:t>
            </a:r>
            <a:endParaRPr lang="en-US" altLang="ja-JP" sz="1200" dirty="0"/>
          </a:p>
        </p:txBody>
      </p:sp>
      <p:sp>
        <p:nvSpPr>
          <p:cNvPr id="4" name="スライド番号プレースホルダー 3">
            <a:extLst>
              <a:ext uri="{FF2B5EF4-FFF2-40B4-BE49-F238E27FC236}">
                <a16:creationId xmlns:a16="http://schemas.microsoft.com/office/drawing/2014/main" id="{CB47571C-99F4-0664-4E71-EF6117670689}"/>
              </a:ext>
            </a:extLst>
          </p:cNvPr>
          <p:cNvSpPr>
            <a:spLocks noGrp="1"/>
          </p:cNvSpPr>
          <p:nvPr>
            <p:ph type="sldNum" sz="quarter" idx="5"/>
          </p:nvPr>
        </p:nvSpPr>
        <p:spPr/>
        <p:txBody>
          <a:bodyPr/>
          <a:lstStyle/>
          <a:p>
            <a:fld id="{D57AE9AF-B2CF-49FC-B858-AEF5C7502A61}" type="slidenum">
              <a:rPr kumimoji="1" lang="ja-JP" altLang="en-US" smtClean="0"/>
              <a:t>18</a:t>
            </a:fld>
            <a:endParaRPr kumimoji="1" lang="ja-JP" altLang="en-US"/>
          </a:p>
        </p:txBody>
      </p:sp>
    </p:spTree>
    <p:extLst>
      <p:ext uri="{BB962C8B-B14F-4D97-AF65-F5344CB8AC3E}">
        <p14:creationId xmlns:p14="http://schemas.microsoft.com/office/powerpoint/2010/main" val="93113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36756-2EFA-2B93-2CA9-000922073BF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0666DFF-06AA-77D6-5637-93EFAC318DA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DAA5056-99F4-CE30-8756-EAF9B31624C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学習の結果は、</a:t>
            </a:r>
            <a:r>
              <a:rPr kumimoji="1" lang="en-US" altLang="ja-JP" dirty="0"/>
              <a:t>CG</a:t>
            </a:r>
            <a:r>
              <a:rPr kumimoji="1" lang="ja-JP" altLang="en-US" dirty="0"/>
              <a:t>画像に対して平均誤差が</a:t>
            </a:r>
            <a:r>
              <a:rPr kumimoji="1" lang="en-US" altLang="ja-JP" dirty="0"/>
              <a:t>0.09°</a:t>
            </a:r>
            <a:r>
              <a:rPr kumimoji="1" lang="ja-JP" altLang="en-US" dirty="0"/>
              <a:t>、最大誤差が</a:t>
            </a:r>
            <a:r>
              <a:rPr kumimoji="1" lang="en-US" altLang="ja-JP" dirty="0"/>
              <a:t>0.45°</a:t>
            </a:r>
            <a:r>
              <a:rPr kumimoji="1" lang="ja-JP" altLang="en-US" dirty="0"/>
              <a:t>でした。目標誤差が</a:t>
            </a:r>
            <a:r>
              <a:rPr kumimoji="1" lang="en-US" altLang="ja-JP" dirty="0"/>
              <a:t>0.167°</a:t>
            </a:r>
            <a:r>
              <a:rPr kumimoji="1" lang="ja-JP" altLang="en-US" dirty="0"/>
              <a:t>なので、まずまずの結果と言えます。しかし、実写画像に対して誤差が</a:t>
            </a:r>
            <a:r>
              <a:rPr kumimoji="1" lang="en-US" altLang="ja-JP" dirty="0"/>
              <a:t>5°</a:t>
            </a:r>
            <a:r>
              <a:rPr kumimoji="1" lang="ja-JP" altLang="en-US" dirty="0"/>
              <a:t>もあり、先行研究の</a:t>
            </a:r>
            <a:r>
              <a:rPr kumimoji="1" lang="en-US" altLang="ja-JP" dirty="0"/>
              <a:t>2°</a:t>
            </a:r>
            <a:r>
              <a:rPr kumimoji="1" lang="ja-JP" altLang="en-US" dirty="0"/>
              <a:t>という結果を下回りました。</a:t>
            </a: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これより、学習元のデータに対する精度は向上したが、肝心の実写画像に対する精度は先行研究より低いという結果になりました。</a:t>
            </a:r>
            <a:endParaRPr lang="en-US" altLang="ja-JP" sz="1200" dirty="0"/>
          </a:p>
        </p:txBody>
      </p:sp>
      <p:sp>
        <p:nvSpPr>
          <p:cNvPr id="4" name="スライド番号プレースホルダー 3">
            <a:extLst>
              <a:ext uri="{FF2B5EF4-FFF2-40B4-BE49-F238E27FC236}">
                <a16:creationId xmlns:a16="http://schemas.microsoft.com/office/drawing/2014/main" id="{C686C85A-1930-52FC-5437-A85787E3C2ED}"/>
              </a:ext>
            </a:extLst>
          </p:cNvPr>
          <p:cNvSpPr>
            <a:spLocks noGrp="1"/>
          </p:cNvSpPr>
          <p:nvPr>
            <p:ph type="sldNum" sz="quarter" idx="5"/>
          </p:nvPr>
        </p:nvSpPr>
        <p:spPr/>
        <p:txBody>
          <a:bodyPr/>
          <a:lstStyle/>
          <a:p>
            <a:fld id="{D57AE9AF-B2CF-49FC-B858-AEF5C7502A61}" type="slidenum">
              <a:rPr kumimoji="1" lang="ja-JP" altLang="en-US" smtClean="0"/>
              <a:t>19</a:t>
            </a:fld>
            <a:endParaRPr kumimoji="1" lang="ja-JP" altLang="en-US"/>
          </a:p>
        </p:txBody>
      </p:sp>
    </p:spTree>
    <p:extLst>
      <p:ext uri="{BB962C8B-B14F-4D97-AF65-F5344CB8AC3E}">
        <p14:creationId xmlns:p14="http://schemas.microsoft.com/office/powerpoint/2010/main" val="17893055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54E8B-7FEB-809D-76F6-B808CCA00D4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BCFFEA7-8EF6-F518-27C1-EF8E77BFB0E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FBB6316-BE59-ED6A-A058-71823677665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b="0" i="0" dirty="0">
                <a:solidFill>
                  <a:srgbClr val="040C28"/>
                </a:solidFill>
                <a:effectLst/>
                <a:latin typeface="Arial" panose="020B0604020202020204" pitchFamily="34" charset="0"/>
              </a:rPr>
              <a:t>続いて、スライドに映っているのは</a:t>
            </a:r>
            <a:r>
              <a:rPr lang="en-US" altLang="ja-JP" b="0" i="0" dirty="0">
                <a:solidFill>
                  <a:srgbClr val="040C28"/>
                </a:solidFill>
                <a:effectLst/>
                <a:latin typeface="Arial" panose="020B0604020202020204" pitchFamily="34" charset="0"/>
              </a:rPr>
              <a:t>100</a:t>
            </a:r>
            <a:r>
              <a:rPr lang="ja-JP" altLang="en-US" b="0" i="0" dirty="0">
                <a:solidFill>
                  <a:srgbClr val="040C28"/>
                </a:solidFill>
                <a:effectLst/>
                <a:latin typeface="Arial" panose="020B0604020202020204" pitchFamily="34" charset="0"/>
              </a:rPr>
              <a:t>から</a:t>
            </a:r>
            <a:r>
              <a:rPr lang="en-US" altLang="ja-JP" b="0" i="0" dirty="0">
                <a:solidFill>
                  <a:srgbClr val="040C28"/>
                </a:solidFill>
                <a:effectLst/>
                <a:latin typeface="Arial" panose="020B0604020202020204" pitchFamily="34" charset="0"/>
              </a:rPr>
              <a:t>200epoch</a:t>
            </a:r>
            <a:r>
              <a:rPr lang="ja-JP" altLang="en-US" b="0" i="0" dirty="0">
                <a:solidFill>
                  <a:srgbClr val="040C28"/>
                </a:solidFill>
                <a:effectLst/>
                <a:latin typeface="Arial" panose="020B0604020202020204" pitchFamily="34" charset="0"/>
              </a:rPr>
              <a:t>目の損失の変化です。</a:t>
            </a:r>
            <a:r>
              <a:rPr lang="en-US" altLang="ja-JP" b="0" i="0" dirty="0">
                <a:solidFill>
                  <a:srgbClr val="040C28"/>
                </a:solidFill>
                <a:effectLst/>
                <a:latin typeface="Arial" panose="020B0604020202020204" pitchFamily="34" charset="0"/>
              </a:rPr>
              <a:t>0.1</a:t>
            </a:r>
            <a:r>
              <a:rPr lang="ja-JP" altLang="en-US" b="0" i="0" dirty="0">
                <a:solidFill>
                  <a:srgbClr val="040C28"/>
                </a:solidFill>
                <a:effectLst/>
                <a:latin typeface="Arial" panose="020B0604020202020204" pitchFamily="34" charset="0"/>
              </a:rPr>
              <a:t>から</a:t>
            </a:r>
            <a:r>
              <a:rPr lang="en-US" altLang="ja-JP" b="0" i="0" dirty="0">
                <a:solidFill>
                  <a:srgbClr val="040C28"/>
                </a:solidFill>
                <a:effectLst/>
                <a:latin typeface="Arial" panose="020B0604020202020204" pitchFamily="34" charset="0"/>
              </a:rPr>
              <a:t>0.9</a:t>
            </a:r>
            <a:r>
              <a:rPr lang="ja-JP" altLang="en-US" b="0" i="0" dirty="0">
                <a:solidFill>
                  <a:srgbClr val="040C28"/>
                </a:solidFill>
                <a:effectLst/>
                <a:latin typeface="Arial" panose="020B0604020202020204" pitchFamily="34" charset="0"/>
              </a:rPr>
              <a:t>あたりをずっと上下しており、すでに学習が飽和しているのが分かります。よって、これ以上モデルの精度を上げるためには、学習データの解像度を上げたり、学習法を再検討する必要があると思われます。</a:t>
            </a:r>
            <a:endParaRPr lang="en-US" altLang="ja-JP" sz="1200" dirty="0"/>
          </a:p>
        </p:txBody>
      </p:sp>
      <p:sp>
        <p:nvSpPr>
          <p:cNvPr id="4" name="スライド番号プレースホルダー 3">
            <a:extLst>
              <a:ext uri="{FF2B5EF4-FFF2-40B4-BE49-F238E27FC236}">
                <a16:creationId xmlns:a16="http://schemas.microsoft.com/office/drawing/2014/main" id="{3485EFCF-FE1A-1303-40C7-867E9E5D0CC9}"/>
              </a:ext>
            </a:extLst>
          </p:cNvPr>
          <p:cNvSpPr>
            <a:spLocks noGrp="1"/>
          </p:cNvSpPr>
          <p:nvPr>
            <p:ph type="sldNum" sz="quarter" idx="5"/>
          </p:nvPr>
        </p:nvSpPr>
        <p:spPr/>
        <p:txBody>
          <a:bodyPr/>
          <a:lstStyle/>
          <a:p>
            <a:fld id="{D57AE9AF-B2CF-49FC-B858-AEF5C7502A61}" type="slidenum">
              <a:rPr kumimoji="1" lang="ja-JP" altLang="en-US" smtClean="0"/>
              <a:t>20</a:t>
            </a:fld>
            <a:endParaRPr kumimoji="1" lang="ja-JP" altLang="en-US"/>
          </a:p>
        </p:txBody>
      </p:sp>
    </p:spTree>
    <p:extLst>
      <p:ext uri="{BB962C8B-B14F-4D97-AF65-F5344CB8AC3E}">
        <p14:creationId xmlns:p14="http://schemas.microsoft.com/office/powerpoint/2010/main" val="36023139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7843EB-B54D-94B3-56F4-045EBD409D5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7F3DB20-658F-B05E-C328-A2F0687DDC2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B8372A6-FC0B-4286-009A-A9C44A2E523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実写画像で精度が低かった方については、いくつか原因が考えられます。例えば、</a:t>
            </a:r>
            <a:r>
              <a:rPr lang="en-US" altLang="ja-JP" sz="1200" dirty="0"/>
              <a:t>CG</a:t>
            </a:r>
            <a:r>
              <a:rPr lang="ja-JP" altLang="en-US" sz="1200" dirty="0"/>
              <a:t>画像のバリエーションが少ないことによる過学習、</a:t>
            </a:r>
            <a:r>
              <a:rPr lang="en-US" altLang="ja-JP" sz="1200" dirty="0"/>
              <a:t>3D</a:t>
            </a:r>
            <a:r>
              <a:rPr lang="ja-JP" altLang="en-US" sz="1200" dirty="0"/>
              <a:t>モデルと実際のチップの寸法の違い、実写画像と</a:t>
            </a:r>
            <a:r>
              <a:rPr lang="en-US" altLang="ja-JP" sz="1200" dirty="0"/>
              <a:t>CG</a:t>
            </a:r>
            <a:r>
              <a:rPr lang="ja-JP" altLang="en-US" sz="1200" dirty="0"/>
              <a:t>画像の質感の違いなどです。</a:t>
            </a:r>
            <a:endParaRPr lang="en-US" altLang="ja-JP" sz="1200" dirty="0"/>
          </a:p>
        </p:txBody>
      </p:sp>
      <p:sp>
        <p:nvSpPr>
          <p:cNvPr id="4" name="スライド番号プレースホルダー 3">
            <a:extLst>
              <a:ext uri="{FF2B5EF4-FFF2-40B4-BE49-F238E27FC236}">
                <a16:creationId xmlns:a16="http://schemas.microsoft.com/office/drawing/2014/main" id="{1F123E5B-4CA9-11B4-28B0-BEF0832723AE}"/>
              </a:ext>
            </a:extLst>
          </p:cNvPr>
          <p:cNvSpPr>
            <a:spLocks noGrp="1"/>
          </p:cNvSpPr>
          <p:nvPr>
            <p:ph type="sldNum" sz="quarter" idx="5"/>
          </p:nvPr>
        </p:nvSpPr>
        <p:spPr/>
        <p:txBody>
          <a:bodyPr/>
          <a:lstStyle/>
          <a:p>
            <a:fld id="{D57AE9AF-B2CF-49FC-B858-AEF5C7502A61}" type="slidenum">
              <a:rPr kumimoji="1" lang="ja-JP" altLang="en-US" smtClean="0"/>
              <a:t>21</a:t>
            </a:fld>
            <a:endParaRPr kumimoji="1" lang="ja-JP" altLang="en-US"/>
          </a:p>
        </p:txBody>
      </p:sp>
    </p:spTree>
    <p:extLst>
      <p:ext uri="{BB962C8B-B14F-4D97-AF65-F5344CB8AC3E}">
        <p14:creationId xmlns:p14="http://schemas.microsoft.com/office/powerpoint/2010/main" val="70029438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れを踏まえ、今後の方針としては、実写データに対する誤差が小さくなる方法を探します。ひとまず、撮影環境をよりランダムに変化させることで特定の条件に対する過学習を抑制すること。撮影する角度の範囲を狭めて、</a:t>
            </a:r>
            <a:r>
              <a:rPr kumimoji="1" lang="en-US" altLang="ja-JP" dirty="0"/>
              <a:t>1</a:t>
            </a:r>
            <a:r>
              <a:rPr kumimoji="1" lang="ja-JP" altLang="en-US" dirty="0"/>
              <a:t>つの角度に対するデータ数をふやし、精度が向上するかを検証すること。また、実写データで追加学習をすることなどを考えています。また、</a:t>
            </a:r>
            <a:r>
              <a:rPr kumimoji="1" lang="en-US" altLang="ja-JP" dirty="0"/>
              <a:t>CG</a:t>
            </a:r>
            <a:r>
              <a:rPr kumimoji="1" lang="ja-JP" altLang="en-US" dirty="0"/>
              <a:t>画像で学習させたモデルを実写画像に適用させる研究は盛んに行われているので、それらを試していきたいと思います。</a:t>
            </a:r>
            <a:endParaRPr kumimoji="1" lang="en-US" altLang="ja-JP" dirty="0"/>
          </a:p>
          <a:p>
            <a:r>
              <a:rPr kumimoji="1" lang="ja-JP" altLang="en-US" dirty="0"/>
              <a:t>以上で発表を終わります。ご清聴ありがとうございました。</a:t>
            </a:r>
          </a:p>
        </p:txBody>
      </p:sp>
      <p:sp>
        <p:nvSpPr>
          <p:cNvPr id="4" name="スライド番号プレースホルダー 3"/>
          <p:cNvSpPr>
            <a:spLocks noGrp="1"/>
          </p:cNvSpPr>
          <p:nvPr>
            <p:ph type="sldNum" sz="quarter" idx="5"/>
          </p:nvPr>
        </p:nvSpPr>
        <p:spPr/>
        <p:txBody>
          <a:bodyPr/>
          <a:lstStyle/>
          <a:p>
            <a:fld id="{D57AE9AF-B2CF-49FC-B858-AEF5C7502A61}" type="slidenum">
              <a:rPr kumimoji="1" lang="ja-JP" altLang="en-US" smtClean="0"/>
              <a:t>22</a:t>
            </a:fld>
            <a:endParaRPr kumimoji="1" lang="ja-JP" altLang="en-US"/>
          </a:p>
        </p:txBody>
      </p:sp>
    </p:spTree>
    <p:extLst>
      <p:ext uri="{BB962C8B-B14F-4D97-AF65-F5344CB8AC3E}">
        <p14:creationId xmlns:p14="http://schemas.microsoft.com/office/powerpoint/2010/main" val="121983779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D989C-459F-1259-6F9B-AB6AC7F4125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33F4499-7DA8-089D-AE12-CC1BD105F04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78DE7EF-77BB-FF58-73E1-1D43617375FF}"/>
              </a:ext>
            </a:extLst>
          </p:cNvPr>
          <p:cNvSpPr>
            <a:spLocks noGrp="1"/>
          </p:cNvSpPr>
          <p:nvPr>
            <p:ph type="body" idx="1"/>
          </p:nvPr>
        </p:nvSpPr>
        <p:spPr/>
        <p:txBody>
          <a:bodyPr/>
          <a:lstStyle/>
          <a:p>
            <a:r>
              <a:rPr kumimoji="1" lang="ja-JP" altLang="en-US" dirty="0"/>
              <a:t>これを踏まえ、今後の方針としては、実写データに対する誤差が小さくなる方法を探します。ひとまず、撮影環境をよりランダムに変化させることで特定の条件に対する過学習を抑制すること。撮影する角度の範囲を狭めて、</a:t>
            </a:r>
            <a:r>
              <a:rPr kumimoji="1" lang="en-US" altLang="ja-JP" dirty="0"/>
              <a:t>1</a:t>
            </a:r>
            <a:r>
              <a:rPr kumimoji="1" lang="ja-JP" altLang="en-US" dirty="0"/>
              <a:t>つの角度に対するデータ数をふやし、精度が向上するかを検証すること。また、実写データで追加学習をすることなどを考えています。また、</a:t>
            </a:r>
            <a:r>
              <a:rPr kumimoji="1" lang="en-US" altLang="ja-JP" dirty="0"/>
              <a:t>CG</a:t>
            </a:r>
            <a:r>
              <a:rPr kumimoji="1" lang="ja-JP" altLang="en-US" dirty="0"/>
              <a:t>画像で学習させたモデルを実写画像に適用させる研究は盛んに行われているので、それらを試していきたいと思います。</a:t>
            </a:r>
            <a:endParaRPr kumimoji="1" lang="en-US" altLang="ja-JP" dirty="0"/>
          </a:p>
          <a:p>
            <a:r>
              <a:rPr kumimoji="1" lang="ja-JP" altLang="en-US" dirty="0"/>
              <a:t>以上で発表を終わります。ご清聴ありがとうございました。</a:t>
            </a:r>
          </a:p>
        </p:txBody>
      </p:sp>
      <p:sp>
        <p:nvSpPr>
          <p:cNvPr id="4" name="スライド番号プレースホルダー 3">
            <a:extLst>
              <a:ext uri="{FF2B5EF4-FFF2-40B4-BE49-F238E27FC236}">
                <a16:creationId xmlns:a16="http://schemas.microsoft.com/office/drawing/2014/main" id="{13E0B8CE-5A9B-19AE-1AEE-6BE461C58459}"/>
              </a:ext>
            </a:extLst>
          </p:cNvPr>
          <p:cNvSpPr>
            <a:spLocks noGrp="1"/>
          </p:cNvSpPr>
          <p:nvPr>
            <p:ph type="sldNum" sz="quarter" idx="5"/>
          </p:nvPr>
        </p:nvSpPr>
        <p:spPr/>
        <p:txBody>
          <a:bodyPr/>
          <a:lstStyle/>
          <a:p>
            <a:fld id="{D57AE9AF-B2CF-49FC-B858-AEF5C7502A61}" type="slidenum">
              <a:rPr kumimoji="1" lang="ja-JP" altLang="en-US" smtClean="0"/>
              <a:t>23</a:t>
            </a:fld>
            <a:endParaRPr kumimoji="1" lang="ja-JP" altLang="en-US"/>
          </a:p>
        </p:txBody>
      </p:sp>
    </p:spTree>
    <p:extLst>
      <p:ext uri="{BB962C8B-B14F-4D97-AF65-F5344CB8AC3E}">
        <p14:creationId xmlns:p14="http://schemas.microsoft.com/office/powerpoint/2010/main" val="12912684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CF5E46E-1540-4A62-694A-23DC87381B11}"/>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93567882-7CC1-2793-9798-FFE1C450F40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85D6CF4A-D925-5116-5449-EF6AEFA1EB05}"/>
              </a:ext>
            </a:extLst>
          </p:cNvPr>
          <p:cNvSpPr>
            <a:spLocks noGrp="1"/>
          </p:cNvSpPr>
          <p:nvPr>
            <p:ph type="dt" sz="half" idx="10"/>
          </p:nvPr>
        </p:nvSpPr>
        <p:spPr/>
        <p:txBody>
          <a:bodyPr/>
          <a:lstStyle/>
          <a:p>
            <a:fld id="{9A6CE990-7263-4883-884A-E29CF4EBAE3B}" type="datetime1">
              <a:rPr kumimoji="1" lang="ja-JP" altLang="en-US" smtClean="0"/>
              <a:t>2024/10/29</a:t>
            </a:fld>
            <a:endParaRPr kumimoji="1" lang="ja-JP" altLang="en-US"/>
          </a:p>
        </p:txBody>
      </p:sp>
      <p:sp>
        <p:nvSpPr>
          <p:cNvPr id="5" name="フッター プレースホルダー 4">
            <a:extLst>
              <a:ext uri="{FF2B5EF4-FFF2-40B4-BE49-F238E27FC236}">
                <a16:creationId xmlns:a16="http://schemas.microsoft.com/office/drawing/2014/main" id="{C4D153D0-119B-C213-A0B1-D5ED7162AC6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72024DD-9199-104C-FF16-4742EBBBA82F}"/>
              </a:ext>
            </a:extLst>
          </p:cNvPr>
          <p:cNvSpPr>
            <a:spLocks noGrp="1"/>
          </p:cNvSpPr>
          <p:nvPr>
            <p:ph type="sldNum" sz="quarter" idx="12"/>
          </p:nvPr>
        </p:nvSpPr>
        <p:spPr/>
        <p:txBody>
          <a:bodyPr/>
          <a:lstStyle/>
          <a:p>
            <a:fld id="{1036D729-9A6E-4C44-81F1-10EBA65189A8}" type="slidenum">
              <a:rPr kumimoji="1" lang="ja-JP" altLang="en-US" smtClean="0"/>
              <a:t>‹#›</a:t>
            </a:fld>
            <a:endParaRPr kumimoji="1" lang="ja-JP" altLang="en-US"/>
          </a:p>
        </p:txBody>
      </p:sp>
    </p:spTree>
    <p:extLst>
      <p:ext uri="{BB962C8B-B14F-4D97-AF65-F5344CB8AC3E}">
        <p14:creationId xmlns:p14="http://schemas.microsoft.com/office/powerpoint/2010/main" val="35660903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B8CE6D0-F713-22FB-9EFF-7A32BA23E09C}"/>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10CD1E55-D1A9-8900-7DA0-60F80A1C833E}"/>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115754E-6609-0EBD-AD41-060040471EA0}"/>
              </a:ext>
            </a:extLst>
          </p:cNvPr>
          <p:cNvSpPr>
            <a:spLocks noGrp="1"/>
          </p:cNvSpPr>
          <p:nvPr>
            <p:ph type="dt" sz="half" idx="10"/>
          </p:nvPr>
        </p:nvSpPr>
        <p:spPr/>
        <p:txBody>
          <a:bodyPr/>
          <a:lstStyle/>
          <a:p>
            <a:fld id="{7EB7EFD5-5A6A-43E3-A59B-213D1777D044}" type="datetime1">
              <a:rPr kumimoji="1" lang="ja-JP" altLang="en-US" smtClean="0"/>
              <a:t>2024/10/29</a:t>
            </a:fld>
            <a:endParaRPr kumimoji="1" lang="ja-JP" altLang="en-US"/>
          </a:p>
        </p:txBody>
      </p:sp>
      <p:sp>
        <p:nvSpPr>
          <p:cNvPr id="5" name="フッター プレースホルダー 4">
            <a:extLst>
              <a:ext uri="{FF2B5EF4-FFF2-40B4-BE49-F238E27FC236}">
                <a16:creationId xmlns:a16="http://schemas.microsoft.com/office/drawing/2014/main" id="{42FA1103-B32F-814F-97F6-27E1675CA99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D38C6C9-0CD9-A612-B774-09B0D06F32CB}"/>
              </a:ext>
            </a:extLst>
          </p:cNvPr>
          <p:cNvSpPr>
            <a:spLocks noGrp="1"/>
          </p:cNvSpPr>
          <p:nvPr>
            <p:ph type="sldNum" sz="quarter" idx="12"/>
          </p:nvPr>
        </p:nvSpPr>
        <p:spPr/>
        <p:txBody>
          <a:bodyPr/>
          <a:lstStyle/>
          <a:p>
            <a:fld id="{1036D729-9A6E-4C44-81F1-10EBA65189A8}" type="slidenum">
              <a:rPr kumimoji="1" lang="ja-JP" altLang="en-US" smtClean="0"/>
              <a:t>‹#›</a:t>
            </a:fld>
            <a:endParaRPr kumimoji="1" lang="ja-JP" altLang="en-US"/>
          </a:p>
        </p:txBody>
      </p:sp>
    </p:spTree>
    <p:extLst>
      <p:ext uri="{BB962C8B-B14F-4D97-AF65-F5344CB8AC3E}">
        <p14:creationId xmlns:p14="http://schemas.microsoft.com/office/powerpoint/2010/main" val="37605293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8F20183-15D3-9374-6819-BBB5EAC84E94}"/>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D7B03D5-F078-D4CB-7F7E-893288C672B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31F03EA8-B8EC-F4AA-0842-336983194046}"/>
              </a:ext>
            </a:extLst>
          </p:cNvPr>
          <p:cNvSpPr>
            <a:spLocks noGrp="1"/>
          </p:cNvSpPr>
          <p:nvPr>
            <p:ph type="dt" sz="half" idx="10"/>
          </p:nvPr>
        </p:nvSpPr>
        <p:spPr/>
        <p:txBody>
          <a:bodyPr/>
          <a:lstStyle/>
          <a:p>
            <a:fld id="{6D1BD843-55CD-4D2C-AC2F-DB30D83839D3}" type="datetime1">
              <a:rPr kumimoji="1" lang="ja-JP" altLang="en-US" smtClean="0"/>
              <a:t>2024/10/29</a:t>
            </a:fld>
            <a:endParaRPr kumimoji="1" lang="ja-JP" altLang="en-US"/>
          </a:p>
        </p:txBody>
      </p:sp>
      <p:sp>
        <p:nvSpPr>
          <p:cNvPr id="5" name="フッター プレースホルダー 4">
            <a:extLst>
              <a:ext uri="{FF2B5EF4-FFF2-40B4-BE49-F238E27FC236}">
                <a16:creationId xmlns:a16="http://schemas.microsoft.com/office/drawing/2014/main" id="{8803D910-239F-6A5E-870A-CF026F9BB93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66397EB-B4A7-C1AA-025C-EE81CF7B61B6}"/>
              </a:ext>
            </a:extLst>
          </p:cNvPr>
          <p:cNvSpPr>
            <a:spLocks noGrp="1"/>
          </p:cNvSpPr>
          <p:nvPr>
            <p:ph type="sldNum" sz="quarter" idx="12"/>
          </p:nvPr>
        </p:nvSpPr>
        <p:spPr/>
        <p:txBody>
          <a:bodyPr/>
          <a:lstStyle/>
          <a:p>
            <a:fld id="{1036D729-9A6E-4C44-81F1-10EBA65189A8}" type="slidenum">
              <a:rPr kumimoji="1" lang="ja-JP" altLang="en-US" smtClean="0"/>
              <a:t>‹#›</a:t>
            </a:fld>
            <a:endParaRPr kumimoji="1" lang="ja-JP" altLang="en-US"/>
          </a:p>
        </p:txBody>
      </p:sp>
    </p:spTree>
    <p:extLst>
      <p:ext uri="{BB962C8B-B14F-4D97-AF65-F5344CB8AC3E}">
        <p14:creationId xmlns:p14="http://schemas.microsoft.com/office/powerpoint/2010/main" val="26874404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83C38A5-7D12-25A0-FF21-B906DCBDF481}"/>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2B6028E4-C161-44E2-C1E0-E094E5D7D87A}"/>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B8C99EA9-EDFF-3C20-EDB8-593105B1FF07}"/>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202E1459-4F36-ABF2-3F01-9E37E029EAF5}"/>
              </a:ext>
            </a:extLst>
          </p:cNvPr>
          <p:cNvSpPr>
            <a:spLocks noGrp="1"/>
          </p:cNvSpPr>
          <p:nvPr>
            <p:ph type="dt" sz="half" idx="10"/>
          </p:nvPr>
        </p:nvSpPr>
        <p:spPr/>
        <p:txBody>
          <a:bodyPr/>
          <a:lstStyle/>
          <a:p>
            <a:fld id="{63E87524-F0CE-4A46-B663-C6C59FE1D11D}" type="datetime1">
              <a:rPr kumimoji="1" lang="ja-JP" altLang="en-US" smtClean="0"/>
              <a:t>2024/10/29</a:t>
            </a:fld>
            <a:endParaRPr kumimoji="1" lang="ja-JP" altLang="en-US"/>
          </a:p>
        </p:txBody>
      </p:sp>
      <p:sp>
        <p:nvSpPr>
          <p:cNvPr id="6" name="フッター プレースホルダー 5">
            <a:extLst>
              <a:ext uri="{FF2B5EF4-FFF2-40B4-BE49-F238E27FC236}">
                <a16:creationId xmlns:a16="http://schemas.microsoft.com/office/drawing/2014/main" id="{8D2AD588-F4E2-DF43-413A-2F858D0B7EE6}"/>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DA628A6-E191-DDFA-8525-A51AB285F714}"/>
              </a:ext>
            </a:extLst>
          </p:cNvPr>
          <p:cNvSpPr>
            <a:spLocks noGrp="1"/>
          </p:cNvSpPr>
          <p:nvPr>
            <p:ph type="sldNum" sz="quarter" idx="12"/>
          </p:nvPr>
        </p:nvSpPr>
        <p:spPr/>
        <p:txBody>
          <a:bodyPr/>
          <a:lstStyle/>
          <a:p>
            <a:fld id="{1036D729-9A6E-4C44-81F1-10EBA65189A8}" type="slidenum">
              <a:rPr kumimoji="1" lang="ja-JP" altLang="en-US" smtClean="0"/>
              <a:t>‹#›</a:t>
            </a:fld>
            <a:endParaRPr kumimoji="1" lang="ja-JP" altLang="en-US"/>
          </a:p>
        </p:txBody>
      </p:sp>
    </p:spTree>
    <p:extLst>
      <p:ext uri="{BB962C8B-B14F-4D97-AF65-F5344CB8AC3E}">
        <p14:creationId xmlns:p14="http://schemas.microsoft.com/office/powerpoint/2010/main" val="31073262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37FABF2-51F5-6883-3F24-FC8B8C22FD96}"/>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6A7E2230-FA1E-BE72-50B5-6C50DC77D13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3A3923EF-730B-A5B1-4AD5-B468E18E4874}"/>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260C5DA0-C473-313C-4EBB-0949B74AE84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2D5CEBE0-6B07-0752-58EF-4985C0423EDE}"/>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94971B58-63FF-276C-F16D-E4E798847175}"/>
              </a:ext>
            </a:extLst>
          </p:cNvPr>
          <p:cNvSpPr>
            <a:spLocks noGrp="1"/>
          </p:cNvSpPr>
          <p:nvPr>
            <p:ph type="dt" sz="half" idx="10"/>
          </p:nvPr>
        </p:nvSpPr>
        <p:spPr/>
        <p:txBody>
          <a:bodyPr/>
          <a:lstStyle/>
          <a:p>
            <a:fld id="{D3AEC20F-D278-4BE9-918C-C3F6C15F8D4D}" type="datetime1">
              <a:rPr kumimoji="1" lang="ja-JP" altLang="en-US" smtClean="0"/>
              <a:t>2024/10/29</a:t>
            </a:fld>
            <a:endParaRPr kumimoji="1" lang="ja-JP" altLang="en-US"/>
          </a:p>
        </p:txBody>
      </p:sp>
      <p:sp>
        <p:nvSpPr>
          <p:cNvPr id="8" name="フッター プレースホルダー 7">
            <a:extLst>
              <a:ext uri="{FF2B5EF4-FFF2-40B4-BE49-F238E27FC236}">
                <a16:creationId xmlns:a16="http://schemas.microsoft.com/office/drawing/2014/main" id="{F4004A50-F677-E1C8-CDA2-39AAD5B9AE51}"/>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03EEF2E0-F895-FA44-F66A-6BE8B43B43AB}"/>
              </a:ext>
            </a:extLst>
          </p:cNvPr>
          <p:cNvSpPr>
            <a:spLocks noGrp="1"/>
          </p:cNvSpPr>
          <p:nvPr>
            <p:ph type="sldNum" sz="quarter" idx="12"/>
          </p:nvPr>
        </p:nvSpPr>
        <p:spPr/>
        <p:txBody>
          <a:bodyPr/>
          <a:lstStyle/>
          <a:p>
            <a:fld id="{1036D729-9A6E-4C44-81F1-10EBA65189A8}" type="slidenum">
              <a:rPr kumimoji="1" lang="ja-JP" altLang="en-US" smtClean="0"/>
              <a:t>‹#›</a:t>
            </a:fld>
            <a:endParaRPr kumimoji="1" lang="ja-JP" altLang="en-US"/>
          </a:p>
        </p:txBody>
      </p:sp>
    </p:spTree>
    <p:extLst>
      <p:ext uri="{BB962C8B-B14F-4D97-AF65-F5344CB8AC3E}">
        <p14:creationId xmlns:p14="http://schemas.microsoft.com/office/powerpoint/2010/main" val="40369893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52B609A-C1D6-BD3C-D25E-0F7176C56F37}"/>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34C5B798-F1A6-A019-7831-50C2150A6991}"/>
              </a:ext>
            </a:extLst>
          </p:cNvPr>
          <p:cNvSpPr>
            <a:spLocks noGrp="1"/>
          </p:cNvSpPr>
          <p:nvPr>
            <p:ph type="dt" sz="half" idx="10"/>
          </p:nvPr>
        </p:nvSpPr>
        <p:spPr/>
        <p:txBody>
          <a:bodyPr/>
          <a:lstStyle/>
          <a:p>
            <a:fld id="{3371A8D6-7B81-453F-A44F-358F72BE38D8}" type="datetime1">
              <a:rPr kumimoji="1" lang="ja-JP" altLang="en-US" smtClean="0"/>
              <a:t>2024/10/29</a:t>
            </a:fld>
            <a:endParaRPr kumimoji="1" lang="ja-JP" altLang="en-US"/>
          </a:p>
        </p:txBody>
      </p:sp>
      <p:sp>
        <p:nvSpPr>
          <p:cNvPr id="4" name="フッター プレースホルダー 3">
            <a:extLst>
              <a:ext uri="{FF2B5EF4-FFF2-40B4-BE49-F238E27FC236}">
                <a16:creationId xmlns:a16="http://schemas.microsoft.com/office/drawing/2014/main" id="{B510DBFB-A871-68FF-AB52-D32A1B6DE815}"/>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DFCD1F6C-CA46-8EFA-456A-34C8F7B2C2A7}"/>
              </a:ext>
            </a:extLst>
          </p:cNvPr>
          <p:cNvSpPr>
            <a:spLocks noGrp="1"/>
          </p:cNvSpPr>
          <p:nvPr>
            <p:ph type="sldNum" sz="quarter" idx="12"/>
          </p:nvPr>
        </p:nvSpPr>
        <p:spPr/>
        <p:txBody>
          <a:bodyPr/>
          <a:lstStyle/>
          <a:p>
            <a:fld id="{1036D729-9A6E-4C44-81F1-10EBA65189A8}" type="slidenum">
              <a:rPr kumimoji="1" lang="ja-JP" altLang="en-US" smtClean="0"/>
              <a:t>‹#›</a:t>
            </a:fld>
            <a:endParaRPr kumimoji="1" lang="ja-JP" altLang="en-US"/>
          </a:p>
        </p:txBody>
      </p:sp>
    </p:spTree>
    <p:extLst>
      <p:ext uri="{BB962C8B-B14F-4D97-AF65-F5344CB8AC3E}">
        <p14:creationId xmlns:p14="http://schemas.microsoft.com/office/powerpoint/2010/main" val="4419658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A774DC04-FF6C-534C-C2AB-097735D5834B}"/>
              </a:ext>
            </a:extLst>
          </p:cNvPr>
          <p:cNvSpPr>
            <a:spLocks noGrp="1"/>
          </p:cNvSpPr>
          <p:nvPr>
            <p:ph type="dt" sz="half" idx="10"/>
          </p:nvPr>
        </p:nvSpPr>
        <p:spPr/>
        <p:txBody>
          <a:bodyPr/>
          <a:lstStyle/>
          <a:p>
            <a:fld id="{CBC6CF0D-DBCA-42E0-BDD5-F404A05ABD7F}" type="datetime1">
              <a:rPr kumimoji="1" lang="ja-JP" altLang="en-US" smtClean="0"/>
              <a:t>2024/10/29</a:t>
            </a:fld>
            <a:endParaRPr kumimoji="1" lang="ja-JP" altLang="en-US"/>
          </a:p>
        </p:txBody>
      </p:sp>
      <p:sp>
        <p:nvSpPr>
          <p:cNvPr id="3" name="フッター プレースホルダー 2">
            <a:extLst>
              <a:ext uri="{FF2B5EF4-FFF2-40B4-BE49-F238E27FC236}">
                <a16:creationId xmlns:a16="http://schemas.microsoft.com/office/drawing/2014/main" id="{80FCCBB8-80CE-774F-7E62-8950888B4A76}"/>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00EE9B0-83EE-51B0-BB2B-4671D615D880}"/>
              </a:ext>
            </a:extLst>
          </p:cNvPr>
          <p:cNvSpPr>
            <a:spLocks noGrp="1"/>
          </p:cNvSpPr>
          <p:nvPr>
            <p:ph type="sldNum" sz="quarter" idx="12"/>
          </p:nvPr>
        </p:nvSpPr>
        <p:spPr/>
        <p:txBody>
          <a:bodyPr/>
          <a:lstStyle/>
          <a:p>
            <a:fld id="{1036D729-9A6E-4C44-81F1-10EBA65189A8}" type="slidenum">
              <a:rPr kumimoji="1" lang="ja-JP" altLang="en-US" smtClean="0"/>
              <a:t>‹#›</a:t>
            </a:fld>
            <a:endParaRPr kumimoji="1" lang="ja-JP" altLang="en-US"/>
          </a:p>
        </p:txBody>
      </p:sp>
    </p:spTree>
    <p:extLst>
      <p:ext uri="{BB962C8B-B14F-4D97-AF65-F5344CB8AC3E}">
        <p14:creationId xmlns:p14="http://schemas.microsoft.com/office/powerpoint/2010/main" val="16533623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703A877-6730-59D9-7EE4-5E0C150B2DB8}"/>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A7C632B-5C66-E58C-8053-253D4C0AFE3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843B506D-CE3B-C6BB-B238-E69A55F1CF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375F88DA-2186-99BA-CFD5-EA2AC4B30C64}"/>
              </a:ext>
            </a:extLst>
          </p:cNvPr>
          <p:cNvSpPr>
            <a:spLocks noGrp="1"/>
          </p:cNvSpPr>
          <p:nvPr>
            <p:ph type="dt" sz="half" idx="10"/>
          </p:nvPr>
        </p:nvSpPr>
        <p:spPr/>
        <p:txBody>
          <a:bodyPr/>
          <a:lstStyle/>
          <a:p>
            <a:fld id="{2EB4489C-9AAE-42E7-A642-0F20541F17CD}" type="datetime1">
              <a:rPr kumimoji="1" lang="ja-JP" altLang="en-US" smtClean="0"/>
              <a:t>2024/10/29</a:t>
            </a:fld>
            <a:endParaRPr kumimoji="1" lang="ja-JP" altLang="en-US"/>
          </a:p>
        </p:txBody>
      </p:sp>
      <p:sp>
        <p:nvSpPr>
          <p:cNvPr id="6" name="フッター プレースホルダー 5">
            <a:extLst>
              <a:ext uri="{FF2B5EF4-FFF2-40B4-BE49-F238E27FC236}">
                <a16:creationId xmlns:a16="http://schemas.microsoft.com/office/drawing/2014/main" id="{1A0A4E47-DBC1-E88B-799E-772EC8DEFE07}"/>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1684191-1F09-659C-4E63-3EED02DE15EE}"/>
              </a:ext>
            </a:extLst>
          </p:cNvPr>
          <p:cNvSpPr>
            <a:spLocks noGrp="1"/>
          </p:cNvSpPr>
          <p:nvPr>
            <p:ph type="sldNum" sz="quarter" idx="12"/>
          </p:nvPr>
        </p:nvSpPr>
        <p:spPr/>
        <p:txBody>
          <a:bodyPr/>
          <a:lstStyle/>
          <a:p>
            <a:fld id="{1036D729-9A6E-4C44-81F1-10EBA65189A8}" type="slidenum">
              <a:rPr kumimoji="1" lang="ja-JP" altLang="en-US" smtClean="0"/>
              <a:t>‹#›</a:t>
            </a:fld>
            <a:endParaRPr kumimoji="1" lang="ja-JP" altLang="en-US"/>
          </a:p>
        </p:txBody>
      </p:sp>
    </p:spTree>
    <p:extLst>
      <p:ext uri="{BB962C8B-B14F-4D97-AF65-F5344CB8AC3E}">
        <p14:creationId xmlns:p14="http://schemas.microsoft.com/office/powerpoint/2010/main" val="9796053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48647F8-0EC3-D376-7F85-7BE7CBF295C6}"/>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E7D4DC1E-8E51-CE05-48E1-4F5E39E2F42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47DC14C5-1339-A183-0500-4B2B80D161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7E6E21BF-4371-772A-F47C-6D26FA8FC532}"/>
              </a:ext>
            </a:extLst>
          </p:cNvPr>
          <p:cNvSpPr>
            <a:spLocks noGrp="1"/>
          </p:cNvSpPr>
          <p:nvPr>
            <p:ph type="dt" sz="half" idx="10"/>
          </p:nvPr>
        </p:nvSpPr>
        <p:spPr/>
        <p:txBody>
          <a:bodyPr/>
          <a:lstStyle/>
          <a:p>
            <a:fld id="{4E59C35B-53B8-44A3-A8F3-FDEB8835FA70}" type="datetime1">
              <a:rPr kumimoji="1" lang="ja-JP" altLang="en-US" smtClean="0"/>
              <a:t>2024/10/29</a:t>
            </a:fld>
            <a:endParaRPr kumimoji="1" lang="ja-JP" altLang="en-US"/>
          </a:p>
        </p:txBody>
      </p:sp>
      <p:sp>
        <p:nvSpPr>
          <p:cNvPr id="6" name="フッター プレースホルダー 5">
            <a:extLst>
              <a:ext uri="{FF2B5EF4-FFF2-40B4-BE49-F238E27FC236}">
                <a16:creationId xmlns:a16="http://schemas.microsoft.com/office/drawing/2014/main" id="{BD3CFC55-AF86-EC14-C056-C093E7E3437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C9FDCFA3-6D88-50C0-DC14-100997AE4C51}"/>
              </a:ext>
            </a:extLst>
          </p:cNvPr>
          <p:cNvSpPr>
            <a:spLocks noGrp="1"/>
          </p:cNvSpPr>
          <p:nvPr>
            <p:ph type="sldNum" sz="quarter" idx="12"/>
          </p:nvPr>
        </p:nvSpPr>
        <p:spPr/>
        <p:txBody>
          <a:bodyPr/>
          <a:lstStyle/>
          <a:p>
            <a:fld id="{1036D729-9A6E-4C44-81F1-10EBA65189A8}" type="slidenum">
              <a:rPr kumimoji="1" lang="ja-JP" altLang="en-US" smtClean="0"/>
              <a:t>‹#›</a:t>
            </a:fld>
            <a:endParaRPr kumimoji="1" lang="ja-JP" altLang="en-US"/>
          </a:p>
        </p:txBody>
      </p:sp>
    </p:spTree>
    <p:extLst>
      <p:ext uri="{BB962C8B-B14F-4D97-AF65-F5344CB8AC3E}">
        <p14:creationId xmlns:p14="http://schemas.microsoft.com/office/powerpoint/2010/main" val="11293747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58698A2-CD20-190B-F0C4-4B09DE35CDCA}"/>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1DA6A6B-2399-2E82-8E5F-BE6F8930F068}"/>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91F806C-1FB8-48F5-2229-C95E0BF2FD2E}"/>
              </a:ext>
            </a:extLst>
          </p:cNvPr>
          <p:cNvSpPr>
            <a:spLocks noGrp="1"/>
          </p:cNvSpPr>
          <p:nvPr>
            <p:ph type="dt" sz="half" idx="10"/>
          </p:nvPr>
        </p:nvSpPr>
        <p:spPr/>
        <p:txBody>
          <a:bodyPr/>
          <a:lstStyle/>
          <a:p>
            <a:fld id="{7B520216-4595-4C46-BD25-ABCC02A36D5E}" type="datetime1">
              <a:rPr kumimoji="1" lang="ja-JP" altLang="en-US" smtClean="0"/>
              <a:t>2024/10/29</a:t>
            </a:fld>
            <a:endParaRPr kumimoji="1" lang="ja-JP" altLang="en-US"/>
          </a:p>
        </p:txBody>
      </p:sp>
      <p:sp>
        <p:nvSpPr>
          <p:cNvPr id="5" name="フッター プレースホルダー 4">
            <a:extLst>
              <a:ext uri="{FF2B5EF4-FFF2-40B4-BE49-F238E27FC236}">
                <a16:creationId xmlns:a16="http://schemas.microsoft.com/office/drawing/2014/main" id="{D7649F6B-5921-90EF-D687-E9085DFE208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F464E62-28A6-7AFB-E088-E338315AF05B}"/>
              </a:ext>
            </a:extLst>
          </p:cNvPr>
          <p:cNvSpPr>
            <a:spLocks noGrp="1"/>
          </p:cNvSpPr>
          <p:nvPr>
            <p:ph type="sldNum" sz="quarter" idx="12"/>
          </p:nvPr>
        </p:nvSpPr>
        <p:spPr/>
        <p:txBody>
          <a:bodyPr/>
          <a:lstStyle/>
          <a:p>
            <a:fld id="{1036D729-9A6E-4C44-81F1-10EBA65189A8}" type="slidenum">
              <a:rPr kumimoji="1" lang="ja-JP" altLang="en-US" smtClean="0"/>
              <a:t>‹#›</a:t>
            </a:fld>
            <a:endParaRPr kumimoji="1" lang="ja-JP" altLang="en-US"/>
          </a:p>
        </p:txBody>
      </p:sp>
    </p:spTree>
    <p:extLst>
      <p:ext uri="{BB962C8B-B14F-4D97-AF65-F5344CB8AC3E}">
        <p14:creationId xmlns:p14="http://schemas.microsoft.com/office/powerpoint/2010/main" val="31702030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2F27F37C-2621-1F6F-599F-71B69E5F79A6}"/>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A5D50E47-AE63-8959-3FEB-BD91A4491B37}"/>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4890239-E4E4-C3D5-C3FE-4DE19438D6A4}"/>
              </a:ext>
            </a:extLst>
          </p:cNvPr>
          <p:cNvSpPr>
            <a:spLocks noGrp="1"/>
          </p:cNvSpPr>
          <p:nvPr>
            <p:ph type="dt" sz="half" idx="10"/>
          </p:nvPr>
        </p:nvSpPr>
        <p:spPr/>
        <p:txBody>
          <a:bodyPr/>
          <a:lstStyle/>
          <a:p>
            <a:fld id="{B21BCB43-169A-42DB-91A8-CF02BA561E00}" type="datetime1">
              <a:rPr kumimoji="1" lang="ja-JP" altLang="en-US" smtClean="0"/>
              <a:t>2024/10/29</a:t>
            </a:fld>
            <a:endParaRPr kumimoji="1" lang="ja-JP" altLang="en-US"/>
          </a:p>
        </p:txBody>
      </p:sp>
      <p:sp>
        <p:nvSpPr>
          <p:cNvPr id="5" name="フッター プレースホルダー 4">
            <a:extLst>
              <a:ext uri="{FF2B5EF4-FFF2-40B4-BE49-F238E27FC236}">
                <a16:creationId xmlns:a16="http://schemas.microsoft.com/office/drawing/2014/main" id="{61E24CB3-346E-BF3E-7ABC-9E9CA78A0DA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C3199A7-763C-CBB1-3D35-55D4290520B5}"/>
              </a:ext>
            </a:extLst>
          </p:cNvPr>
          <p:cNvSpPr>
            <a:spLocks noGrp="1"/>
          </p:cNvSpPr>
          <p:nvPr>
            <p:ph type="sldNum" sz="quarter" idx="12"/>
          </p:nvPr>
        </p:nvSpPr>
        <p:spPr/>
        <p:txBody>
          <a:bodyPr/>
          <a:lstStyle/>
          <a:p>
            <a:fld id="{1036D729-9A6E-4C44-81F1-10EBA65189A8}" type="slidenum">
              <a:rPr kumimoji="1" lang="ja-JP" altLang="en-US" smtClean="0"/>
              <a:t>‹#›</a:t>
            </a:fld>
            <a:endParaRPr kumimoji="1" lang="ja-JP" altLang="en-US"/>
          </a:p>
        </p:txBody>
      </p:sp>
    </p:spTree>
    <p:extLst>
      <p:ext uri="{BB962C8B-B14F-4D97-AF65-F5344CB8AC3E}">
        <p14:creationId xmlns:p14="http://schemas.microsoft.com/office/powerpoint/2010/main" val="29591004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B54FF81B-B3AA-053E-4765-821845E60BD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EF8A4F2C-7A77-B7D9-05C9-CDA608D6D9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541023F-C430-F365-9662-09E50A97B76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E1557F1-BB85-404A-9380-75C4378DE086}" type="datetime1">
              <a:rPr kumimoji="1" lang="ja-JP" altLang="en-US" smtClean="0"/>
              <a:t>2024/10/29</a:t>
            </a:fld>
            <a:endParaRPr kumimoji="1" lang="ja-JP" altLang="en-US"/>
          </a:p>
        </p:txBody>
      </p:sp>
      <p:sp>
        <p:nvSpPr>
          <p:cNvPr id="5" name="フッター プレースホルダー 4">
            <a:extLst>
              <a:ext uri="{FF2B5EF4-FFF2-40B4-BE49-F238E27FC236}">
                <a16:creationId xmlns:a16="http://schemas.microsoft.com/office/drawing/2014/main" id="{83ADC2A1-6D4F-FBE5-5E65-A20C9509CC3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5A586BBC-0D36-7153-ED83-ACF94154610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036D729-9A6E-4C44-81F1-10EBA65189A8}" type="slidenum">
              <a:rPr kumimoji="1" lang="ja-JP" altLang="en-US" smtClean="0"/>
              <a:t>‹#›</a:t>
            </a:fld>
            <a:endParaRPr kumimoji="1" lang="ja-JP" altLang="en-US"/>
          </a:p>
        </p:txBody>
      </p:sp>
    </p:spTree>
    <p:extLst>
      <p:ext uri="{BB962C8B-B14F-4D97-AF65-F5344CB8AC3E}">
        <p14:creationId xmlns:p14="http://schemas.microsoft.com/office/powerpoint/2010/main" val="945379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6.jp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3.jpg"/><Relationship Id="rId5" Type="http://schemas.openxmlformats.org/officeDocument/2006/relationships/image" Target="../media/image12.jpg"/><Relationship Id="rId4" Type="http://schemas.openxmlformats.org/officeDocument/2006/relationships/image" Target="../media/image11.jpg"/></Relationships>
</file>

<file path=ppt/slides/_rels/slide1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17.jpg"/><Relationship Id="rId5" Type="http://schemas.openxmlformats.org/officeDocument/2006/relationships/image" Target="../media/image16.jpg"/><Relationship Id="rId4" Type="http://schemas.openxmlformats.org/officeDocument/2006/relationships/image" Target="../media/image15.jp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タイトル 1">
            <a:extLst>
              <a:ext uri="{FF2B5EF4-FFF2-40B4-BE49-F238E27FC236}">
                <a16:creationId xmlns:a16="http://schemas.microsoft.com/office/drawing/2014/main" id="{23848873-4B85-0339-FF90-D93C4D09E500}"/>
              </a:ext>
            </a:extLst>
          </p:cNvPr>
          <p:cNvSpPr>
            <a:spLocks noGrp="1"/>
          </p:cNvSpPr>
          <p:nvPr>
            <p:ph type="ctrTitle"/>
          </p:nvPr>
        </p:nvSpPr>
        <p:spPr>
          <a:xfrm>
            <a:off x="1314824" y="735106"/>
            <a:ext cx="10053763" cy="2928470"/>
          </a:xfrm>
        </p:spPr>
        <p:txBody>
          <a:bodyPr anchor="b">
            <a:normAutofit/>
          </a:bodyPr>
          <a:lstStyle/>
          <a:p>
            <a:pPr algn="l"/>
            <a:r>
              <a:rPr kumimoji="1" lang="en-US" altLang="ja-JP" sz="4800" dirty="0">
                <a:solidFill>
                  <a:srgbClr val="FFFFFF"/>
                </a:solidFill>
              </a:rPr>
              <a:t>CG</a:t>
            </a:r>
            <a:r>
              <a:rPr kumimoji="1" lang="ja-JP" altLang="en-US" sz="4800" dirty="0">
                <a:solidFill>
                  <a:srgbClr val="FFFFFF"/>
                </a:solidFill>
              </a:rPr>
              <a:t>画像を用いた深層学習によるチップ角度の検出</a:t>
            </a:r>
          </a:p>
        </p:txBody>
      </p:sp>
      <p:sp>
        <p:nvSpPr>
          <p:cNvPr id="3" name="字幕 2">
            <a:extLst>
              <a:ext uri="{FF2B5EF4-FFF2-40B4-BE49-F238E27FC236}">
                <a16:creationId xmlns:a16="http://schemas.microsoft.com/office/drawing/2014/main" id="{14B2F1A2-88AA-6360-B5D2-8BEAF7586A23}"/>
              </a:ext>
            </a:extLst>
          </p:cNvPr>
          <p:cNvSpPr>
            <a:spLocks noGrp="1"/>
          </p:cNvSpPr>
          <p:nvPr>
            <p:ph type="subTitle" idx="1"/>
          </p:nvPr>
        </p:nvSpPr>
        <p:spPr>
          <a:xfrm>
            <a:off x="1350682" y="4870824"/>
            <a:ext cx="10005951" cy="1458258"/>
          </a:xfrm>
        </p:spPr>
        <p:txBody>
          <a:bodyPr anchor="ctr">
            <a:normAutofit/>
          </a:bodyPr>
          <a:lstStyle/>
          <a:p>
            <a:pPr algn="l"/>
            <a:r>
              <a:rPr kumimoji="1" lang="ja-JP" altLang="en-US" dirty="0"/>
              <a:t>箕浦研究室　</a:t>
            </a:r>
            <a:r>
              <a:rPr kumimoji="1" lang="en-US" altLang="ja-JP" dirty="0"/>
              <a:t>5i22</a:t>
            </a:r>
            <a:r>
              <a:rPr kumimoji="1" lang="ja-JP" altLang="en-US" dirty="0"/>
              <a:t>　二宮悠樹</a:t>
            </a:r>
          </a:p>
        </p:txBody>
      </p:sp>
    </p:spTree>
    <p:extLst>
      <p:ext uri="{BB962C8B-B14F-4D97-AF65-F5344CB8AC3E}">
        <p14:creationId xmlns:p14="http://schemas.microsoft.com/office/powerpoint/2010/main" val="4273531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96166345-8743-AB5B-BCE6-82A2979EE425}"/>
              </a:ext>
            </a:extLst>
          </p:cNvPr>
          <p:cNvSpPr>
            <a:spLocks noGrp="1"/>
          </p:cNvSpPr>
          <p:nvPr>
            <p:ph type="title"/>
          </p:nvPr>
        </p:nvSpPr>
        <p:spPr>
          <a:xfrm>
            <a:off x="1371599" y="294538"/>
            <a:ext cx="9895951" cy="1033669"/>
          </a:xfrm>
        </p:spPr>
        <p:txBody>
          <a:bodyPr>
            <a:normAutofit/>
          </a:bodyPr>
          <a:lstStyle/>
          <a:p>
            <a:r>
              <a:rPr kumimoji="1" lang="ja-JP" altLang="en-US" sz="4800" dirty="0">
                <a:solidFill>
                  <a:srgbClr val="FFFFFF"/>
                </a:solidFill>
              </a:rPr>
              <a:t>背景</a:t>
            </a:r>
          </a:p>
        </p:txBody>
      </p:sp>
      <p:sp>
        <p:nvSpPr>
          <p:cNvPr id="3" name="コンテンツ プレースホルダー 2">
            <a:extLst>
              <a:ext uri="{FF2B5EF4-FFF2-40B4-BE49-F238E27FC236}">
                <a16:creationId xmlns:a16="http://schemas.microsoft.com/office/drawing/2014/main" id="{5204FC94-F886-0662-C803-E18E82266F96}"/>
              </a:ext>
            </a:extLst>
          </p:cNvPr>
          <p:cNvSpPr>
            <a:spLocks noGrp="1"/>
          </p:cNvSpPr>
          <p:nvPr>
            <p:ph idx="1"/>
          </p:nvPr>
        </p:nvSpPr>
        <p:spPr>
          <a:xfrm>
            <a:off x="642675" y="1117335"/>
            <a:ext cx="10906646" cy="3683358"/>
          </a:xfrm>
        </p:spPr>
        <p:txBody>
          <a:bodyPr anchor="ctr">
            <a:normAutofit/>
          </a:bodyPr>
          <a:lstStyle/>
          <a:p>
            <a:r>
              <a:rPr lang="ja-JP" altLang="en-US" sz="3200" dirty="0"/>
              <a:t>ある企業では、チップを掴んでホルダにはめ込む作業を自動化している。これには、</a:t>
            </a:r>
            <a:r>
              <a:rPr lang="ja-JP" altLang="en-US" sz="3200" b="1" dirty="0"/>
              <a:t>カメラで撮影した画像からチップの位置と角度を検出する技術</a:t>
            </a:r>
            <a:r>
              <a:rPr lang="ja-JP" altLang="en-US" sz="3200" dirty="0"/>
              <a:t>が必要になる。</a:t>
            </a:r>
            <a:endParaRPr lang="en-US" altLang="ja-JP" sz="3200" dirty="0"/>
          </a:p>
        </p:txBody>
      </p:sp>
      <p:pic>
        <p:nvPicPr>
          <p:cNvPr id="4" name="図 3" descr="背景パターン が含まれている画像&#10;&#10;説明は自動で生成されたものです">
            <a:extLst>
              <a:ext uri="{FF2B5EF4-FFF2-40B4-BE49-F238E27FC236}">
                <a16:creationId xmlns:a16="http://schemas.microsoft.com/office/drawing/2014/main" id="{8CEB1ECF-68BA-8EEF-A305-622583BB6351}"/>
              </a:ext>
            </a:extLst>
          </p:cNvPr>
          <p:cNvPicPr>
            <a:picLocks noChangeAspect="1"/>
          </p:cNvPicPr>
          <p:nvPr/>
        </p:nvPicPr>
        <p:blipFill>
          <a:blip r:embed="rId3"/>
          <a:stretch>
            <a:fillRect/>
          </a:stretch>
        </p:blipFill>
        <p:spPr>
          <a:xfrm>
            <a:off x="4057650" y="3976409"/>
            <a:ext cx="3290285" cy="2450334"/>
          </a:xfrm>
          <a:prstGeom prst="rect">
            <a:avLst/>
          </a:prstGeom>
        </p:spPr>
      </p:pic>
      <p:sp>
        <p:nvSpPr>
          <p:cNvPr id="5" name="スライド番号プレースホルダー 4">
            <a:extLst>
              <a:ext uri="{FF2B5EF4-FFF2-40B4-BE49-F238E27FC236}">
                <a16:creationId xmlns:a16="http://schemas.microsoft.com/office/drawing/2014/main" id="{16174AC3-FD91-93ED-0D03-FDE5310B9A11}"/>
              </a:ext>
            </a:extLst>
          </p:cNvPr>
          <p:cNvSpPr>
            <a:spLocks noGrp="1"/>
          </p:cNvSpPr>
          <p:nvPr>
            <p:ph type="sldNum" sz="quarter" idx="12"/>
          </p:nvPr>
        </p:nvSpPr>
        <p:spPr/>
        <p:txBody>
          <a:bodyPr/>
          <a:lstStyle/>
          <a:p>
            <a:fld id="{1036D729-9A6E-4C44-81F1-10EBA65189A8}" type="slidenum">
              <a:rPr kumimoji="1" lang="ja-JP" altLang="en-US" smtClean="0"/>
              <a:t>2</a:t>
            </a:fld>
            <a:endParaRPr kumimoji="1" lang="ja-JP" altLang="en-US"/>
          </a:p>
        </p:txBody>
      </p:sp>
    </p:spTree>
    <p:extLst>
      <p:ext uri="{BB962C8B-B14F-4D97-AF65-F5344CB8AC3E}">
        <p14:creationId xmlns:p14="http://schemas.microsoft.com/office/powerpoint/2010/main" val="23876038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C391C48-E261-129F-7C15-5F21D28A0E7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3073921-609D-6636-774C-7B79F179A9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2B714D7-8696-D10C-2C6E-066E36A126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43A92B1-2990-104B-2CCA-045A661646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BFE478E-C4C3-449E-46F4-1586BF5212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3F967BD-DD13-EA26-6C8F-B5F5DEEB6E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0459F0EB-AA0A-2A09-F024-763325F9C2D2}"/>
              </a:ext>
            </a:extLst>
          </p:cNvPr>
          <p:cNvSpPr>
            <a:spLocks noGrp="1"/>
          </p:cNvSpPr>
          <p:nvPr>
            <p:ph type="title"/>
          </p:nvPr>
        </p:nvSpPr>
        <p:spPr>
          <a:xfrm>
            <a:off x="1371599" y="294538"/>
            <a:ext cx="9895951" cy="1033669"/>
          </a:xfrm>
        </p:spPr>
        <p:txBody>
          <a:bodyPr>
            <a:normAutofit/>
          </a:bodyPr>
          <a:lstStyle/>
          <a:p>
            <a:r>
              <a:rPr kumimoji="1" lang="ja-JP" altLang="en-US" sz="4800" dirty="0">
                <a:solidFill>
                  <a:srgbClr val="FFFFFF"/>
                </a:solidFill>
              </a:rPr>
              <a:t>背景</a:t>
            </a:r>
          </a:p>
        </p:txBody>
      </p:sp>
      <p:sp>
        <p:nvSpPr>
          <p:cNvPr id="3" name="コンテンツ プレースホルダー 2">
            <a:extLst>
              <a:ext uri="{FF2B5EF4-FFF2-40B4-BE49-F238E27FC236}">
                <a16:creationId xmlns:a16="http://schemas.microsoft.com/office/drawing/2014/main" id="{F145E016-2780-D087-43D5-5FBE52301EC1}"/>
              </a:ext>
            </a:extLst>
          </p:cNvPr>
          <p:cNvSpPr>
            <a:spLocks noGrp="1"/>
          </p:cNvSpPr>
          <p:nvPr>
            <p:ph idx="1"/>
          </p:nvPr>
        </p:nvSpPr>
        <p:spPr>
          <a:xfrm>
            <a:off x="1033551" y="2245388"/>
            <a:ext cx="10124893" cy="3683358"/>
          </a:xfrm>
        </p:spPr>
        <p:txBody>
          <a:bodyPr anchor="ctr">
            <a:normAutofit/>
          </a:bodyPr>
          <a:lstStyle/>
          <a:p>
            <a:r>
              <a:rPr lang="ja-JP" altLang="en-US" sz="3200" dirty="0"/>
              <a:t>現場では現在、市販の画像処理ソフトウェアを組み合わせているため、速度と精度の改善が出来ない。</a:t>
            </a:r>
            <a:endParaRPr lang="en-US" altLang="ja-JP" sz="3200" dirty="0"/>
          </a:p>
          <a:p>
            <a:pPr marL="0" indent="0">
              <a:buNone/>
            </a:pPr>
            <a:endParaRPr lang="en-US" altLang="ja-JP" dirty="0"/>
          </a:p>
          <a:p>
            <a:pPr marL="0" indent="0">
              <a:buNone/>
            </a:pPr>
            <a:r>
              <a:rPr lang="ja-JP" altLang="en-US" dirty="0"/>
              <a:t>→</a:t>
            </a:r>
            <a:r>
              <a:rPr lang="ja-JP" altLang="en-US" b="1" dirty="0"/>
              <a:t>当研究室にチップ検出技術の開発依頼があった。</a:t>
            </a:r>
            <a:endParaRPr kumimoji="1" lang="ja-JP" altLang="en-US" b="1" dirty="0"/>
          </a:p>
        </p:txBody>
      </p:sp>
      <p:sp>
        <p:nvSpPr>
          <p:cNvPr id="4" name="スライド番号プレースホルダー 3">
            <a:extLst>
              <a:ext uri="{FF2B5EF4-FFF2-40B4-BE49-F238E27FC236}">
                <a16:creationId xmlns:a16="http://schemas.microsoft.com/office/drawing/2014/main" id="{B57601A7-91BA-B8F4-1A24-32DB10E9B149}"/>
              </a:ext>
            </a:extLst>
          </p:cNvPr>
          <p:cNvSpPr>
            <a:spLocks noGrp="1"/>
          </p:cNvSpPr>
          <p:nvPr>
            <p:ph type="sldNum" sz="quarter" idx="12"/>
          </p:nvPr>
        </p:nvSpPr>
        <p:spPr/>
        <p:txBody>
          <a:bodyPr/>
          <a:lstStyle/>
          <a:p>
            <a:fld id="{1036D729-9A6E-4C44-81F1-10EBA65189A8}" type="slidenum">
              <a:rPr kumimoji="1" lang="ja-JP" altLang="en-US" smtClean="0"/>
              <a:t>3</a:t>
            </a:fld>
            <a:endParaRPr kumimoji="1" lang="ja-JP" altLang="en-US"/>
          </a:p>
        </p:txBody>
      </p:sp>
    </p:spTree>
    <p:extLst>
      <p:ext uri="{BB962C8B-B14F-4D97-AF65-F5344CB8AC3E}">
        <p14:creationId xmlns:p14="http://schemas.microsoft.com/office/powerpoint/2010/main" val="9284301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546CD81-18AD-2C8A-29D1-0F8F639FBF9F}"/>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5AF0162-0D35-6FD5-1731-61C8055463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9E099DA-D600-1F3E-10D0-BE58AD828D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D4510FB-F750-83E4-F92B-52CDB3002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51DE5E5-A1E7-E351-6261-0B58565208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F67CB8D-D16C-48BE-4C60-C74BDDDEB0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C1AD0D81-791C-8D41-F2ED-C79C2DB00576}"/>
              </a:ext>
            </a:extLst>
          </p:cNvPr>
          <p:cNvSpPr>
            <a:spLocks noGrp="1"/>
          </p:cNvSpPr>
          <p:nvPr>
            <p:ph type="title"/>
          </p:nvPr>
        </p:nvSpPr>
        <p:spPr>
          <a:xfrm>
            <a:off x="1371599" y="294538"/>
            <a:ext cx="9895951" cy="1033669"/>
          </a:xfrm>
        </p:spPr>
        <p:txBody>
          <a:bodyPr>
            <a:normAutofit/>
          </a:bodyPr>
          <a:lstStyle/>
          <a:p>
            <a:r>
              <a:rPr kumimoji="1" lang="ja-JP" altLang="en-US" sz="4800" dirty="0">
                <a:solidFill>
                  <a:srgbClr val="FFFFFF"/>
                </a:solidFill>
              </a:rPr>
              <a:t>背景</a:t>
            </a:r>
          </a:p>
        </p:txBody>
      </p:sp>
      <p:sp>
        <p:nvSpPr>
          <p:cNvPr id="5" name="コンテンツ プレースホルダー 4">
            <a:extLst>
              <a:ext uri="{FF2B5EF4-FFF2-40B4-BE49-F238E27FC236}">
                <a16:creationId xmlns:a16="http://schemas.microsoft.com/office/drawing/2014/main" id="{BDAF4D36-870A-3D1E-52DA-B7EB24A8AA28}"/>
              </a:ext>
            </a:extLst>
          </p:cNvPr>
          <p:cNvSpPr>
            <a:spLocks noGrp="1"/>
          </p:cNvSpPr>
          <p:nvPr>
            <p:ph idx="1"/>
          </p:nvPr>
        </p:nvSpPr>
        <p:spPr/>
        <p:txBody>
          <a:bodyPr>
            <a:normAutofit/>
          </a:bodyPr>
          <a:lstStyle/>
          <a:p>
            <a:r>
              <a:rPr lang="ja-JP" altLang="en-US" sz="3200" dirty="0"/>
              <a:t>角度検出タスク</a:t>
            </a:r>
          </a:p>
        </p:txBody>
      </p:sp>
      <p:pic>
        <p:nvPicPr>
          <p:cNvPr id="6" name="コンテンツ プレースホルダー 25" descr="バスルームの一角にある便器&#10;&#10;低い精度で自動的に生成された説明">
            <a:extLst>
              <a:ext uri="{FF2B5EF4-FFF2-40B4-BE49-F238E27FC236}">
                <a16:creationId xmlns:a16="http://schemas.microsoft.com/office/drawing/2014/main" id="{2F7B9D01-7377-8CF7-C681-0CD454BFF0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29330" y="3075090"/>
            <a:ext cx="2417112" cy="2417112"/>
          </a:xfrm>
          <a:prstGeom prst="rect">
            <a:avLst/>
          </a:prstGeom>
        </p:spPr>
      </p:pic>
      <p:cxnSp>
        <p:nvCxnSpPr>
          <p:cNvPr id="7" name="直線コネクタ 6">
            <a:extLst>
              <a:ext uri="{FF2B5EF4-FFF2-40B4-BE49-F238E27FC236}">
                <a16:creationId xmlns:a16="http://schemas.microsoft.com/office/drawing/2014/main" id="{3B1FAA43-1236-1209-08A9-89A74C67D55A}"/>
              </a:ext>
            </a:extLst>
          </p:cNvPr>
          <p:cNvCxnSpPr>
            <a:cxnSpLocks/>
          </p:cNvCxnSpPr>
          <p:nvPr/>
        </p:nvCxnSpPr>
        <p:spPr>
          <a:xfrm flipV="1">
            <a:off x="6042660" y="2511448"/>
            <a:ext cx="0" cy="267462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9" name="直線コネクタ 8">
            <a:extLst>
              <a:ext uri="{FF2B5EF4-FFF2-40B4-BE49-F238E27FC236}">
                <a16:creationId xmlns:a16="http://schemas.microsoft.com/office/drawing/2014/main" id="{B1863173-0DB0-AE24-7123-55A6E0FC268A}"/>
              </a:ext>
            </a:extLst>
          </p:cNvPr>
          <p:cNvCxnSpPr>
            <a:cxnSpLocks/>
          </p:cNvCxnSpPr>
          <p:nvPr/>
        </p:nvCxnSpPr>
        <p:spPr>
          <a:xfrm flipV="1">
            <a:off x="6042660" y="3299197"/>
            <a:ext cx="1309521" cy="812451"/>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1" name="円弧 10">
            <a:extLst>
              <a:ext uri="{FF2B5EF4-FFF2-40B4-BE49-F238E27FC236}">
                <a16:creationId xmlns:a16="http://schemas.microsoft.com/office/drawing/2014/main" id="{D2D570E8-AF21-8A4C-0579-1D285F60A2EF}"/>
              </a:ext>
            </a:extLst>
          </p:cNvPr>
          <p:cNvSpPr/>
          <p:nvPr/>
        </p:nvSpPr>
        <p:spPr>
          <a:xfrm rot="20377839">
            <a:off x="5507396" y="2826701"/>
            <a:ext cx="1685476" cy="1837580"/>
          </a:xfrm>
          <a:prstGeom prst="arc">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dirty="0"/>
          </a:p>
        </p:txBody>
      </p:sp>
      <p:sp>
        <p:nvSpPr>
          <p:cNvPr id="13" name="テキスト ボックス 12">
            <a:extLst>
              <a:ext uri="{FF2B5EF4-FFF2-40B4-BE49-F238E27FC236}">
                <a16:creationId xmlns:a16="http://schemas.microsoft.com/office/drawing/2014/main" id="{50DBCE0D-8398-F051-1893-A62A8EBF446C}"/>
              </a:ext>
            </a:extLst>
          </p:cNvPr>
          <p:cNvSpPr txBox="1"/>
          <p:nvPr/>
        </p:nvSpPr>
        <p:spPr>
          <a:xfrm>
            <a:off x="6953743" y="2016232"/>
            <a:ext cx="2743703" cy="523220"/>
          </a:xfrm>
          <a:prstGeom prst="rect">
            <a:avLst/>
          </a:prstGeom>
          <a:noFill/>
        </p:spPr>
        <p:txBody>
          <a:bodyPr wrap="square" rtlCol="0">
            <a:spAutoFit/>
          </a:bodyPr>
          <a:lstStyle/>
          <a:p>
            <a:r>
              <a:rPr kumimoji="1" lang="ja-JP" altLang="en-US" sz="2800" dirty="0"/>
              <a:t>求める角度</a:t>
            </a:r>
            <a:endParaRPr kumimoji="1" lang="ja-JP" altLang="en-US" sz="3200" dirty="0"/>
          </a:p>
        </p:txBody>
      </p:sp>
      <p:cxnSp>
        <p:nvCxnSpPr>
          <p:cNvPr id="15" name="直線矢印コネクタ 14">
            <a:extLst>
              <a:ext uri="{FF2B5EF4-FFF2-40B4-BE49-F238E27FC236}">
                <a16:creationId xmlns:a16="http://schemas.microsoft.com/office/drawing/2014/main" id="{D9B4005A-CE0F-5A95-DA35-7E5FFFF6351C}"/>
              </a:ext>
            </a:extLst>
          </p:cNvPr>
          <p:cNvCxnSpPr>
            <a:cxnSpLocks/>
          </p:cNvCxnSpPr>
          <p:nvPr/>
        </p:nvCxnSpPr>
        <p:spPr>
          <a:xfrm flipH="1">
            <a:off x="6616683" y="2407389"/>
            <a:ext cx="416577" cy="47016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 name="スライド番号プレースホルダー 2">
            <a:extLst>
              <a:ext uri="{FF2B5EF4-FFF2-40B4-BE49-F238E27FC236}">
                <a16:creationId xmlns:a16="http://schemas.microsoft.com/office/drawing/2014/main" id="{CF7C9015-7C88-CFFF-FF2E-8010D848B271}"/>
              </a:ext>
            </a:extLst>
          </p:cNvPr>
          <p:cNvSpPr>
            <a:spLocks noGrp="1"/>
          </p:cNvSpPr>
          <p:nvPr>
            <p:ph type="sldNum" sz="quarter" idx="12"/>
          </p:nvPr>
        </p:nvSpPr>
        <p:spPr/>
        <p:txBody>
          <a:bodyPr/>
          <a:lstStyle/>
          <a:p>
            <a:fld id="{1036D729-9A6E-4C44-81F1-10EBA65189A8}" type="slidenum">
              <a:rPr kumimoji="1" lang="ja-JP" altLang="en-US" smtClean="0"/>
              <a:t>4</a:t>
            </a:fld>
            <a:endParaRPr kumimoji="1" lang="ja-JP" altLang="en-US"/>
          </a:p>
        </p:txBody>
      </p:sp>
    </p:spTree>
    <p:extLst>
      <p:ext uri="{BB962C8B-B14F-4D97-AF65-F5344CB8AC3E}">
        <p14:creationId xmlns:p14="http://schemas.microsoft.com/office/powerpoint/2010/main" val="4511620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78A8112-957A-5268-F4EA-4C5C6856972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9EC22C8-9344-905D-226C-A6B3438964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2DA049B-5E2F-BF98-2899-8B5C65A29A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1919DA4-F570-1ED7-2C2B-3E95BEC45E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60417992-CF65-EFD8-9750-2AD9B8FA95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DB53A30-A6A9-0224-0333-93DF13719D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90DF0D13-A851-F2E9-5E28-20490391DBE7}"/>
              </a:ext>
            </a:extLst>
          </p:cNvPr>
          <p:cNvSpPr>
            <a:spLocks noGrp="1"/>
          </p:cNvSpPr>
          <p:nvPr>
            <p:ph type="title"/>
          </p:nvPr>
        </p:nvSpPr>
        <p:spPr>
          <a:xfrm>
            <a:off x="1371599" y="294538"/>
            <a:ext cx="9895951" cy="1033669"/>
          </a:xfrm>
        </p:spPr>
        <p:txBody>
          <a:bodyPr>
            <a:normAutofit/>
          </a:bodyPr>
          <a:lstStyle/>
          <a:p>
            <a:r>
              <a:rPr kumimoji="1" lang="ja-JP" altLang="en-US" sz="4800" dirty="0">
                <a:solidFill>
                  <a:srgbClr val="FFFFFF"/>
                </a:solidFill>
              </a:rPr>
              <a:t>背景</a:t>
            </a:r>
          </a:p>
        </p:txBody>
      </p:sp>
      <p:sp>
        <p:nvSpPr>
          <p:cNvPr id="3" name="コンテンツ プレースホルダー 2">
            <a:extLst>
              <a:ext uri="{FF2B5EF4-FFF2-40B4-BE49-F238E27FC236}">
                <a16:creationId xmlns:a16="http://schemas.microsoft.com/office/drawing/2014/main" id="{52FFAACB-4A0B-BBA7-B423-C001A9033E8F}"/>
              </a:ext>
            </a:extLst>
          </p:cNvPr>
          <p:cNvSpPr>
            <a:spLocks noGrp="1"/>
          </p:cNvSpPr>
          <p:nvPr>
            <p:ph idx="1"/>
          </p:nvPr>
        </p:nvSpPr>
        <p:spPr>
          <a:xfrm>
            <a:off x="934719" y="1891971"/>
            <a:ext cx="10013133" cy="3208350"/>
          </a:xfrm>
        </p:spPr>
        <p:txBody>
          <a:bodyPr anchor="ctr">
            <a:normAutofit/>
          </a:bodyPr>
          <a:lstStyle/>
          <a:p>
            <a:r>
              <a:rPr lang="ja-JP" altLang="en-US" sz="3200" dirty="0"/>
              <a:t>先行研究では、</a:t>
            </a:r>
            <a:r>
              <a:rPr lang="ja-JP" altLang="en-US" sz="3200" b="1" dirty="0"/>
              <a:t>チップを回転させて撮影した画像</a:t>
            </a:r>
            <a:r>
              <a:rPr lang="ja-JP" altLang="en-US" sz="3200" dirty="0"/>
              <a:t>を学習データとし、深層学習を行った。</a:t>
            </a:r>
            <a:endParaRPr lang="en-US" altLang="ja-JP" sz="3200" dirty="0"/>
          </a:p>
          <a:p>
            <a:pPr marL="0" indent="0">
              <a:buNone/>
            </a:pPr>
            <a:endParaRPr lang="en-US" altLang="ja-JP" sz="2000" dirty="0"/>
          </a:p>
          <a:p>
            <a:pPr marL="0" indent="0">
              <a:buNone/>
            </a:pPr>
            <a:endParaRPr lang="en-US" altLang="ja-JP" sz="2000" dirty="0"/>
          </a:p>
          <a:p>
            <a:pPr marL="0" indent="0">
              <a:buNone/>
            </a:pPr>
            <a:endParaRPr lang="en-US" altLang="ja-JP" sz="2000" dirty="0"/>
          </a:p>
          <a:p>
            <a:pPr marL="0" indent="0">
              <a:buNone/>
            </a:pPr>
            <a:endParaRPr lang="en-US" altLang="ja-JP" sz="2000" dirty="0"/>
          </a:p>
          <a:p>
            <a:pPr marL="0" indent="0">
              <a:buNone/>
            </a:pPr>
            <a:endParaRPr lang="en-US" altLang="ja-JP" sz="2000" dirty="0"/>
          </a:p>
          <a:p>
            <a:endParaRPr kumimoji="1" lang="ja-JP" altLang="en-US" sz="2000" dirty="0"/>
          </a:p>
        </p:txBody>
      </p:sp>
      <p:pic>
        <p:nvPicPr>
          <p:cNvPr id="5" name="図 4" descr="電子機器, スピーカー が含まれている画像&#10;&#10;自動的に生成された説明">
            <a:extLst>
              <a:ext uri="{FF2B5EF4-FFF2-40B4-BE49-F238E27FC236}">
                <a16:creationId xmlns:a16="http://schemas.microsoft.com/office/drawing/2014/main" id="{668BCBCD-32B3-ABC9-B384-0FDB9A98B67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51794" y="2952887"/>
            <a:ext cx="1589492" cy="1717627"/>
          </a:xfrm>
          <a:prstGeom prst="rect">
            <a:avLst/>
          </a:prstGeom>
        </p:spPr>
      </p:pic>
      <p:sp>
        <p:nvSpPr>
          <p:cNvPr id="4" name="スライド番号プレースホルダー 3">
            <a:extLst>
              <a:ext uri="{FF2B5EF4-FFF2-40B4-BE49-F238E27FC236}">
                <a16:creationId xmlns:a16="http://schemas.microsoft.com/office/drawing/2014/main" id="{E2B822A7-27FA-AA88-D818-66F5BA8DD5A7}"/>
              </a:ext>
            </a:extLst>
          </p:cNvPr>
          <p:cNvSpPr>
            <a:spLocks noGrp="1"/>
          </p:cNvSpPr>
          <p:nvPr>
            <p:ph type="sldNum" sz="quarter" idx="12"/>
          </p:nvPr>
        </p:nvSpPr>
        <p:spPr/>
        <p:txBody>
          <a:bodyPr/>
          <a:lstStyle/>
          <a:p>
            <a:fld id="{1036D729-9A6E-4C44-81F1-10EBA65189A8}" type="slidenum">
              <a:rPr kumimoji="1" lang="ja-JP" altLang="en-US" smtClean="0"/>
              <a:t>5</a:t>
            </a:fld>
            <a:endParaRPr kumimoji="1" lang="ja-JP" altLang="en-US" dirty="0"/>
          </a:p>
        </p:txBody>
      </p:sp>
      <p:sp>
        <p:nvSpPr>
          <p:cNvPr id="6" name="テキスト ボックス 5">
            <a:extLst>
              <a:ext uri="{FF2B5EF4-FFF2-40B4-BE49-F238E27FC236}">
                <a16:creationId xmlns:a16="http://schemas.microsoft.com/office/drawing/2014/main" id="{A3086926-7AB8-4553-63F3-A5CEE1A42930}"/>
              </a:ext>
            </a:extLst>
          </p:cNvPr>
          <p:cNvSpPr txBox="1"/>
          <p:nvPr/>
        </p:nvSpPr>
        <p:spPr>
          <a:xfrm>
            <a:off x="1286027" y="4987270"/>
            <a:ext cx="9619941" cy="1292662"/>
          </a:xfrm>
          <a:prstGeom prst="rect">
            <a:avLst/>
          </a:prstGeom>
          <a:noFill/>
        </p:spPr>
        <p:txBody>
          <a:bodyPr wrap="none" rtlCol="0">
            <a:spAutoFit/>
          </a:bodyPr>
          <a:lstStyle/>
          <a:p>
            <a:r>
              <a:rPr lang="ja-JP" altLang="en-US" sz="2800" dirty="0"/>
              <a:t>→しかし、</a:t>
            </a:r>
            <a:r>
              <a:rPr lang="ja-JP" altLang="en-US" sz="2800" b="1" dirty="0"/>
              <a:t>目標誤差</a:t>
            </a:r>
            <a:r>
              <a:rPr lang="en-US" altLang="ja-JP" sz="2800" b="1" dirty="0"/>
              <a:t>0.167°</a:t>
            </a:r>
            <a:r>
              <a:rPr lang="ja-JP" altLang="en-US" sz="2800" dirty="0"/>
              <a:t>に対して推論結果</a:t>
            </a:r>
            <a:r>
              <a:rPr lang="ja-JP" altLang="en-US" sz="3200" dirty="0"/>
              <a:t>の</a:t>
            </a:r>
            <a:r>
              <a:rPr lang="ja-JP" altLang="en-US" sz="2800" b="1" dirty="0"/>
              <a:t>誤差が</a:t>
            </a:r>
            <a:r>
              <a:rPr lang="en-US" altLang="ja-JP" sz="2800" b="1" dirty="0"/>
              <a:t>2°</a:t>
            </a:r>
          </a:p>
          <a:p>
            <a:r>
              <a:rPr lang="ja-JP" altLang="en-US" sz="2800" dirty="0"/>
              <a:t>あり、角度検出モデルの精度を改善する必要がある。</a:t>
            </a:r>
            <a:endParaRPr lang="en-US" altLang="ja-JP" sz="3200" dirty="0"/>
          </a:p>
          <a:p>
            <a:endParaRPr kumimoji="1" lang="ja-JP" altLang="en-US" dirty="0"/>
          </a:p>
        </p:txBody>
      </p:sp>
    </p:spTree>
    <p:extLst>
      <p:ext uri="{BB962C8B-B14F-4D97-AF65-F5344CB8AC3E}">
        <p14:creationId xmlns:p14="http://schemas.microsoft.com/office/powerpoint/2010/main" val="22931836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EBEF678-E63C-3570-0224-1359E73170B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B634F31-95DE-50D4-A394-FFF707423E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0570DCF-91AF-242B-2859-E2DD30B421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54450DC-6DBA-CDCE-A59A-CDDD80F60D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A1B8532-F766-2568-6A75-A31F6124D1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42DB19D-BAFA-4D7A-C1B9-7F3052B00D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8E95EE0C-3946-52BD-3FB0-E437DF3F732A}"/>
              </a:ext>
            </a:extLst>
          </p:cNvPr>
          <p:cNvSpPr>
            <a:spLocks noGrp="1"/>
          </p:cNvSpPr>
          <p:nvPr>
            <p:ph type="title"/>
          </p:nvPr>
        </p:nvSpPr>
        <p:spPr>
          <a:xfrm>
            <a:off x="1371599" y="294538"/>
            <a:ext cx="9895951" cy="1033669"/>
          </a:xfrm>
        </p:spPr>
        <p:txBody>
          <a:bodyPr>
            <a:normAutofit/>
          </a:bodyPr>
          <a:lstStyle/>
          <a:p>
            <a:r>
              <a:rPr kumimoji="1" lang="ja-JP" altLang="en-US" sz="4800" dirty="0">
                <a:solidFill>
                  <a:srgbClr val="FFFFFF"/>
                </a:solidFill>
              </a:rPr>
              <a:t>背景</a:t>
            </a:r>
          </a:p>
        </p:txBody>
      </p:sp>
      <p:sp>
        <p:nvSpPr>
          <p:cNvPr id="3" name="コンテンツ プレースホルダー 2">
            <a:extLst>
              <a:ext uri="{FF2B5EF4-FFF2-40B4-BE49-F238E27FC236}">
                <a16:creationId xmlns:a16="http://schemas.microsoft.com/office/drawing/2014/main" id="{E2EDF21C-B7FC-934F-84DC-3141159930EB}"/>
              </a:ext>
            </a:extLst>
          </p:cNvPr>
          <p:cNvSpPr>
            <a:spLocks noGrp="1"/>
          </p:cNvSpPr>
          <p:nvPr>
            <p:ph idx="1"/>
          </p:nvPr>
        </p:nvSpPr>
        <p:spPr>
          <a:xfrm>
            <a:off x="1233982" y="1118968"/>
            <a:ext cx="10348418" cy="3683358"/>
          </a:xfrm>
        </p:spPr>
        <p:txBody>
          <a:bodyPr anchor="ctr">
            <a:normAutofit/>
          </a:bodyPr>
          <a:lstStyle/>
          <a:p>
            <a:r>
              <a:rPr lang="ja-JP" altLang="en-US" sz="3200" dirty="0"/>
              <a:t>深層学習モデルの</a:t>
            </a:r>
            <a:r>
              <a:rPr lang="ja-JP" altLang="en-US" sz="3200" b="1" dirty="0"/>
              <a:t>精度を上げるには</a:t>
            </a:r>
            <a:r>
              <a:rPr lang="ja-JP" altLang="en-US" sz="3200" dirty="0"/>
              <a:t>、</a:t>
            </a:r>
            <a:r>
              <a:rPr lang="ja-JP" altLang="en-US" sz="3200" b="1" dirty="0"/>
              <a:t>データの数と品質が重要になる。</a:t>
            </a:r>
            <a:endParaRPr lang="en-US" altLang="ja-JP" sz="3200" b="1" dirty="0"/>
          </a:p>
          <a:p>
            <a:pPr marL="0" indent="0">
              <a:buNone/>
            </a:pPr>
            <a:endParaRPr lang="en-US" altLang="ja-JP" sz="2000" dirty="0"/>
          </a:p>
          <a:p>
            <a:endParaRPr kumimoji="1" lang="ja-JP" altLang="en-US" sz="2000" dirty="0"/>
          </a:p>
        </p:txBody>
      </p:sp>
      <p:pic>
        <p:nvPicPr>
          <p:cNvPr id="6" name="図 5" descr="ダイアグラム&#10;&#10;自動的に生成された説明">
            <a:extLst>
              <a:ext uri="{FF2B5EF4-FFF2-40B4-BE49-F238E27FC236}">
                <a16:creationId xmlns:a16="http://schemas.microsoft.com/office/drawing/2014/main" id="{50D355AD-092C-C742-7390-814E78783E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80228" y="3011358"/>
            <a:ext cx="4229949" cy="3522023"/>
          </a:xfrm>
          <a:prstGeom prst="rect">
            <a:avLst/>
          </a:prstGeom>
        </p:spPr>
      </p:pic>
      <p:sp>
        <p:nvSpPr>
          <p:cNvPr id="4" name="スライド番号プレースホルダー 3">
            <a:extLst>
              <a:ext uri="{FF2B5EF4-FFF2-40B4-BE49-F238E27FC236}">
                <a16:creationId xmlns:a16="http://schemas.microsoft.com/office/drawing/2014/main" id="{79043BA0-8A3A-2B53-3909-928147679A6E}"/>
              </a:ext>
            </a:extLst>
          </p:cNvPr>
          <p:cNvSpPr>
            <a:spLocks noGrp="1"/>
          </p:cNvSpPr>
          <p:nvPr>
            <p:ph type="sldNum" sz="quarter" idx="12"/>
          </p:nvPr>
        </p:nvSpPr>
        <p:spPr/>
        <p:txBody>
          <a:bodyPr/>
          <a:lstStyle/>
          <a:p>
            <a:fld id="{1036D729-9A6E-4C44-81F1-10EBA65189A8}" type="slidenum">
              <a:rPr kumimoji="1" lang="ja-JP" altLang="en-US" smtClean="0"/>
              <a:t>6</a:t>
            </a:fld>
            <a:endParaRPr kumimoji="1" lang="ja-JP" altLang="en-US"/>
          </a:p>
        </p:txBody>
      </p:sp>
    </p:spTree>
    <p:extLst>
      <p:ext uri="{BB962C8B-B14F-4D97-AF65-F5344CB8AC3E}">
        <p14:creationId xmlns:p14="http://schemas.microsoft.com/office/powerpoint/2010/main" val="6536183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76E80DE-2395-031F-F1C7-0B3E7978F6FE}"/>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4E059772-C33F-495E-D3C9-FE08633F9CA0}"/>
              </a:ext>
            </a:extLst>
          </p:cNvPr>
          <p:cNvSpPr>
            <a:spLocks noGrp="1"/>
          </p:cNvSpPr>
          <p:nvPr>
            <p:ph type="title"/>
          </p:nvPr>
        </p:nvSpPr>
        <p:spPr>
          <a:xfrm>
            <a:off x="1371599" y="294538"/>
            <a:ext cx="9895951" cy="1033669"/>
          </a:xfrm>
        </p:spPr>
        <p:txBody>
          <a:bodyPr>
            <a:normAutofit/>
          </a:bodyPr>
          <a:lstStyle/>
          <a:p>
            <a:r>
              <a:rPr lang="ja-JP" altLang="en-US" sz="4800" dirty="0">
                <a:solidFill>
                  <a:srgbClr val="FFFFFF"/>
                </a:solidFill>
              </a:rPr>
              <a:t>背景</a:t>
            </a:r>
            <a:endParaRPr kumimoji="1" lang="ja-JP" altLang="en-US" sz="4800" dirty="0">
              <a:solidFill>
                <a:srgbClr val="FFFFFF"/>
              </a:solidFill>
            </a:endParaRPr>
          </a:p>
        </p:txBody>
      </p:sp>
      <p:sp>
        <p:nvSpPr>
          <p:cNvPr id="4" name="コンテンツ プレースホルダー 3">
            <a:extLst>
              <a:ext uri="{FF2B5EF4-FFF2-40B4-BE49-F238E27FC236}">
                <a16:creationId xmlns:a16="http://schemas.microsoft.com/office/drawing/2014/main" id="{B34F0C38-B969-E5D9-1BFD-99DC39509873}"/>
              </a:ext>
            </a:extLst>
          </p:cNvPr>
          <p:cNvSpPr>
            <a:spLocks noGrp="1"/>
          </p:cNvSpPr>
          <p:nvPr>
            <p:ph idx="1"/>
          </p:nvPr>
        </p:nvSpPr>
        <p:spPr>
          <a:xfrm>
            <a:off x="2071709" y="2379346"/>
            <a:ext cx="8708051" cy="3683358"/>
          </a:xfrm>
        </p:spPr>
        <p:txBody>
          <a:bodyPr anchor="ctr">
            <a:normAutofit/>
          </a:bodyPr>
          <a:lstStyle/>
          <a:p>
            <a:pPr marL="0" indent="0">
              <a:buNone/>
            </a:pPr>
            <a:r>
              <a:rPr lang="ja-JP" altLang="en-US" sz="3200" dirty="0"/>
              <a:t>データを増やすにあたっての問題点 </a:t>
            </a:r>
            <a:r>
              <a:rPr lang="en-US" altLang="ja-JP" sz="3200" dirty="0"/>
              <a:t>:</a:t>
            </a:r>
          </a:p>
          <a:p>
            <a:pPr marL="0" indent="0">
              <a:buNone/>
            </a:pPr>
            <a:endParaRPr lang="en-US" altLang="ja-JP" sz="3200" dirty="0"/>
          </a:p>
          <a:p>
            <a:pPr marL="457200" lvl="1" indent="0">
              <a:buNone/>
            </a:pPr>
            <a:r>
              <a:rPr lang="en-US" altLang="ja-JP" sz="2800" dirty="0"/>
              <a:t>1. </a:t>
            </a:r>
            <a:r>
              <a:rPr lang="ja-JP" altLang="en-US" sz="2800" dirty="0"/>
              <a:t>チップを</a:t>
            </a:r>
            <a:r>
              <a:rPr lang="ja-JP" altLang="en-US" sz="2800" b="1" dirty="0"/>
              <a:t>基準の角度に揃えるのが困難</a:t>
            </a:r>
            <a:endParaRPr lang="en-US" altLang="ja-JP" sz="2800" b="1" dirty="0"/>
          </a:p>
          <a:p>
            <a:pPr marL="457200" lvl="1" indent="0">
              <a:buNone/>
            </a:pPr>
            <a:r>
              <a:rPr lang="en-US" altLang="ja-JP" sz="2800" dirty="0"/>
              <a:t>2. </a:t>
            </a:r>
            <a:r>
              <a:rPr lang="ja-JP" altLang="en-US" sz="2800" dirty="0"/>
              <a:t>撮影装置に外乱が加わることによって、</a:t>
            </a:r>
            <a:endParaRPr lang="en-US" altLang="ja-JP" sz="2800" dirty="0"/>
          </a:p>
          <a:p>
            <a:pPr marL="457200" lvl="1" indent="0">
              <a:buNone/>
            </a:pPr>
            <a:r>
              <a:rPr lang="ja-JP" altLang="en-US" sz="2800" b="1" dirty="0"/>
              <a:t>　データの品質が落ちる</a:t>
            </a:r>
          </a:p>
        </p:txBody>
      </p:sp>
      <p:sp>
        <p:nvSpPr>
          <p:cNvPr id="5" name="スライド番号プレースホルダー 3">
            <a:extLst>
              <a:ext uri="{FF2B5EF4-FFF2-40B4-BE49-F238E27FC236}">
                <a16:creationId xmlns:a16="http://schemas.microsoft.com/office/drawing/2014/main" id="{C8245A11-740F-7AFC-EDE8-516AB005D951}"/>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ja-JP"/>
            </a:defPPr>
            <a:lvl1pPr marL="0" algn="r" defTabSz="914400" rtl="0" eaLnBrk="1" latinLnBrk="0" hangingPunct="1">
              <a:defRPr kumimoji="1" sz="1200" kern="1200">
                <a:solidFill>
                  <a:schemeClr val="tx1">
                    <a:tint val="82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1036D729-9A6E-4C44-81F1-10EBA65189A8}" type="slidenum">
              <a:rPr lang="ja-JP" altLang="en-US" smtClean="0"/>
              <a:pPr/>
              <a:t>7</a:t>
            </a:fld>
            <a:endParaRPr lang="ja-JP" altLang="en-US"/>
          </a:p>
        </p:txBody>
      </p:sp>
    </p:spTree>
    <p:extLst>
      <p:ext uri="{BB962C8B-B14F-4D97-AF65-F5344CB8AC3E}">
        <p14:creationId xmlns:p14="http://schemas.microsoft.com/office/powerpoint/2010/main" val="21763161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B03CAB8-409C-7E1F-2233-2C30EC146EAC}"/>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6AC045A-B9FE-8DEC-D96B-4092B6153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698AF74-E1DE-3777-ACAE-89DB70B0FE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E65A3DF-E016-C6D1-BA09-6FF5683995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F775741-991C-B9EC-4B13-8ADAAE298D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CE432487-3437-4E2B-B3DB-08F8B4A1C6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D29380B1-5F68-A17D-5DE0-C3CCB4D1DEA7}"/>
              </a:ext>
            </a:extLst>
          </p:cNvPr>
          <p:cNvSpPr>
            <a:spLocks noGrp="1"/>
          </p:cNvSpPr>
          <p:nvPr>
            <p:ph type="title"/>
          </p:nvPr>
        </p:nvSpPr>
        <p:spPr>
          <a:xfrm>
            <a:off x="1371599" y="294538"/>
            <a:ext cx="9895951" cy="1033669"/>
          </a:xfrm>
        </p:spPr>
        <p:txBody>
          <a:bodyPr>
            <a:normAutofit/>
          </a:bodyPr>
          <a:lstStyle/>
          <a:p>
            <a:r>
              <a:rPr lang="ja-JP" altLang="en-US" sz="4800" dirty="0">
                <a:solidFill>
                  <a:srgbClr val="FFFFFF"/>
                </a:solidFill>
              </a:rPr>
              <a:t>背景</a:t>
            </a:r>
            <a:endParaRPr kumimoji="1" lang="ja-JP" altLang="en-US" sz="4800" dirty="0">
              <a:solidFill>
                <a:srgbClr val="FFFFFF"/>
              </a:solidFill>
            </a:endParaRPr>
          </a:p>
        </p:txBody>
      </p:sp>
      <p:sp>
        <p:nvSpPr>
          <p:cNvPr id="7" name="コンテンツ プレースホルダー 3">
            <a:extLst>
              <a:ext uri="{FF2B5EF4-FFF2-40B4-BE49-F238E27FC236}">
                <a16:creationId xmlns:a16="http://schemas.microsoft.com/office/drawing/2014/main" id="{BBB16112-732F-794D-7479-6037CEC7A420}"/>
              </a:ext>
            </a:extLst>
          </p:cNvPr>
          <p:cNvSpPr>
            <a:spLocks noGrp="1"/>
          </p:cNvSpPr>
          <p:nvPr>
            <p:ph idx="1"/>
          </p:nvPr>
        </p:nvSpPr>
        <p:spPr>
          <a:xfrm>
            <a:off x="838200" y="1825625"/>
            <a:ext cx="10515600" cy="4351338"/>
          </a:xfrm>
        </p:spPr>
        <p:txBody>
          <a:bodyPr>
            <a:normAutofit/>
          </a:bodyPr>
          <a:lstStyle/>
          <a:p>
            <a:pPr marL="0" indent="0">
              <a:buNone/>
            </a:pPr>
            <a:r>
              <a:rPr lang="en-US" altLang="ja-JP" sz="3200" dirty="0"/>
              <a:t>1.</a:t>
            </a:r>
            <a:r>
              <a:rPr lang="ja-JP" altLang="en-US" sz="3200" dirty="0"/>
              <a:t> チップを基準の角度に揃えるのが困難</a:t>
            </a:r>
          </a:p>
        </p:txBody>
      </p:sp>
      <p:pic>
        <p:nvPicPr>
          <p:cNvPr id="8" name="図 7" descr="屋外 が含まれている画像&#10;&#10;自動的に生成された説明">
            <a:extLst>
              <a:ext uri="{FF2B5EF4-FFF2-40B4-BE49-F238E27FC236}">
                <a16:creationId xmlns:a16="http://schemas.microsoft.com/office/drawing/2014/main" id="{739677FD-D4CA-674A-E977-9F0DFA50E0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69049" y="3748886"/>
            <a:ext cx="2160254" cy="2160254"/>
          </a:xfrm>
          <a:prstGeom prst="rect">
            <a:avLst/>
          </a:prstGeom>
        </p:spPr>
      </p:pic>
      <p:cxnSp>
        <p:nvCxnSpPr>
          <p:cNvPr id="10" name="直線コネクタ 9">
            <a:extLst>
              <a:ext uri="{FF2B5EF4-FFF2-40B4-BE49-F238E27FC236}">
                <a16:creationId xmlns:a16="http://schemas.microsoft.com/office/drawing/2014/main" id="{8683DBAD-C1A3-6501-5C5C-B66A2F40BE71}"/>
              </a:ext>
            </a:extLst>
          </p:cNvPr>
          <p:cNvCxnSpPr>
            <a:cxnSpLocks/>
          </p:cNvCxnSpPr>
          <p:nvPr/>
        </p:nvCxnSpPr>
        <p:spPr>
          <a:xfrm flipV="1">
            <a:off x="5727400" y="3577184"/>
            <a:ext cx="0" cy="267462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2" name="思考の吹き出し: 雲形 11">
            <a:extLst>
              <a:ext uri="{FF2B5EF4-FFF2-40B4-BE49-F238E27FC236}">
                <a16:creationId xmlns:a16="http://schemas.microsoft.com/office/drawing/2014/main" id="{032C6040-0F92-AAB7-06D1-7CBAA3B8E01D}"/>
              </a:ext>
            </a:extLst>
          </p:cNvPr>
          <p:cNvSpPr/>
          <p:nvPr/>
        </p:nvSpPr>
        <p:spPr>
          <a:xfrm>
            <a:off x="7222230" y="2775782"/>
            <a:ext cx="4725930" cy="1597433"/>
          </a:xfrm>
          <a:prstGeom prst="cloudCallout">
            <a:avLst>
              <a:gd name="adj1" fmla="val -49420"/>
              <a:gd name="adj2" fmla="val 55788"/>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dirty="0"/>
              <a:t>本当に</a:t>
            </a:r>
            <a:r>
              <a:rPr kumimoji="1" lang="en-US" altLang="ja-JP" sz="2400" dirty="0"/>
              <a:t>0</a:t>
            </a:r>
            <a:r>
              <a:rPr lang="en-US" altLang="ja-JP" sz="2400" dirty="0"/>
              <a:t>°</a:t>
            </a:r>
            <a:r>
              <a:rPr kumimoji="1" lang="ja-JP" altLang="en-US" sz="2400" dirty="0"/>
              <a:t>なのか</a:t>
            </a:r>
            <a:r>
              <a:rPr kumimoji="1" lang="en-US" altLang="ja-JP" sz="2400" dirty="0"/>
              <a:t>…?</a:t>
            </a:r>
            <a:endParaRPr kumimoji="1" lang="ja-JP" altLang="en-US" sz="2400" dirty="0"/>
          </a:p>
        </p:txBody>
      </p:sp>
      <p:sp>
        <p:nvSpPr>
          <p:cNvPr id="14" name="スライド番号プレースホルダー 3">
            <a:extLst>
              <a:ext uri="{FF2B5EF4-FFF2-40B4-BE49-F238E27FC236}">
                <a16:creationId xmlns:a16="http://schemas.microsoft.com/office/drawing/2014/main" id="{98554CF5-85C0-1064-C2B5-00903AA9B7E9}"/>
              </a:ext>
            </a:extLst>
          </p:cNvPr>
          <p:cNvSpPr>
            <a:spLocks noGrp="1"/>
          </p:cNvSpPr>
          <p:nvPr>
            <p:ph type="sldNum" sz="quarter" idx="12"/>
          </p:nvPr>
        </p:nvSpPr>
        <p:spPr>
          <a:xfrm>
            <a:off x="8610600" y="6356350"/>
            <a:ext cx="2743200" cy="365125"/>
          </a:xfrm>
        </p:spPr>
        <p:txBody>
          <a:bodyPr/>
          <a:lstStyle/>
          <a:p>
            <a:fld id="{1036D729-9A6E-4C44-81F1-10EBA65189A8}" type="slidenum">
              <a:rPr kumimoji="1" lang="ja-JP" altLang="en-US" smtClean="0"/>
              <a:t>8</a:t>
            </a:fld>
            <a:endParaRPr kumimoji="1" lang="ja-JP" altLang="en-US"/>
          </a:p>
        </p:txBody>
      </p:sp>
    </p:spTree>
    <p:extLst>
      <p:ext uri="{BB962C8B-B14F-4D97-AF65-F5344CB8AC3E}">
        <p14:creationId xmlns:p14="http://schemas.microsoft.com/office/powerpoint/2010/main" val="2433888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6BD0B80-A7A6-B8C1-B8BF-A9286026FCA1}"/>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1BAA3E0-FA3A-ECF8-008E-F4184C7C1D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CD4595A-7F31-12AC-9A24-0BFE429366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1FBACDE-A91E-3EBA-466C-6759556C9A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1E5A6BC2-FAAE-3526-8AD6-09C13F386F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D78B4DA-D4F9-9243-CD26-3DD0E0EA3C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FDDC550F-033B-67D1-13BD-E976D62A3B8E}"/>
              </a:ext>
            </a:extLst>
          </p:cNvPr>
          <p:cNvSpPr>
            <a:spLocks noGrp="1"/>
          </p:cNvSpPr>
          <p:nvPr>
            <p:ph type="title"/>
          </p:nvPr>
        </p:nvSpPr>
        <p:spPr>
          <a:xfrm>
            <a:off x="1371599" y="294538"/>
            <a:ext cx="9895951" cy="1033669"/>
          </a:xfrm>
        </p:spPr>
        <p:txBody>
          <a:bodyPr>
            <a:normAutofit/>
          </a:bodyPr>
          <a:lstStyle/>
          <a:p>
            <a:r>
              <a:rPr lang="ja-JP" altLang="en-US" sz="4800" dirty="0">
                <a:solidFill>
                  <a:srgbClr val="FFFFFF"/>
                </a:solidFill>
              </a:rPr>
              <a:t>背景</a:t>
            </a:r>
            <a:endParaRPr kumimoji="1" lang="ja-JP" altLang="en-US" sz="4800" dirty="0">
              <a:solidFill>
                <a:srgbClr val="FFFFFF"/>
              </a:solidFill>
            </a:endParaRPr>
          </a:p>
        </p:txBody>
      </p:sp>
      <p:pic>
        <p:nvPicPr>
          <p:cNvPr id="5" name="図 4" descr="屋外 が含まれている画像&#10;&#10;自動的に生成された説明">
            <a:extLst>
              <a:ext uri="{FF2B5EF4-FFF2-40B4-BE49-F238E27FC236}">
                <a16:creationId xmlns:a16="http://schemas.microsoft.com/office/drawing/2014/main" id="{7C07AD9E-A801-E761-88F3-06C857254C7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97356" y="3059668"/>
            <a:ext cx="2160254" cy="2160254"/>
          </a:xfrm>
          <a:prstGeom prst="rect">
            <a:avLst/>
          </a:prstGeom>
        </p:spPr>
      </p:pic>
      <p:pic>
        <p:nvPicPr>
          <p:cNvPr id="6" name="図 5">
            <a:extLst>
              <a:ext uri="{FF2B5EF4-FFF2-40B4-BE49-F238E27FC236}">
                <a16:creationId xmlns:a16="http://schemas.microsoft.com/office/drawing/2014/main" id="{74CB6636-E1A4-8849-7173-6CA22F7AFF7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54265" y="3059668"/>
            <a:ext cx="2160254" cy="2160254"/>
          </a:xfrm>
          <a:prstGeom prst="rect">
            <a:avLst/>
          </a:prstGeom>
        </p:spPr>
      </p:pic>
      <p:sp>
        <p:nvSpPr>
          <p:cNvPr id="16" name="矢印: 右 15">
            <a:extLst>
              <a:ext uri="{FF2B5EF4-FFF2-40B4-BE49-F238E27FC236}">
                <a16:creationId xmlns:a16="http://schemas.microsoft.com/office/drawing/2014/main" id="{E9290AC6-6468-D401-9E58-BB0DEAD3A8B7}"/>
              </a:ext>
            </a:extLst>
          </p:cNvPr>
          <p:cNvSpPr/>
          <p:nvPr/>
        </p:nvSpPr>
        <p:spPr>
          <a:xfrm>
            <a:off x="4716766" y="3907369"/>
            <a:ext cx="1935480" cy="59707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ボックス 17">
            <a:extLst>
              <a:ext uri="{FF2B5EF4-FFF2-40B4-BE49-F238E27FC236}">
                <a16:creationId xmlns:a16="http://schemas.microsoft.com/office/drawing/2014/main" id="{907152C7-869F-8591-2CB5-5C0DE2816B6A}"/>
              </a:ext>
            </a:extLst>
          </p:cNvPr>
          <p:cNvSpPr txBox="1"/>
          <p:nvPr/>
        </p:nvSpPr>
        <p:spPr>
          <a:xfrm>
            <a:off x="4716766" y="3562440"/>
            <a:ext cx="2160254" cy="461665"/>
          </a:xfrm>
          <a:prstGeom prst="rect">
            <a:avLst/>
          </a:prstGeom>
          <a:noFill/>
        </p:spPr>
        <p:txBody>
          <a:bodyPr wrap="square" rtlCol="0">
            <a:spAutoFit/>
          </a:bodyPr>
          <a:lstStyle/>
          <a:p>
            <a:r>
              <a:rPr kumimoji="1" lang="ja-JP" altLang="en-US" sz="2400" dirty="0"/>
              <a:t>数時間後</a:t>
            </a:r>
            <a:r>
              <a:rPr kumimoji="1" lang="en-US" altLang="ja-JP" sz="2400" dirty="0"/>
              <a:t>…</a:t>
            </a:r>
            <a:endParaRPr kumimoji="1" lang="ja-JP" altLang="en-US" sz="2400" dirty="0"/>
          </a:p>
        </p:txBody>
      </p:sp>
      <p:sp>
        <p:nvSpPr>
          <p:cNvPr id="19" name="コンテンツ プレースホルダー 2">
            <a:extLst>
              <a:ext uri="{FF2B5EF4-FFF2-40B4-BE49-F238E27FC236}">
                <a16:creationId xmlns:a16="http://schemas.microsoft.com/office/drawing/2014/main" id="{69D6C8A1-79F4-F167-53A6-1481E803EB07}"/>
              </a:ext>
            </a:extLst>
          </p:cNvPr>
          <p:cNvSpPr txBox="1">
            <a:spLocks/>
          </p:cNvSpPr>
          <p:nvPr/>
        </p:nvSpPr>
        <p:spPr>
          <a:xfrm>
            <a:off x="7254264" y="5426733"/>
            <a:ext cx="2539975" cy="1294741"/>
          </a:xfrm>
          <a:prstGeom prst="rect">
            <a:avLst/>
          </a:prstGeom>
        </p:spPr>
        <p:txBody>
          <a:bodyPr vert="horz" lIns="91440" tIns="45720" rIns="91440" bIns="45720" rtlCol="0" anchor="ct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2400" dirty="0"/>
              <a:t>ピントのずれ</a:t>
            </a:r>
            <a:endParaRPr lang="en-US" altLang="ja-JP" sz="2400" dirty="0"/>
          </a:p>
          <a:p>
            <a:r>
              <a:rPr lang="ja-JP" altLang="en-US" sz="2400" dirty="0"/>
              <a:t>装置の揺れ</a:t>
            </a:r>
            <a:endParaRPr lang="en-US" altLang="ja-JP" sz="2400" dirty="0"/>
          </a:p>
          <a:p>
            <a:r>
              <a:rPr lang="ja-JP" altLang="en-US" sz="2400" dirty="0"/>
              <a:t>角度のずれ</a:t>
            </a:r>
          </a:p>
        </p:txBody>
      </p:sp>
      <p:sp>
        <p:nvSpPr>
          <p:cNvPr id="20" name="コンテンツ プレースホルダー 21">
            <a:extLst>
              <a:ext uri="{FF2B5EF4-FFF2-40B4-BE49-F238E27FC236}">
                <a16:creationId xmlns:a16="http://schemas.microsoft.com/office/drawing/2014/main" id="{AFDF928B-4B1D-6683-AAF1-EBA18149C335}"/>
              </a:ext>
            </a:extLst>
          </p:cNvPr>
          <p:cNvSpPr>
            <a:spLocks noGrp="1"/>
          </p:cNvSpPr>
          <p:nvPr>
            <p:ph idx="1"/>
          </p:nvPr>
        </p:nvSpPr>
        <p:spPr>
          <a:xfrm>
            <a:off x="419100" y="1901607"/>
            <a:ext cx="11353796" cy="4351338"/>
          </a:xfrm>
        </p:spPr>
        <p:txBody>
          <a:bodyPr>
            <a:normAutofit/>
          </a:bodyPr>
          <a:lstStyle/>
          <a:p>
            <a:pPr marL="0" indent="0">
              <a:buNone/>
            </a:pPr>
            <a:r>
              <a:rPr lang="en-US" altLang="ja-JP" sz="3200" dirty="0"/>
              <a:t>2. </a:t>
            </a:r>
            <a:r>
              <a:rPr lang="ja-JP" altLang="en-US" sz="3200" dirty="0"/>
              <a:t>撮影装置への外乱によって、</a:t>
            </a:r>
            <a:r>
              <a:rPr lang="ja-JP" altLang="en-US" sz="3200" b="1" dirty="0"/>
              <a:t>データの品質が落ちてしまう</a:t>
            </a:r>
            <a:r>
              <a:rPr lang="ja-JP" altLang="en-US" sz="3200" dirty="0"/>
              <a:t>。</a:t>
            </a:r>
          </a:p>
        </p:txBody>
      </p:sp>
      <p:sp>
        <p:nvSpPr>
          <p:cNvPr id="21" name="スライド番号プレースホルダー 2">
            <a:extLst>
              <a:ext uri="{FF2B5EF4-FFF2-40B4-BE49-F238E27FC236}">
                <a16:creationId xmlns:a16="http://schemas.microsoft.com/office/drawing/2014/main" id="{D5B3BFD9-A369-8754-A29E-A90A7E570347}"/>
              </a:ext>
            </a:extLst>
          </p:cNvPr>
          <p:cNvSpPr>
            <a:spLocks noGrp="1"/>
          </p:cNvSpPr>
          <p:nvPr>
            <p:ph type="sldNum" sz="quarter" idx="12"/>
          </p:nvPr>
        </p:nvSpPr>
        <p:spPr>
          <a:xfrm>
            <a:off x="8610600" y="6356350"/>
            <a:ext cx="2743200" cy="365125"/>
          </a:xfrm>
        </p:spPr>
        <p:txBody>
          <a:bodyPr/>
          <a:lstStyle/>
          <a:p>
            <a:fld id="{1036D729-9A6E-4C44-81F1-10EBA65189A8}" type="slidenum">
              <a:rPr kumimoji="1" lang="ja-JP" altLang="en-US" smtClean="0"/>
              <a:t>9</a:t>
            </a:fld>
            <a:endParaRPr kumimoji="1" lang="ja-JP" altLang="en-US" dirty="0"/>
          </a:p>
        </p:txBody>
      </p:sp>
    </p:spTree>
    <p:extLst>
      <p:ext uri="{BB962C8B-B14F-4D97-AF65-F5344CB8AC3E}">
        <p14:creationId xmlns:p14="http://schemas.microsoft.com/office/powerpoint/2010/main" val="6067957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BF36D91-2045-2ABD-B26C-6EA7EAE4A596}"/>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86F876E-67AE-3868-3A2B-76F5CEDCA1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152CDD2-EEF0-60CC-753C-2FBE01E7F6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942C7336-F8DA-B60B-B896-D87A40F816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54DC4ACA-31DA-1FB1-D2B2-ACB698D47D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2646452A-58BF-CC61-AC30-2CA3D48148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C2528F9D-471E-14E1-C19A-CA290AB7E501}"/>
              </a:ext>
            </a:extLst>
          </p:cNvPr>
          <p:cNvSpPr>
            <a:spLocks noGrp="1"/>
          </p:cNvSpPr>
          <p:nvPr>
            <p:ph type="title"/>
          </p:nvPr>
        </p:nvSpPr>
        <p:spPr>
          <a:xfrm>
            <a:off x="1371599" y="294538"/>
            <a:ext cx="9895951" cy="1033669"/>
          </a:xfrm>
        </p:spPr>
        <p:txBody>
          <a:bodyPr>
            <a:normAutofit/>
          </a:bodyPr>
          <a:lstStyle/>
          <a:p>
            <a:r>
              <a:rPr lang="ja-JP" altLang="en-US" sz="4800" dirty="0">
                <a:solidFill>
                  <a:srgbClr val="FFFFFF"/>
                </a:solidFill>
              </a:rPr>
              <a:t>背景</a:t>
            </a:r>
            <a:endParaRPr kumimoji="1" lang="ja-JP" altLang="en-US" sz="4800" dirty="0">
              <a:solidFill>
                <a:srgbClr val="FFFFFF"/>
              </a:solidFill>
            </a:endParaRPr>
          </a:p>
        </p:txBody>
      </p:sp>
      <p:sp>
        <p:nvSpPr>
          <p:cNvPr id="21" name="スライド番号プレースホルダー 2">
            <a:extLst>
              <a:ext uri="{FF2B5EF4-FFF2-40B4-BE49-F238E27FC236}">
                <a16:creationId xmlns:a16="http://schemas.microsoft.com/office/drawing/2014/main" id="{F1FED94D-11DF-35A5-48EF-C4D6C69E7E23}"/>
              </a:ext>
            </a:extLst>
          </p:cNvPr>
          <p:cNvSpPr>
            <a:spLocks noGrp="1"/>
          </p:cNvSpPr>
          <p:nvPr>
            <p:ph type="sldNum" sz="quarter" idx="12"/>
          </p:nvPr>
        </p:nvSpPr>
        <p:spPr>
          <a:xfrm>
            <a:off x="8610600" y="6356350"/>
            <a:ext cx="2743200" cy="365125"/>
          </a:xfrm>
        </p:spPr>
        <p:txBody>
          <a:bodyPr/>
          <a:lstStyle/>
          <a:p>
            <a:fld id="{1036D729-9A6E-4C44-81F1-10EBA65189A8}" type="slidenum">
              <a:rPr kumimoji="1" lang="ja-JP" altLang="en-US" smtClean="0"/>
              <a:t>10</a:t>
            </a:fld>
            <a:endParaRPr kumimoji="1" lang="ja-JP" altLang="en-US" dirty="0"/>
          </a:p>
        </p:txBody>
      </p:sp>
      <p:sp>
        <p:nvSpPr>
          <p:cNvPr id="10" name="コンテンツ プレースホルダー 21">
            <a:extLst>
              <a:ext uri="{FF2B5EF4-FFF2-40B4-BE49-F238E27FC236}">
                <a16:creationId xmlns:a16="http://schemas.microsoft.com/office/drawing/2014/main" id="{BB8A132A-CCBC-2A5E-ACD8-07C4A0A4FBD1}"/>
              </a:ext>
            </a:extLst>
          </p:cNvPr>
          <p:cNvSpPr>
            <a:spLocks noGrp="1"/>
          </p:cNvSpPr>
          <p:nvPr>
            <p:ph idx="1"/>
          </p:nvPr>
        </p:nvSpPr>
        <p:spPr>
          <a:xfrm>
            <a:off x="1300479" y="3649753"/>
            <a:ext cx="10038190" cy="1437640"/>
          </a:xfrm>
        </p:spPr>
        <p:txBody>
          <a:bodyPr>
            <a:normAutofit/>
          </a:bodyPr>
          <a:lstStyle/>
          <a:p>
            <a:pPr marL="0" indent="0">
              <a:buNone/>
            </a:pPr>
            <a:r>
              <a:rPr lang="ja-JP" altLang="en-US" sz="3200" dirty="0"/>
              <a:t>より手軽に学習データを作成できる方法が求められる</a:t>
            </a:r>
          </a:p>
        </p:txBody>
      </p:sp>
    </p:spTree>
    <p:extLst>
      <p:ext uri="{BB962C8B-B14F-4D97-AF65-F5344CB8AC3E}">
        <p14:creationId xmlns:p14="http://schemas.microsoft.com/office/powerpoint/2010/main" val="3125347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9BB7155-D742-9D8D-8FB7-DD3CA3B2162F}"/>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D6CCA7A-E4BE-8B64-62AA-7EC4CB2128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3540568-1319-0839-A3E5-3290EDB1CF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9A103ECF-05DC-F7F0-BCDD-499B7B915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EF7ED0B-93FC-5779-08F4-DE5ADAB45A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FD96408B-FD9A-C50A-725A-A93A212282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96858180-46E1-63E6-0C92-D8B078B71E2D}"/>
              </a:ext>
            </a:extLst>
          </p:cNvPr>
          <p:cNvSpPr>
            <a:spLocks noGrp="1"/>
          </p:cNvSpPr>
          <p:nvPr>
            <p:ph type="title"/>
          </p:nvPr>
        </p:nvSpPr>
        <p:spPr>
          <a:xfrm>
            <a:off x="1371599" y="294538"/>
            <a:ext cx="9895951" cy="1033669"/>
          </a:xfrm>
        </p:spPr>
        <p:txBody>
          <a:bodyPr>
            <a:normAutofit/>
          </a:bodyPr>
          <a:lstStyle/>
          <a:p>
            <a:r>
              <a:rPr lang="ja-JP" altLang="en-US" sz="4800" dirty="0">
                <a:solidFill>
                  <a:srgbClr val="FFFFFF"/>
                </a:solidFill>
              </a:rPr>
              <a:t>背景</a:t>
            </a:r>
            <a:endParaRPr kumimoji="1" lang="ja-JP" altLang="en-US" sz="4800" dirty="0">
              <a:solidFill>
                <a:srgbClr val="FFFFFF"/>
              </a:solidFill>
            </a:endParaRPr>
          </a:p>
        </p:txBody>
      </p:sp>
      <p:sp>
        <p:nvSpPr>
          <p:cNvPr id="21" name="スライド番号プレースホルダー 2">
            <a:extLst>
              <a:ext uri="{FF2B5EF4-FFF2-40B4-BE49-F238E27FC236}">
                <a16:creationId xmlns:a16="http://schemas.microsoft.com/office/drawing/2014/main" id="{DFA3E872-ACFB-5850-9053-E56F25863649}"/>
              </a:ext>
            </a:extLst>
          </p:cNvPr>
          <p:cNvSpPr>
            <a:spLocks noGrp="1"/>
          </p:cNvSpPr>
          <p:nvPr>
            <p:ph type="sldNum" sz="quarter" idx="12"/>
          </p:nvPr>
        </p:nvSpPr>
        <p:spPr>
          <a:xfrm>
            <a:off x="8610600" y="6356350"/>
            <a:ext cx="2743200" cy="365125"/>
          </a:xfrm>
        </p:spPr>
        <p:txBody>
          <a:bodyPr/>
          <a:lstStyle/>
          <a:p>
            <a:fld id="{1036D729-9A6E-4C44-81F1-10EBA65189A8}" type="slidenum">
              <a:rPr kumimoji="1" lang="ja-JP" altLang="en-US" smtClean="0"/>
              <a:t>11</a:t>
            </a:fld>
            <a:endParaRPr kumimoji="1" lang="ja-JP" altLang="en-US" dirty="0"/>
          </a:p>
        </p:txBody>
      </p:sp>
      <p:sp>
        <p:nvSpPr>
          <p:cNvPr id="5" name="コンテンツ プレースホルダー 21">
            <a:extLst>
              <a:ext uri="{FF2B5EF4-FFF2-40B4-BE49-F238E27FC236}">
                <a16:creationId xmlns:a16="http://schemas.microsoft.com/office/drawing/2014/main" id="{4E0B3A84-E840-2BCD-8EC4-6E746AEB0C82}"/>
              </a:ext>
            </a:extLst>
          </p:cNvPr>
          <p:cNvSpPr>
            <a:spLocks noGrp="1"/>
          </p:cNvSpPr>
          <p:nvPr>
            <p:ph idx="1"/>
          </p:nvPr>
        </p:nvSpPr>
        <p:spPr>
          <a:xfrm>
            <a:off x="1433772" y="1904066"/>
            <a:ext cx="9324451" cy="1801906"/>
          </a:xfrm>
        </p:spPr>
        <p:txBody>
          <a:bodyPr>
            <a:normAutofit/>
          </a:bodyPr>
          <a:lstStyle/>
          <a:p>
            <a:pPr marL="0" indent="0" algn="ctr">
              <a:buNone/>
            </a:pPr>
            <a:r>
              <a:rPr lang="ja-JP" altLang="en-US" sz="3200" dirty="0"/>
              <a:t>→撮影環境を模倣した</a:t>
            </a:r>
            <a:r>
              <a:rPr lang="en-US" altLang="ja-JP" sz="3200" dirty="0"/>
              <a:t>3D</a:t>
            </a:r>
            <a:r>
              <a:rPr lang="ja-JP" altLang="en-US" sz="3200" dirty="0"/>
              <a:t>空間を使用して、</a:t>
            </a:r>
            <a:endParaRPr lang="en-US" altLang="ja-JP" sz="3200" dirty="0"/>
          </a:p>
          <a:p>
            <a:pPr marL="0" indent="0" algn="ctr">
              <a:buNone/>
            </a:pPr>
            <a:r>
              <a:rPr lang="ja-JP" altLang="en-US" sz="3200" dirty="0"/>
              <a:t>学習データを撮影する</a:t>
            </a:r>
          </a:p>
        </p:txBody>
      </p:sp>
      <p:pic>
        <p:nvPicPr>
          <p:cNvPr id="6" name="図 5" descr="黒いバックグラウンドの前に立っている高層ビル&#10;&#10;低い精度で自動的に生成された説明">
            <a:extLst>
              <a:ext uri="{FF2B5EF4-FFF2-40B4-BE49-F238E27FC236}">
                <a16:creationId xmlns:a16="http://schemas.microsoft.com/office/drawing/2014/main" id="{10A5D638-CF89-8CBC-0D34-9E178E90697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75366" y="3373792"/>
            <a:ext cx="4482857" cy="2521608"/>
          </a:xfrm>
          <a:prstGeom prst="rect">
            <a:avLst/>
          </a:prstGeom>
        </p:spPr>
      </p:pic>
      <p:pic>
        <p:nvPicPr>
          <p:cNvPr id="7" name="図 6" descr="建物, 座る, 大きい, テーブル が含まれている画像&#10;&#10;自動的に生成された説明">
            <a:extLst>
              <a:ext uri="{FF2B5EF4-FFF2-40B4-BE49-F238E27FC236}">
                <a16:creationId xmlns:a16="http://schemas.microsoft.com/office/drawing/2014/main" id="{87000578-D8A1-F065-B1ED-9251CC96CD3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43747" y="3349499"/>
            <a:ext cx="1927646" cy="2570195"/>
          </a:xfrm>
          <a:prstGeom prst="rect">
            <a:avLst/>
          </a:prstGeom>
        </p:spPr>
      </p:pic>
    </p:spTree>
    <p:extLst>
      <p:ext uri="{BB962C8B-B14F-4D97-AF65-F5344CB8AC3E}">
        <p14:creationId xmlns:p14="http://schemas.microsoft.com/office/powerpoint/2010/main" val="2039331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A45AEC8-7A96-3C9D-23AB-600701B1270F}"/>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F724CB2-9598-4097-1ED0-B71597F693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CEA5717-4A6C-32A8-F385-CDFE81CAFF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06A9707-AB9D-8ED5-B063-08DE76C18A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CE95669-6483-E18F-1402-A6007E037E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DBCB7FA-954D-44EC-BE81-ED671F4720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712C4710-260B-1153-EC3A-A418DE403239}"/>
              </a:ext>
            </a:extLst>
          </p:cNvPr>
          <p:cNvSpPr>
            <a:spLocks noGrp="1"/>
          </p:cNvSpPr>
          <p:nvPr>
            <p:ph type="title"/>
          </p:nvPr>
        </p:nvSpPr>
        <p:spPr>
          <a:xfrm>
            <a:off x="1371599" y="294538"/>
            <a:ext cx="9895951" cy="1033669"/>
          </a:xfrm>
        </p:spPr>
        <p:txBody>
          <a:bodyPr>
            <a:normAutofit/>
          </a:bodyPr>
          <a:lstStyle/>
          <a:p>
            <a:r>
              <a:rPr kumimoji="1" lang="ja-JP" altLang="en-US" sz="4000" dirty="0">
                <a:solidFill>
                  <a:srgbClr val="FFFFFF"/>
                </a:solidFill>
              </a:rPr>
              <a:t>研究の目的</a:t>
            </a:r>
          </a:p>
        </p:txBody>
      </p:sp>
      <p:sp>
        <p:nvSpPr>
          <p:cNvPr id="3" name="コンテンツ プレースホルダー 2">
            <a:extLst>
              <a:ext uri="{FF2B5EF4-FFF2-40B4-BE49-F238E27FC236}">
                <a16:creationId xmlns:a16="http://schemas.microsoft.com/office/drawing/2014/main" id="{080240A7-D202-7F5C-6BDC-5414C7F99295}"/>
              </a:ext>
            </a:extLst>
          </p:cNvPr>
          <p:cNvSpPr>
            <a:spLocks noGrp="1"/>
          </p:cNvSpPr>
          <p:nvPr>
            <p:ph idx="1"/>
          </p:nvPr>
        </p:nvSpPr>
        <p:spPr>
          <a:xfrm>
            <a:off x="861057" y="2379346"/>
            <a:ext cx="10469881" cy="3683358"/>
          </a:xfrm>
        </p:spPr>
        <p:txBody>
          <a:bodyPr anchor="ctr">
            <a:normAutofit/>
          </a:bodyPr>
          <a:lstStyle/>
          <a:p>
            <a:r>
              <a:rPr lang="en-US" altLang="ja-JP" sz="3200" dirty="0"/>
              <a:t>CG</a:t>
            </a:r>
            <a:r>
              <a:rPr lang="ja-JP" altLang="en-US" sz="3200" dirty="0"/>
              <a:t>画像で学習させた角度検出モデルを、</a:t>
            </a:r>
            <a:r>
              <a:rPr lang="ja-JP" altLang="en-US" sz="3200" b="1" dirty="0"/>
              <a:t>実写画像に対する最大誤差が</a:t>
            </a:r>
            <a:r>
              <a:rPr lang="en-US" altLang="ja-JP" sz="3200" b="1" dirty="0"/>
              <a:t>0.167°</a:t>
            </a:r>
            <a:r>
              <a:rPr lang="ja-JP" altLang="en-US" sz="3200" b="1" dirty="0"/>
              <a:t>以下</a:t>
            </a:r>
            <a:r>
              <a:rPr lang="ja-JP" altLang="en-US" sz="3200" dirty="0"/>
              <a:t>になるように作成する。</a:t>
            </a:r>
            <a:endParaRPr lang="en-US" altLang="ja-JP" sz="3200" dirty="0"/>
          </a:p>
          <a:p>
            <a:endParaRPr kumimoji="1" lang="ja-JP" altLang="en-US" sz="2000" dirty="0"/>
          </a:p>
        </p:txBody>
      </p:sp>
      <p:sp>
        <p:nvSpPr>
          <p:cNvPr id="4" name="スライド番号プレースホルダー 3">
            <a:extLst>
              <a:ext uri="{FF2B5EF4-FFF2-40B4-BE49-F238E27FC236}">
                <a16:creationId xmlns:a16="http://schemas.microsoft.com/office/drawing/2014/main" id="{82D3330E-3CD8-12B4-FF52-81178C2E3485}"/>
              </a:ext>
            </a:extLst>
          </p:cNvPr>
          <p:cNvSpPr>
            <a:spLocks noGrp="1"/>
          </p:cNvSpPr>
          <p:nvPr>
            <p:ph type="sldNum" sz="quarter" idx="12"/>
          </p:nvPr>
        </p:nvSpPr>
        <p:spPr/>
        <p:txBody>
          <a:bodyPr/>
          <a:lstStyle/>
          <a:p>
            <a:fld id="{1036D729-9A6E-4C44-81F1-10EBA65189A8}" type="slidenum">
              <a:rPr kumimoji="1" lang="ja-JP" altLang="en-US" smtClean="0"/>
              <a:t>12</a:t>
            </a:fld>
            <a:endParaRPr kumimoji="1" lang="ja-JP" altLang="en-US"/>
          </a:p>
        </p:txBody>
      </p:sp>
    </p:spTree>
    <p:extLst>
      <p:ext uri="{BB962C8B-B14F-4D97-AF65-F5344CB8AC3E}">
        <p14:creationId xmlns:p14="http://schemas.microsoft.com/office/powerpoint/2010/main" val="22134621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A54B1AD-F516-FB28-20BF-5DF047EA1E1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13F6E67-90DD-207A-3D4E-B311DF53B3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2F7D0D1-E2E6-2703-E6DD-A976F4F38E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EE710D9-8FC5-2D83-7BC7-04141131AD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BA1A36E-B903-B3BD-DFFB-DD1C2AFA37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E639498-F4D0-A282-724E-ED34BD018D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30E80206-1463-536A-8CFE-6C4379EB1B80}"/>
              </a:ext>
            </a:extLst>
          </p:cNvPr>
          <p:cNvSpPr>
            <a:spLocks noGrp="1"/>
          </p:cNvSpPr>
          <p:nvPr>
            <p:ph type="title"/>
          </p:nvPr>
        </p:nvSpPr>
        <p:spPr>
          <a:xfrm>
            <a:off x="1371599" y="294538"/>
            <a:ext cx="9895951" cy="1033669"/>
          </a:xfrm>
        </p:spPr>
        <p:txBody>
          <a:bodyPr>
            <a:normAutofit/>
          </a:bodyPr>
          <a:lstStyle/>
          <a:p>
            <a:r>
              <a:rPr lang="ja-JP" altLang="en-US" sz="4000" dirty="0">
                <a:solidFill>
                  <a:srgbClr val="FFFFFF"/>
                </a:solidFill>
              </a:rPr>
              <a:t>研究の概要</a:t>
            </a:r>
            <a:endParaRPr kumimoji="1" lang="ja-JP" altLang="en-US" sz="4000" dirty="0">
              <a:solidFill>
                <a:srgbClr val="FFFFFF"/>
              </a:solidFill>
            </a:endParaRPr>
          </a:p>
        </p:txBody>
      </p:sp>
      <p:sp>
        <p:nvSpPr>
          <p:cNvPr id="4" name="コンテンツ プレースホルダー 3">
            <a:extLst>
              <a:ext uri="{FF2B5EF4-FFF2-40B4-BE49-F238E27FC236}">
                <a16:creationId xmlns:a16="http://schemas.microsoft.com/office/drawing/2014/main" id="{58E6C0D0-00A3-3B76-910D-B6CA400850FB}"/>
              </a:ext>
            </a:extLst>
          </p:cNvPr>
          <p:cNvSpPr>
            <a:spLocks noGrp="1"/>
          </p:cNvSpPr>
          <p:nvPr>
            <p:ph idx="1"/>
          </p:nvPr>
        </p:nvSpPr>
        <p:spPr/>
        <p:txBody>
          <a:bodyPr>
            <a:normAutofit/>
          </a:bodyPr>
          <a:lstStyle/>
          <a:p>
            <a:pPr marL="0" indent="0">
              <a:buNone/>
            </a:pPr>
            <a:r>
              <a:rPr lang="ja-JP" altLang="en-US" sz="3200" dirty="0"/>
              <a:t>使用ソフト</a:t>
            </a:r>
            <a:endParaRPr lang="en-US" altLang="ja-JP" sz="3200" dirty="0"/>
          </a:p>
          <a:p>
            <a:r>
              <a:rPr lang="ja-JP" altLang="en-US" dirty="0"/>
              <a:t>オープンソースの</a:t>
            </a:r>
            <a:r>
              <a:rPr lang="en-US" altLang="ja-JP" dirty="0"/>
              <a:t>3DCG</a:t>
            </a:r>
            <a:r>
              <a:rPr lang="ja-JP" altLang="en-US" dirty="0"/>
              <a:t>ソフト</a:t>
            </a:r>
            <a:r>
              <a:rPr lang="en-US" altLang="ja-JP" dirty="0"/>
              <a:t>blender</a:t>
            </a:r>
          </a:p>
          <a:p>
            <a:r>
              <a:rPr lang="en-US" altLang="ja-JP" dirty="0"/>
              <a:t>Python</a:t>
            </a:r>
            <a:r>
              <a:rPr lang="ja-JP" altLang="en-US" dirty="0"/>
              <a:t>でソフト内の様々な処理を行うことが出来る。</a:t>
            </a:r>
          </a:p>
        </p:txBody>
      </p:sp>
      <p:pic>
        <p:nvPicPr>
          <p:cNvPr id="5" name="図 4">
            <a:extLst>
              <a:ext uri="{FF2B5EF4-FFF2-40B4-BE49-F238E27FC236}">
                <a16:creationId xmlns:a16="http://schemas.microsoft.com/office/drawing/2014/main" id="{0216B0DD-52BF-AB04-7904-2D8DF90798B1}"/>
              </a:ext>
            </a:extLst>
          </p:cNvPr>
          <p:cNvPicPr>
            <a:picLocks noChangeAspect="1"/>
          </p:cNvPicPr>
          <p:nvPr/>
        </p:nvPicPr>
        <p:blipFill>
          <a:blip r:embed="rId3"/>
          <a:stretch>
            <a:fillRect/>
          </a:stretch>
        </p:blipFill>
        <p:spPr>
          <a:xfrm>
            <a:off x="2644858" y="3429000"/>
            <a:ext cx="6902280" cy="2109030"/>
          </a:xfrm>
          <a:prstGeom prst="rect">
            <a:avLst/>
          </a:prstGeom>
        </p:spPr>
      </p:pic>
      <p:sp>
        <p:nvSpPr>
          <p:cNvPr id="3" name="スライド番号プレースホルダー 2">
            <a:extLst>
              <a:ext uri="{FF2B5EF4-FFF2-40B4-BE49-F238E27FC236}">
                <a16:creationId xmlns:a16="http://schemas.microsoft.com/office/drawing/2014/main" id="{F98E4EF3-D142-647C-F514-DCAEAA9D8252}"/>
              </a:ext>
            </a:extLst>
          </p:cNvPr>
          <p:cNvSpPr>
            <a:spLocks noGrp="1"/>
          </p:cNvSpPr>
          <p:nvPr>
            <p:ph type="sldNum" sz="quarter" idx="12"/>
          </p:nvPr>
        </p:nvSpPr>
        <p:spPr/>
        <p:txBody>
          <a:bodyPr/>
          <a:lstStyle/>
          <a:p>
            <a:fld id="{1036D729-9A6E-4C44-81F1-10EBA65189A8}" type="slidenum">
              <a:rPr kumimoji="1" lang="ja-JP" altLang="en-US" smtClean="0"/>
              <a:t>13</a:t>
            </a:fld>
            <a:endParaRPr kumimoji="1" lang="ja-JP" altLang="en-US"/>
          </a:p>
        </p:txBody>
      </p:sp>
    </p:spTree>
    <p:extLst>
      <p:ext uri="{BB962C8B-B14F-4D97-AF65-F5344CB8AC3E}">
        <p14:creationId xmlns:p14="http://schemas.microsoft.com/office/powerpoint/2010/main" val="39528475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F74E3F8-D891-FE66-B1AA-754A7CF92E4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41D50C2-4A17-85CC-6C0F-858301D499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717FF2D-3327-3EE9-6E4D-BC4826B542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8DD5082-F635-6A00-0BF5-8A7A3CDE88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366F3A4-C295-E50F-C854-7BA3615F92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26403E7-C919-7946-9110-1BF0A72E09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84A4868C-EC3E-1D20-74BA-DB5E52C623AD}"/>
              </a:ext>
            </a:extLst>
          </p:cNvPr>
          <p:cNvSpPr>
            <a:spLocks noGrp="1"/>
          </p:cNvSpPr>
          <p:nvPr>
            <p:ph type="title"/>
          </p:nvPr>
        </p:nvSpPr>
        <p:spPr>
          <a:xfrm>
            <a:off x="1371599" y="294538"/>
            <a:ext cx="9895951" cy="1033669"/>
          </a:xfrm>
        </p:spPr>
        <p:txBody>
          <a:bodyPr>
            <a:normAutofit/>
          </a:bodyPr>
          <a:lstStyle/>
          <a:p>
            <a:r>
              <a:rPr lang="ja-JP" altLang="en-US" sz="4000" dirty="0">
                <a:solidFill>
                  <a:srgbClr val="FFFFFF"/>
                </a:solidFill>
              </a:rPr>
              <a:t>研究の概要</a:t>
            </a:r>
            <a:endParaRPr kumimoji="1" lang="ja-JP" altLang="en-US" sz="4000" dirty="0">
              <a:solidFill>
                <a:srgbClr val="FFFFFF"/>
              </a:solidFill>
            </a:endParaRPr>
          </a:p>
        </p:txBody>
      </p:sp>
      <p:sp>
        <p:nvSpPr>
          <p:cNvPr id="3" name="コンテンツ プレースホルダー 2">
            <a:extLst>
              <a:ext uri="{FF2B5EF4-FFF2-40B4-BE49-F238E27FC236}">
                <a16:creationId xmlns:a16="http://schemas.microsoft.com/office/drawing/2014/main" id="{C1F28AC3-B07C-22F2-9B2B-B53CF9C79D19}"/>
              </a:ext>
            </a:extLst>
          </p:cNvPr>
          <p:cNvSpPr>
            <a:spLocks noGrp="1"/>
          </p:cNvSpPr>
          <p:nvPr>
            <p:ph idx="1"/>
          </p:nvPr>
        </p:nvSpPr>
        <p:spPr>
          <a:xfrm>
            <a:off x="1096370" y="1103893"/>
            <a:ext cx="9724031" cy="4116276"/>
          </a:xfrm>
        </p:spPr>
        <p:txBody>
          <a:bodyPr anchor="ctr">
            <a:normAutofit/>
          </a:bodyPr>
          <a:lstStyle/>
          <a:p>
            <a:pPr marL="0" indent="0">
              <a:buNone/>
            </a:pPr>
            <a:r>
              <a:rPr lang="en-US" altLang="ja-JP" sz="3200" dirty="0"/>
              <a:t>CG</a:t>
            </a:r>
            <a:r>
              <a:rPr lang="ja-JP" altLang="en-US" sz="3200" dirty="0"/>
              <a:t>画像を使うメリット </a:t>
            </a:r>
            <a:r>
              <a:rPr lang="en-US" altLang="ja-JP" sz="3200" dirty="0"/>
              <a:t>:</a:t>
            </a:r>
          </a:p>
          <a:p>
            <a:r>
              <a:rPr lang="ja-JP" altLang="en-US" sz="2400" b="1" dirty="0"/>
              <a:t>角度を正確に合わせられる</a:t>
            </a:r>
            <a:endParaRPr lang="en-US" altLang="ja-JP" sz="2400" b="1" dirty="0"/>
          </a:p>
          <a:p>
            <a:r>
              <a:rPr lang="ja-JP" altLang="en-US" sz="2400" b="1" dirty="0"/>
              <a:t>品質が一定のまま、</a:t>
            </a:r>
            <a:r>
              <a:rPr lang="ja-JP" altLang="en-US" sz="2400" dirty="0"/>
              <a:t>条件を細かく変更した画像を</a:t>
            </a:r>
            <a:r>
              <a:rPr lang="ja-JP" altLang="en-US" sz="2400" b="1" dirty="0"/>
              <a:t>大量に作れる</a:t>
            </a:r>
            <a:r>
              <a:rPr lang="ja-JP" altLang="en-US" sz="2400" dirty="0"/>
              <a:t>。</a:t>
            </a:r>
            <a:endParaRPr lang="en-US" altLang="ja-JP" sz="2400" dirty="0"/>
          </a:p>
          <a:p>
            <a:endParaRPr lang="en-US" altLang="ja-JP" sz="2000" dirty="0"/>
          </a:p>
        </p:txBody>
      </p:sp>
      <p:pic>
        <p:nvPicPr>
          <p:cNvPr id="7" name="図 6">
            <a:extLst>
              <a:ext uri="{FF2B5EF4-FFF2-40B4-BE49-F238E27FC236}">
                <a16:creationId xmlns:a16="http://schemas.microsoft.com/office/drawing/2014/main" id="{C39A850E-F2DA-65D4-56A5-D10B7405E3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52332" y="4216250"/>
            <a:ext cx="1922930" cy="1865314"/>
          </a:xfrm>
          <a:prstGeom prst="rect">
            <a:avLst/>
          </a:prstGeom>
        </p:spPr>
      </p:pic>
      <p:pic>
        <p:nvPicPr>
          <p:cNvPr id="11" name="図 10">
            <a:extLst>
              <a:ext uri="{FF2B5EF4-FFF2-40B4-BE49-F238E27FC236}">
                <a16:creationId xmlns:a16="http://schemas.microsoft.com/office/drawing/2014/main" id="{05FA7523-3553-289B-CCBF-0BDAF2AD32A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57650" y="4221810"/>
            <a:ext cx="1922931" cy="1865315"/>
          </a:xfrm>
          <a:prstGeom prst="rect">
            <a:avLst/>
          </a:prstGeom>
        </p:spPr>
      </p:pic>
      <p:pic>
        <p:nvPicPr>
          <p:cNvPr id="15" name="図 14">
            <a:extLst>
              <a:ext uri="{FF2B5EF4-FFF2-40B4-BE49-F238E27FC236}">
                <a16:creationId xmlns:a16="http://schemas.microsoft.com/office/drawing/2014/main" id="{017C1D17-1B95-9A0D-7975-1E7F6ED4346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11422" y="4218887"/>
            <a:ext cx="1920212" cy="1862678"/>
          </a:xfrm>
          <a:prstGeom prst="rect">
            <a:avLst/>
          </a:prstGeom>
        </p:spPr>
      </p:pic>
      <p:pic>
        <p:nvPicPr>
          <p:cNvPr id="18" name="図 17">
            <a:extLst>
              <a:ext uri="{FF2B5EF4-FFF2-40B4-BE49-F238E27FC236}">
                <a16:creationId xmlns:a16="http://schemas.microsoft.com/office/drawing/2014/main" id="{F14B0453-E85A-FCF7-65CF-35BF5969231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362475" y="4216251"/>
            <a:ext cx="1977193" cy="1917952"/>
          </a:xfrm>
          <a:prstGeom prst="rect">
            <a:avLst/>
          </a:prstGeom>
        </p:spPr>
      </p:pic>
      <p:sp>
        <p:nvSpPr>
          <p:cNvPr id="4" name="スライド番号プレースホルダー 3">
            <a:extLst>
              <a:ext uri="{FF2B5EF4-FFF2-40B4-BE49-F238E27FC236}">
                <a16:creationId xmlns:a16="http://schemas.microsoft.com/office/drawing/2014/main" id="{209BE950-B42F-406D-5124-0E360F1C80CF}"/>
              </a:ext>
            </a:extLst>
          </p:cNvPr>
          <p:cNvSpPr>
            <a:spLocks noGrp="1"/>
          </p:cNvSpPr>
          <p:nvPr>
            <p:ph type="sldNum" sz="quarter" idx="12"/>
          </p:nvPr>
        </p:nvSpPr>
        <p:spPr/>
        <p:txBody>
          <a:bodyPr/>
          <a:lstStyle/>
          <a:p>
            <a:fld id="{1036D729-9A6E-4C44-81F1-10EBA65189A8}" type="slidenum">
              <a:rPr kumimoji="1" lang="ja-JP" altLang="en-US" smtClean="0"/>
              <a:t>14</a:t>
            </a:fld>
            <a:endParaRPr kumimoji="1" lang="ja-JP" altLang="en-US"/>
          </a:p>
        </p:txBody>
      </p:sp>
    </p:spTree>
    <p:extLst>
      <p:ext uri="{BB962C8B-B14F-4D97-AF65-F5344CB8AC3E}">
        <p14:creationId xmlns:p14="http://schemas.microsoft.com/office/powerpoint/2010/main" val="242103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4ED4788-74BE-395D-38B6-62035E05BDDF}"/>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97F0A5F-C294-EDC2-C63A-E3DEDC9166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83E509B-ED72-55EF-CCA5-A115BF3F14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885839E-7FAC-4727-E67F-8114975D58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04C08F48-984B-3DCB-28B6-A105979DDD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C2D597F-9AB7-206E-77B8-8C652025B3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D6385DA1-6D5E-E989-11E2-EA3A4BA5CFB3}"/>
              </a:ext>
            </a:extLst>
          </p:cNvPr>
          <p:cNvSpPr>
            <a:spLocks noGrp="1"/>
          </p:cNvSpPr>
          <p:nvPr>
            <p:ph type="title"/>
          </p:nvPr>
        </p:nvSpPr>
        <p:spPr>
          <a:xfrm>
            <a:off x="1371599" y="294538"/>
            <a:ext cx="9895951" cy="1033669"/>
          </a:xfrm>
        </p:spPr>
        <p:txBody>
          <a:bodyPr>
            <a:normAutofit/>
          </a:bodyPr>
          <a:lstStyle/>
          <a:p>
            <a:r>
              <a:rPr lang="ja-JP" altLang="en-US" sz="4000" dirty="0">
                <a:solidFill>
                  <a:srgbClr val="FFFFFF"/>
                </a:solidFill>
              </a:rPr>
              <a:t>研究の概要</a:t>
            </a:r>
            <a:endParaRPr kumimoji="1" lang="ja-JP" altLang="en-US" sz="4000" dirty="0">
              <a:solidFill>
                <a:srgbClr val="FFFFFF"/>
              </a:solidFill>
            </a:endParaRPr>
          </a:p>
        </p:txBody>
      </p:sp>
      <p:sp>
        <p:nvSpPr>
          <p:cNvPr id="3" name="コンテンツ プレースホルダー 2">
            <a:extLst>
              <a:ext uri="{FF2B5EF4-FFF2-40B4-BE49-F238E27FC236}">
                <a16:creationId xmlns:a16="http://schemas.microsoft.com/office/drawing/2014/main" id="{8ADA6D08-2F18-112A-643E-08A1C09E07BC}"/>
              </a:ext>
            </a:extLst>
          </p:cNvPr>
          <p:cNvSpPr>
            <a:spLocks noGrp="1"/>
          </p:cNvSpPr>
          <p:nvPr>
            <p:ph idx="1"/>
          </p:nvPr>
        </p:nvSpPr>
        <p:spPr>
          <a:xfrm>
            <a:off x="1693519" y="1972078"/>
            <a:ext cx="9252110" cy="2221022"/>
          </a:xfrm>
        </p:spPr>
        <p:txBody>
          <a:bodyPr anchor="ctr">
            <a:normAutofit/>
          </a:bodyPr>
          <a:lstStyle/>
          <a:p>
            <a:pPr marL="0" indent="0">
              <a:buNone/>
            </a:pPr>
            <a:r>
              <a:rPr lang="en-US" altLang="ja-JP" sz="3200" dirty="0"/>
              <a:t>CG</a:t>
            </a:r>
            <a:r>
              <a:rPr lang="ja-JP" altLang="en-US" sz="3200" dirty="0"/>
              <a:t>画像を使うデメリット </a:t>
            </a:r>
            <a:r>
              <a:rPr lang="en-US" altLang="ja-JP" sz="3200" dirty="0"/>
              <a:t>:</a:t>
            </a:r>
          </a:p>
          <a:p>
            <a:r>
              <a:rPr lang="ja-JP" altLang="en-US" sz="2400" dirty="0"/>
              <a:t>開発元の設計図がないと、</a:t>
            </a:r>
            <a:r>
              <a:rPr lang="ja-JP" altLang="en-US" sz="2400" b="1" dirty="0"/>
              <a:t>チップの</a:t>
            </a:r>
            <a:r>
              <a:rPr lang="en-US" altLang="ja-JP" sz="2400" b="1" dirty="0"/>
              <a:t>3D</a:t>
            </a:r>
            <a:r>
              <a:rPr lang="ja-JP" altLang="en-US" sz="2400" b="1" dirty="0"/>
              <a:t>モデルを正確に作れない</a:t>
            </a:r>
            <a:endParaRPr lang="en-US" altLang="ja-JP" sz="2400" b="1" dirty="0"/>
          </a:p>
          <a:p>
            <a:r>
              <a:rPr lang="ja-JP" altLang="en-US" sz="2400" b="1" dirty="0"/>
              <a:t>実写画像と質感が異なる</a:t>
            </a:r>
            <a:endParaRPr lang="en-US" altLang="ja-JP" sz="2000" b="1" dirty="0"/>
          </a:p>
        </p:txBody>
      </p:sp>
      <p:pic>
        <p:nvPicPr>
          <p:cNvPr id="5" name="図 4">
            <a:extLst>
              <a:ext uri="{FF2B5EF4-FFF2-40B4-BE49-F238E27FC236}">
                <a16:creationId xmlns:a16="http://schemas.microsoft.com/office/drawing/2014/main" id="{76C18B45-F51B-D3DD-6061-793FD95161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98848" y="4329625"/>
            <a:ext cx="1922930" cy="1865314"/>
          </a:xfrm>
          <a:prstGeom prst="rect">
            <a:avLst/>
          </a:prstGeom>
        </p:spPr>
      </p:pic>
      <p:pic>
        <p:nvPicPr>
          <p:cNvPr id="9" name="図 8" descr="電子機器, スピーカー が含まれている画像&#10;&#10;自動的に生成された説明">
            <a:extLst>
              <a:ext uri="{FF2B5EF4-FFF2-40B4-BE49-F238E27FC236}">
                <a16:creationId xmlns:a16="http://schemas.microsoft.com/office/drawing/2014/main" id="{42FEE63E-1ACC-5640-21D9-7002269B828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30330" y="4329625"/>
            <a:ext cx="1726162" cy="1865314"/>
          </a:xfrm>
          <a:prstGeom prst="rect">
            <a:avLst/>
          </a:prstGeom>
        </p:spPr>
      </p:pic>
      <p:sp>
        <p:nvSpPr>
          <p:cNvPr id="4" name="スライド番号プレースホルダー 3">
            <a:extLst>
              <a:ext uri="{FF2B5EF4-FFF2-40B4-BE49-F238E27FC236}">
                <a16:creationId xmlns:a16="http://schemas.microsoft.com/office/drawing/2014/main" id="{1983ACA2-A9A2-2ACB-F681-A67AC053431A}"/>
              </a:ext>
            </a:extLst>
          </p:cNvPr>
          <p:cNvSpPr>
            <a:spLocks noGrp="1"/>
          </p:cNvSpPr>
          <p:nvPr>
            <p:ph type="sldNum" sz="quarter" idx="12"/>
          </p:nvPr>
        </p:nvSpPr>
        <p:spPr/>
        <p:txBody>
          <a:bodyPr/>
          <a:lstStyle/>
          <a:p>
            <a:fld id="{1036D729-9A6E-4C44-81F1-10EBA65189A8}" type="slidenum">
              <a:rPr kumimoji="1" lang="ja-JP" altLang="en-US" smtClean="0"/>
              <a:t>15</a:t>
            </a:fld>
            <a:endParaRPr kumimoji="1" lang="ja-JP" altLang="en-US"/>
          </a:p>
        </p:txBody>
      </p:sp>
    </p:spTree>
    <p:extLst>
      <p:ext uri="{BB962C8B-B14F-4D97-AF65-F5344CB8AC3E}">
        <p14:creationId xmlns:p14="http://schemas.microsoft.com/office/powerpoint/2010/main" val="7668327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11C24A0-43A1-B238-6FC5-5452E012CFF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C5C00FC-3A27-498E-ACF6-6B18E8200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1F23A41-4722-D4DC-E1F2-CEA67CFFB1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0DE40F8-B2B9-275E-80ED-25D0705AAF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0F8F3B00-7F81-ACD6-6BBE-3D456708D7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53D69DD-1645-31E7-C976-864DB1B8DA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106C40FE-C462-0807-11A4-9744BE67F4A9}"/>
              </a:ext>
            </a:extLst>
          </p:cNvPr>
          <p:cNvSpPr>
            <a:spLocks noGrp="1"/>
          </p:cNvSpPr>
          <p:nvPr>
            <p:ph type="title"/>
          </p:nvPr>
        </p:nvSpPr>
        <p:spPr>
          <a:xfrm>
            <a:off x="1371599" y="294538"/>
            <a:ext cx="9895951" cy="1033669"/>
          </a:xfrm>
        </p:spPr>
        <p:txBody>
          <a:bodyPr>
            <a:normAutofit/>
          </a:bodyPr>
          <a:lstStyle/>
          <a:p>
            <a:r>
              <a:rPr kumimoji="1" lang="ja-JP" altLang="en-US" sz="4000" dirty="0">
                <a:solidFill>
                  <a:srgbClr val="FFFFFF"/>
                </a:solidFill>
              </a:rPr>
              <a:t>研究の</a:t>
            </a:r>
            <a:r>
              <a:rPr lang="ja-JP" altLang="en-US" sz="4000" dirty="0">
                <a:solidFill>
                  <a:srgbClr val="FFFFFF"/>
                </a:solidFill>
              </a:rPr>
              <a:t>概要</a:t>
            </a:r>
            <a:endParaRPr kumimoji="1" lang="ja-JP" altLang="en-US" sz="4000" dirty="0">
              <a:solidFill>
                <a:srgbClr val="FFFFFF"/>
              </a:solidFill>
            </a:endParaRPr>
          </a:p>
        </p:txBody>
      </p:sp>
      <p:sp>
        <p:nvSpPr>
          <p:cNvPr id="13" name="テキスト ボックス 12">
            <a:extLst>
              <a:ext uri="{FF2B5EF4-FFF2-40B4-BE49-F238E27FC236}">
                <a16:creationId xmlns:a16="http://schemas.microsoft.com/office/drawing/2014/main" id="{D3E2982D-D8B8-734B-BB2F-674CCD37370E}"/>
              </a:ext>
            </a:extLst>
          </p:cNvPr>
          <p:cNvSpPr txBox="1"/>
          <p:nvPr/>
        </p:nvSpPr>
        <p:spPr>
          <a:xfrm>
            <a:off x="1156447" y="2299448"/>
            <a:ext cx="9823972" cy="1077218"/>
          </a:xfrm>
          <a:prstGeom prst="rect">
            <a:avLst/>
          </a:prstGeom>
          <a:noFill/>
        </p:spPr>
        <p:txBody>
          <a:bodyPr wrap="square" rtlCol="0">
            <a:spAutoFit/>
          </a:bodyPr>
          <a:lstStyle/>
          <a:p>
            <a:r>
              <a:rPr lang="ja-JP" altLang="en-US" sz="3200" dirty="0"/>
              <a:t>やりたいこと</a:t>
            </a:r>
            <a:r>
              <a:rPr lang="en-US" altLang="ja-JP" sz="3200" dirty="0"/>
              <a:t>:</a:t>
            </a:r>
          </a:p>
          <a:p>
            <a:endParaRPr lang="en-US" altLang="ja-JP" sz="3200" dirty="0"/>
          </a:p>
        </p:txBody>
      </p:sp>
      <p:sp>
        <p:nvSpPr>
          <p:cNvPr id="3" name="スライド番号プレースホルダー 2">
            <a:extLst>
              <a:ext uri="{FF2B5EF4-FFF2-40B4-BE49-F238E27FC236}">
                <a16:creationId xmlns:a16="http://schemas.microsoft.com/office/drawing/2014/main" id="{C53FEB80-F106-74FA-9BFE-E0A7C2E6C7CB}"/>
              </a:ext>
            </a:extLst>
          </p:cNvPr>
          <p:cNvSpPr>
            <a:spLocks noGrp="1"/>
          </p:cNvSpPr>
          <p:nvPr>
            <p:ph type="sldNum" sz="quarter" idx="12"/>
          </p:nvPr>
        </p:nvSpPr>
        <p:spPr/>
        <p:txBody>
          <a:bodyPr/>
          <a:lstStyle/>
          <a:p>
            <a:fld id="{1036D729-9A6E-4C44-81F1-10EBA65189A8}" type="slidenum">
              <a:rPr kumimoji="1" lang="ja-JP" altLang="en-US" smtClean="0"/>
              <a:t>16</a:t>
            </a:fld>
            <a:endParaRPr kumimoji="1" lang="ja-JP" altLang="en-US"/>
          </a:p>
        </p:txBody>
      </p:sp>
      <p:sp>
        <p:nvSpPr>
          <p:cNvPr id="4" name="四角形: 角を丸くする 3">
            <a:extLst>
              <a:ext uri="{FF2B5EF4-FFF2-40B4-BE49-F238E27FC236}">
                <a16:creationId xmlns:a16="http://schemas.microsoft.com/office/drawing/2014/main" id="{5C51C79A-1095-66DF-A3C2-1C348951F6F2}"/>
              </a:ext>
            </a:extLst>
          </p:cNvPr>
          <p:cNvSpPr/>
          <p:nvPr/>
        </p:nvSpPr>
        <p:spPr>
          <a:xfrm>
            <a:off x="1156447" y="3149600"/>
            <a:ext cx="2184400" cy="27559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t>CG</a:t>
            </a:r>
            <a:r>
              <a:rPr kumimoji="1" lang="ja-JP" altLang="en-US" sz="2000" dirty="0"/>
              <a:t>画像で最大誤差</a:t>
            </a:r>
            <a:r>
              <a:rPr kumimoji="1" lang="en-US" altLang="ja-JP" sz="2000" dirty="0"/>
              <a:t>0.167</a:t>
            </a:r>
            <a:r>
              <a:rPr kumimoji="1" lang="en-US" altLang="ja-JP" dirty="0"/>
              <a:t>°</a:t>
            </a:r>
            <a:endParaRPr kumimoji="1" lang="ja-JP" altLang="en-US" dirty="0"/>
          </a:p>
        </p:txBody>
      </p:sp>
      <p:sp>
        <p:nvSpPr>
          <p:cNvPr id="5" name="矢印: 右 4">
            <a:extLst>
              <a:ext uri="{FF2B5EF4-FFF2-40B4-BE49-F238E27FC236}">
                <a16:creationId xmlns:a16="http://schemas.microsoft.com/office/drawing/2014/main" id="{BC194BB3-EDB4-7AC4-CCDB-7A8AE27181B4}"/>
              </a:ext>
            </a:extLst>
          </p:cNvPr>
          <p:cNvSpPr/>
          <p:nvPr/>
        </p:nvSpPr>
        <p:spPr>
          <a:xfrm>
            <a:off x="3708400" y="4343400"/>
            <a:ext cx="788894" cy="5080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 角を丸くする 6">
            <a:extLst>
              <a:ext uri="{FF2B5EF4-FFF2-40B4-BE49-F238E27FC236}">
                <a16:creationId xmlns:a16="http://schemas.microsoft.com/office/drawing/2014/main" id="{D1D6019A-3BE3-D200-5027-96EEA91B1D21}"/>
              </a:ext>
            </a:extLst>
          </p:cNvPr>
          <p:cNvSpPr/>
          <p:nvPr/>
        </p:nvSpPr>
        <p:spPr>
          <a:xfrm>
            <a:off x="4712447" y="3149600"/>
            <a:ext cx="2184400" cy="27559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000" dirty="0"/>
              <a:t>実写画像で前年度研究を超える</a:t>
            </a:r>
            <a:endParaRPr kumimoji="1" lang="ja-JP" altLang="en-US" dirty="0"/>
          </a:p>
        </p:txBody>
      </p:sp>
      <p:sp>
        <p:nvSpPr>
          <p:cNvPr id="11" name="矢印: 右 10">
            <a:extLst>
              <a:ext uri="{FF2B5EF4-FFF2-40B4-BE49-F238E27FC236}">
                <a16:creationId xmlns:a16="http://schemas.microsoft.com/office/drawing/2014/main" id="{7D21921F-8683-CD2A-44C5-0A2C653CBD97}"/>
              </a:ext>
            </a:extLst>
          </p:cNvPr>
          <p:cNvSpPr/>
          <p:nvPr/>
        </p:nvSpPr>
        <p:spPr>
          <a:xfrm>
            <a:off x="7150100" y="4343400"/>
            <a:ext cx="787400" cy="5080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四角形: 角を丸くする 14">
            <a:extLst>
              <a:ext uri="{FF2B5EF4-FFF2-40B4-BE49-F238E27FC236}">
                <a16:creationId xmlns:a16="http://schemas.microsoft.com/office/drawing/2014/main" id="{C2F2259F-6312-C089-1D44-E5C9019856F0}"/>
              </a:ext>
            </a:extLst>
          </p:cNvPr>
          <p:cNvSpPr/>
          <p:nvPr/>
        </p:nvSpPr>
        <p:spPr>
          <a:xfrm>
            <a:off x="8309610" y="3086100"/>
            <a:ext cx="2184400" cy="27559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000" dirty="0"/>
              <a:t>実写画像で最大誤差</a:t>
            </a:r>
            <a:r>
              <a:rPr kumimoji="1" lang="en-US" altLang="ja-JP" sz="2000" dirty="0"/>
              <a:t>0.167°</a:t>
            </a:r>
            <a:endParaRPr kumimoji="1" lang="ja-JP" altLang="en-US" dirty="0"/>
          </a:p>
        </p:txBody>
      </p:sp>
    </p:spTree>
    <p:extLst>
      <p:ext uri="{BB962C8B-B14F-4D97-AF65-F5344CB8AC3E}">
        <p14:creationId xmlns:p14="http://schemas.microsoft.com/office/powerpoint/2010/main" val="16257306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7CB8546-487D-D95D-CCCB-CC4B8CFDD15F}"/>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EEB11C1-3ABE-1379-F8C7-540A8ED7A8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43E9CF6-409D-E7B3-EF13-913FD5A27A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34B598F-D052-BE9C-4AE2-E8C815E254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7266C2F-1321-8195-8510-36CE2A6FBE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CED1A12-4CF6-63CA-9EB7-6BDE63D2AA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DD713C15-7A29-161D-A23A-384D5815F1E0}"/>
              </a:ext>
            </a:extLst>
          </p:cNvPr>
          <p:cNvSpPr>
            <a:spLocks noGrp="1"/>
          </p:cNvSpPr>
          <p:nvPr>
            <p:ph type="title"/>
          </p:nvPr>
        </p:nvSpPr>
        <p:spPr>
          <a:xfrm>
            <a:off x="1371599" y="294538"/>
            <a:ext cx="9895951" cy="1033669"/>
          </a:xfrm>
        </p:spPr>
        <p:txBody>
          <a:bodyPr>
            <a:normAutofit/>
          </a:bodyPr>
          <a:lstStyle/>
          <a:p>
            <a:r>
              <a:rPr lang="ja-JP" altLang="en-US" sz="4000" dirty="0">
                <a:solidFill>
                  <a:srgbClr val="FFFFFF"/>
                </a:solidFill>
              </a:rPr>
              <a:t>現状</a:t>
            </a:r>
            <a:endParaRPr kumimoji="1" lang="ja-JP" altLang="en-US" sz="4000" dirty="0">
              <a:solidFill>
                <a:srgbClr val="FFFFFF"/>
              </a:solidFill>
            </a:endParaRPr>
          </a:p>
        </p:txBody>
      </p:sp>
      <p:sp>
        <p:nvSpPr>
          <p:cNvPr id="3" name="コンテンツ プレースホルダー 2">
            <a:extLst>
              <a:ext uri="{FF2B5EF4-FFF2-40B4-BE49-F238E27FC236}">
                <a16:creationId xmlns:a16="http://schemas.microsoft.com/office/drawing/2014/main" id="{D3929B3B-B59F-A7E1-02AF-D6509C3145D0}"/>
              </a:ext>
            </a:extLst>
          </p:cNvPr>
          <p:cNvSpPr>
            <a:spLocks noGrp="1"/>
          </p:cNvSpPr>
          <p:nvPr>
            <p:ph idx="1"/>
          </p:nvPr>
        </p:nvSpPr>
        <p:spPr>
          <a:xfrm>
            <a:off x="1146114" y="3429000"/>
            <a:ext cx="9724031" cy="3683358"/>
          </a:xfrm>
        </p:spPr>
        <p:txBody>
          <a:bodyPr anchor="ctr">
            <a:normAutofit/>
          </a:bodyPr>
          <a:lstStyle/>
          <a:p>
            <a:pPr marL="0" indent="0">
              <a:buNone/>
            </a:pPr>
            <a:endParaRPr lang="en-US" altLang="ja-JP" sz="2000" dirty="0"/>
          </a:p>
          <a:p>
            <a:r>
              <a:rPr lang="ja-JP" altLang="en-US" sz="2400" dirty="0"/>
              <a:t>ひし形のチップで、</a:t>
            </a:r>
            <a:r>
              <a:rPr lang="ja-JP" altLang="en-US" sz="2400" b="1" dirty="0"/>
              <a:t>位置のみ</a:t>
            </a:r>
            <a:r>
              <a:rPr lang="ja-JP" altLang="en-US" sz="2400" dirty="0"/>
              <a:t>にバリエーション</a:t>
            </a:r>
            <a:endParaRPr lang="en-US" altLang="ja-JP" sz="2400" dirty="0"/>
          </a:p>
          <a:p>
            <a:r>
              <a:rPr lang="en-US" altLang="ja-JP" sz="2400" b="1" dirty="0"/>
              <a:t>0.01°</a:t>
            </a:r>
            <a:r>
              <a:rPr lang="ja-JP" altLang="en-US" sz="2400" b="1" dirty="0"/>
              <a:t>ごと</a:t>
            </a:r>
            <a:r>
              <a:rPr lang="ja-JP" altLang="en-US" sz="2400" dirty="0"/>
              <a:t>に</a:t>
            </a:r>
            <a:r>
              <a:rPr lang="ja-JP" altLang="en-US" sz="2400" b="1" dirty="0"/>
              <a:t>、</a:t>
            </a:r>
            <a:r>
              <a:rPr lang="ja-JP" altLang="en-US" sz="2400" dirty="0"/>
              <a:t>合計</a:t>
            </a:r>
            <a:r>
              <a:rPr lang="en-US" altLang="ja-JP" sz="2400" dirty="0"/>
              <a:t>180°</a:t>
            </a:r>
            <a:r>
              <a:rPr lang="ja-JP" altLang="en-US" sz="2400" dirty="0"/>
              <a:t>回転</a:t>
            </a:r>
            <a:endParaRPr lang="en-US" altLang="ja-JP" sz="2400" dirty="0"/>
          </a:p>
          <a:p>
            <a:r>
              <a:rPr lang="ja-JP" altLang="en-US" sz="2400" dirty="0"/>
              <a:t>解像度は</a:t>
            </a:r>
            <a:r>
              <a:rPr lang="en-US" altLang="ja-JP" sz="2400" b="1" dirty="0"/>
              <a:t>84×84</a:t>
            </a:r>
            <a:endParaRPr lang="en-US" altLang="ja-JP" sz="2400" dirty="0"/>
          </a:p>
          <a:p>
            <a:r>
              <a:rPr lang="ja-JP" altLang="en-US" sz="2400" b="1" dirty="0"/>
              <a:t>合計</a:t>
            </a:r>
            <a:r>
              <a:rPr lang="en-US" altLang="ja-JP" sz="2400" b="1" dirty="0"/>
              <a:t>7,2000</a:t>
            </a:r>
            <a:r>
              <a:rPr lang="ja-JP" altLang="en-US" sz="2400" b="1" dirty="0"/>
              <a:t>枚</a:t>
            </a:r>
            <a:r>
              <a:rPr lang="ja-JP" altLang="en-US" sz="2400" dirty="0"/>
              <a:t>撮影</a:t>
            </a:r>
            <a:endParaRPr lang="en-US" altLang="ja-JP" sz="2400" dirty="0"/>
          </a:p>
        </p:txBody>
      </p:sp>
      <p:pic>
        <p:nvPicPr>
          <p:cNvPr id="5" name="図 4" descr="建物の壁&#10;&#10;低い精度で自動的に生成された説明">
            <a:extLst>
              <a:ext uri="{FF2B5EF4-FFF2-40B4-BE49-F238E27FC236}">
                <a16:creationId xmlns:a16="http://schemas.microsoft.com/office/drawing/2014/main" id="{49E863FF-EF6D-163B-4712-2A3AD18A55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27350" y="2867733"/>
            <a:ext cx="1511644" cy="1498941"/>
          </a:xfrm>
          <a:prstGeom prst="rect">
            <a:avLst/>
          </a:prstGeom>
        </p:spPr>
      </p:pic>
      <p:pic>
        <p:nvPicPr>
          <p:cNvPr id="7" name="図 6" descr="建物, 窓, ストリート, 市 が含まれている画像&#10;&#10;自動的に生成された説明">
            <a:extLst>
              <a:ext uri="{FF2B5EF4-FFF2-40B4-BE49-F238E27FC236}">
                <a16:creationId xmlns:a16="http://schemas.microsoft.com/office/drawing/2014/main" id="{2BB3BF55-D22F-6A1D-0B0A-5B48F6CED02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83871" y="2863787"/>
            <a:ext cx="1511644" cy="1498941"/>
          </a:xfrm>
          <a:prstGeom prst="rect">
            <a:avLst/>
          </a:prstGeom>
        </p:spPr>
      </p:pic>
      <p:pic>
        <p:nvPicPr>
          <p:cNvPr id="11" name="図 10" descr="建物, 窓, 大きい, ストリート が含まれている画像&#10;&#10;自動的に生成された説明">
            <a:extLst>
              <a:ext uri="{FF2B5EF4-FFF2-40B4-BE49-F238E27FC236}">
                <a16:creationId xmlns:a16="http://schemas.microsoft.com/office/drawing/2014/main" id="{4659AA60-7C90-7163-FC7D-AFA8A805A0C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041280" y="2876073"/>
            <a:ext cx="1511644" cy="1498941"/>
          </a:xfrm>
          <a:prstGeom prst="rect">
            <a:avLst/>
          </a:prstGeom>
        </p:spPr>
      </p:pic>
      <p:pic>
        <p:nvPicPr>
          <p:cNvPr id="15" name="図 14" descr="建物の壁&#10;&#10;中程度の精度で自動的に生成された説明">
            <a:extLst>
              <a:ext uri="{FF2B5EF4-FFF2-40B4-BE49-F238E27FC236}">
                <a16:creationId xmlns:a16="http://schemas.microsoft.com/office/drawing/2014/main" id="{A391C518-A0F6-5FFE-CC04-4BE2CB68E56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211221" y="2863786"/>
            <a:ext cx="1511644" cy="1498941"/>
          </a:xfrm>
          <a:prstGeom prst="rect">
            <a:avLst/>
          </a:prstGeom>
        </p:spPr>
      </p:pic>
      <p:sp>
        <p:nvSpPr>
          <p:cNvPr id="4" name="スライド番号プレースホルダー 3">
            <a:extLst>
              <a:ext uri="{FF2B5EF4-FFF2-40B4-BE49-F238E27FC236}">
                <a16:creationId xmlns:a16="http://schemas.microsoft.com/office/drawing/2014/main" id="{C1C89B71-5ABC-826A-F85F-52C78AB55317}"/>
              </a:ext>
            </a:extLst>
          </p:cNvPr>
          <p:cNvSpPr>
            <a:spLocks noGrp="1"/>
          </p:cNvSpPr>
          <p:nvPr>
            <p:ph type="sldNum" sz="quarter" idx="12"/>
          </p:nvPr>
        </p:nvSpPr>
        <p:spPr/>
        <p:txBody>
          <a:bodyPr/>
          <a:lstStyle/>
          <a:p>
            <a:fld id="{1036D729-9A6E-4C44-81F1-10EBA65189A8}" type="slidenum">
              <a:rPr kumimoji="1" lang="ja-JP" altLang="en-US" smtClean="0"/>
              <a:t>17</a:t>
            </a:fld>
            <a:endParaRPr kumimoji="1" lang="ja-JP" altLang="en-US"/>
          </a:p>
        </p:txBody>
      </p:sp>
      <p:sp>
        <p:nvSpPr>
          <p:cNvPr id="6" name="テキスト ボックス 5">
            <a:extLst>
              <a:ext uri="{FF2B5EF4-FFF2-40B4-BE49-F238E27FC236}">
                <a16:creationId xmlns:a16="http://schemas.microsoft.com/office/drawing/2014/main" id="{2F44146C-572C-5924-F785-6A56DACAE669}"/>
              </a:ext>
            </a:extLst>
          </p:cNvPr>
          <p:cNvSpPr txBox="1"/>
          <p:nvPr/>
        </p:nvSpPr>
        <p:spPr>
          <a:xfrm>
            <a:off x="883383" y="2128967"/>
            <a:ext cx="3174267" cy="584775"/>
          </a:xfrm>
          <a:prstGeom prst="rect">
            <a:avLst/>
          </a:prstGeom>
          <a:noFill/>
        </p:spPr>
        <p:txBody>
          <a:bodyPr wrap="none" rtlCol="0">
            <a:spAutoFit/>
          </a:bodyPr>
          <a:lstStyle/>
          <a:p>
            <a:r>
              <a:rPr kumimoji="1" lang="ja-JP" altLang="en-US" sz="3200" dirty="0"/>
              <a:t>使用したデータ</a:t>
            </a:r>
            <a:r>
              <a:rPr kumimoji="1" lang="en-US" altLang="ja-JP" sz="3200" dirty="0"/>
              <a:t>:</a:t>
            </a:r>
            <a:endParaRPr kumimoji="1" lang="ja-JP" altLang="en-US" sz="3200" dirty="0"/>
          </a:p>
        </p:txBody>
      </p:sp>
    </p:spTree>
    <p:extLst>
      <p:ext uri="{BB962C8B-B14F-4D97-AF65-F5344CB8AC3E}">
        <p14:creationId xmlns:p14="http://schemas.microsoft.com/office/powerpoint/2010/main" val="5417539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236A32F-2389-3B46-FD0D-0051C949693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39FA25D-3643-7F39-6EB3-A90746583C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E647C01-F8AE-9863-5F5A-DF3AA7AB7A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135E157-A219-2837-9E7A-69EB620F79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71A458F-30DD-36B6-C156-F7C7B74BD9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A9D0089-68B0-03F2-5E51-A97CDA850F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BD3EAFBF-CE06-575B-3555-81C2D0252FBC}"/>
              </a:ext>
            </a:extLst>
          </p:cNvPr>
          <p:cNvSpPr>
            <a:spLocks noGrp="1"/>
          </p:cNvSpPr>
          <p:nvPr>
            <p:ph type="title"/>
          </p:nvPr>
        </p:nvSpPr>
        <p:spPr>
          <a:xfrm>
            <a:off x="1371599" y="294538"/>
            <a:ext cx="9895951" cy="1033669"/>
          </a:xfrm>
        </p:spPr>
        <p:txBody>
          <a:bodyPr>
            <a:normAutofit/>
          </a:bodyPr>
          <a:lstStyle/>
          <a:p>
            <a:r>
              <a:rPr lang="ja-JP" altLang="en-US" sz="4000" dirty="0">
                <a:solidFill>
                  <a:srgbClr val="FFFFFF"/>
                </a:solidFill>
              </a:rPr>
              <a:t>現状</a:t>
            </a:r>
            <a:endParaRPr kumimoji="1" lang="ja-JP" altLang="en-US" sz="4000" dirty="0">
              <a:solidFill>
                <a:srgbClr val="FFFFFF"/>
              </a:solidFill>
            </a:endParaRPr>
          </a:p>
        </p:txBody>
      </p:sp>
      <p:sp>
        <p:nvSpPr>
          <p:cNvPr id="4" name="スライド番号プレースホルダー 3">
            <a:extLst>
              <a:ext uri="{FF2B5EF4-FFF2-40B4-BE49-F238E27FC236}">
                <a16:creationId xmlns:a16="http://schemas.microsoft.com/office/drawing/2014/main" id="{F980EC16-3A2E-C7C5-23E6-DEE73B05E82C}"/>
              </a:ext>
            </a:extLst>
          </p:cNvPr>
          <p:cNvSpPr>
            <a:spLocks noGrp="1"/>
          </p:cNvSpPr>
          <p:nvPr>
            <p:ph type="sldNum" sz="quarter" idx="12"/>
          </p:nvPr>
        </p:nvSpPr>
        <p:spPr/>
        <p:txBody>
          <a:bodyPr/>
          <a:lstStyle/>
          <a:p>
            <a:fld id="{1036D729-9A6E-4C44-81F1-10EBA65189A8}" type="slidenum">
              <a:rPr kumimoji="1" lang="ja-JP" altLang="en-US" smtClean="0"/>
              <a:t>18</a:t>
            </a:fld>
            <a:endParaRPr kumimoji="1" lang="ja-JP" altLang="en-US" dirty="0"/>
          </a:p>
        </p:txBody>
      </p:sp>
      <p:sp>
        <p:nvSpPr>
          <p:cNvPr id="6" name="テキスト ボックス 5">
            <a:extLst>
              <a:ext uri="{FF2B5EF4-FFF2-40B4-BE49-F238E27FC236}">
                <a16:creationId xmlns:a16="http://schemas.microsoft.com/office/drawing/2014/main" id="{0AAE9DB6-2CB2-1BA1-6661-A45A6AA85258}"/>
              </a:ext>
            </a:extLst>
          </p:cNvPr>
          <p:cNvSpPr txBox="1"/>
          <p:nvPr/>
        </p:nvSpPr>
        <p:spPr>
          <a:xfrm>
            <a:off x="802103" y="2057260"/>
            <a:ext cx="11515403" cy="584775"/>
          </a:xfrm>
          <a:prstGeom prst="rect">
            <a:avLst/>
          </a:prstGeom>
          <a:noFill/>
        </p:spPr>
        <p:txBody>
          <a:bodyPr wrap="square" rtlCol="0">
            <a:spAutoFit/>
          </a:bodyPr>
          <a:lstStyle/>
          <a:p>
            <a:r>
              <a:rPr kumimoji="1" lang="ja-JP" altLang="en-US" sz="3200" dirty="0"/>
              <a:t>学習に使用したモデル</a:t>
            </a:r>
            <a:r>
              <a:rPr kumimoji="1" lang="en-US" altLang="ja-JP" sz="3200" dirty="0"/>
              <a:t>: Xception3</a:t>
            </a:r>
            <a:r>
              <a:rPr kumimoji="1" lang="ja-JP" altLang="en-US" sz="3200" dirty="0"/>
              <a:t>つのアンサンブル学習</a:t>
            </a:r>
          </a:p>
        </p:txBody>
      </p:sp>
      <p:sp>
        <p:nvSpPr>
          <p:cNvPr id="17" name="正方形/長方形 16">
            <a:extLst>
              <a:ext uri="{FF2B5EF4-FFF2-40B4-BE49-F238E27FC236}">
                <a16:creationId xmlns:a16="http://schemas.microsoft.com/office/drawing/2014/main" id="{E8F3D9A5-8E8A-CBC3-5E1B-4D855C3C53C9}"/>
              </a:ext>
            </a:extLst>
          </p:cNvPr>
          <p:cNvSpPr/>
          <p:nvPr/>
        </p:nvSpPr>
        <p:spPr>
          <a:xfrm>
            <a:off x="3038437" y="2926080"/>
            <a:ext cx="1584960" cy="1005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t>Xception1</a:t>
            </a:r>
            <a:endParaRPr kumimoji="1" lang="ja-JP" altLang="en-US" dirty="0"/>
          </a:p>
        </p:txBody>
      </p:sp>
      <p:sp>
        <p:nvSpPr>
          <p:cNvPr id="18" name="正方形/長方形 17">
            <a:extLst>
              <a:ext uri="{FF2B5EF4-FFF2-40B4-BE49-F238E27FC236}">
                <a16:creationId xmlns:a16="http://schemas.microsoft.com/office/drawing/2014/main" id="{3A678EA8-3897-9938-15E5-5D172592C13B}"/>
              </a:ext>
            </a:extLst>
          </p:cNvPr>
          <p:cNvSpPr/>
          <p:nvPr/>
        </p:nvSpPr>
        <p:spPr>
          <a:xfrm>
            <a:off x="5121819" y="2933269"/>
            <a:ext cx="1584960" cy="1005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t>Xception2</a:t>
            </a:r>
            <a:endParaRPr kumimoji="1" lang="ja-JP" altLang="en-US" dirty="0"/>
          </a:p>
        </p:txBody>
      </p:sp>
      <p:sp>
        <p:nvSpPr>
          <p:cNvPr id="19" name="正方形/長方形 18">
            <a:extLst>
              <a:ext uri="{FF2B5EF4-FFF2-40B4-BE49-F238E27FC236}">
                <a16:creationId xmlns:a16="http://schemas.microsoft.com/office/drawing/2014/main" id="{E211AC5D-5DF2-7FEE-710B-705AECD51148}"/>
              </a:ext>
            </a:extLst>
          </p:cNvPr>
          <p:cNvSpPr/>
          <p:nvPr/>
        </p:nvSpPr>
        <p:spPr>
          <a:xfrm>
            <a:off x="7025640" y="2933269"/>
            <a:ext cx="1584960" cy="1005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t>Xception3</a:t>
            </a:r>
            <a:endParaRPr kumimoji="1" lang="ja-JP" altLang="en-US" dirty="0"/>
          </a:p>
        </p:txBody>
      </p:sp>
      <p:cxnSp>
        <p:nvCxnSpPr>
          <p:cNvPr id="31" name="直線矢印コネクタ 30">
            <a:extLst>
              <a:ext uri="{FF2B5EF4-FFF2-40B4-BE49-F238E27FC236}">
                <a16:creationId xmlns:a16="http://schemas.microsoft.com/office/drawing/2014/main" id="{74064F98-22E7-8F6D-6562-3A4CE1CF5A9E}"/>
              </a:ext>
            </a:extLst>
          </p:cNvPr>
          <p:cNvCxnSpPr>
            <a:stCxn id="20" idx="0"/>
          </p:cNvCxnSpPr>
          <p:nvPr/>
        </p:nvCxnSpPr>
        <p:spPr>
          <a:xfrm flipH="1">
            <a:off x="5914299" y="4794347"/>
            <a:ext cx="10385" cy="192712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0" name="正方形/長方形 19">
            <a:extLst>
              <a:ext uri="{FF2B5EF4-FFF2-40B4-BE49-F238E27FC236}">
                <a16:creationId xmlns:a16="http://schemas.microsoft.com/office/drawing/2014/main" id="{7D642669-FC9D-5BDD-71AD-5B21788F0227}"/>
              </a:ext>
            </a:extLst>
          </p:cNvPr>
          <p:cNvSpPr/>
          <p:nvPr/>
        </p:nvSpPr>
        <p:spPr>
          <a:xfrm>
            <a:off x="5179194" y="4794347"/>
            <a:ext cx="1490979" cy="4876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全結合</a:t>
            </a:r>
            <a:endParaRPr kumimoji="1" lang="ja-JP" altLang="en-US" dirty="0"/>
          </a:p>
        </p:txBody>
      </p:sp>
      <p:sp>
        <p:nvSpPr>
          <p:cNvPr id="21" name="正方形/長方形 20">
            <a:extLst>
              <a:ext uri="{FF2B5EF4-FFF2-40B4-BE49-F238E27FC236}">
                <a16:creationId xmlns:a16="http://schemas.microsoft.com/office/drawing/2014/main" id="{374FDE32-7267-D822-97FF-42ED67E191CC}"/>
              </a:ext>
            </a:extLst>
          </p:cNvPr>
          <p:cNvSpPr/>
          <p:nvPr/>
        </p:nvSpPr>
        <p:spPr>
          <a:xfrm>
            <a:off x="5179193" y="5337472"/>
            <a:ext cx="1490979" cy="4876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全結合</a:t>
            </a:r>
            <a:endParaRPr kumimoji="1" lang="ja-JP" altLang="en-US" dirty="0"/>
          </a:p>
        </p:txBody>
      </p:sp>
      <p:sp>
        <p:nvSpPr>
          <p:cNvPr id="22" name="正方形/長方形 21">
            <a:extLst>
              <a:ext uri="{FF2B5EF4-FFF2-40B4-BE49-F238E27FC236}">
                <a16:creationId xmlns:a16="http://schemas.microsoft.com/office/drawing/2014/main" id="{0E1EFE8C-A3C2-FE9C-2F31-74B787C24DF6}"/>
              </a:ext>
            </a:extLst>
          </p:cNvPr>
          <p:cNvSpPr/>
          <p:nvPr/>
        </p:nvSpPr>
        <p:spPr>
          <a:xfrm>
            <a:off x="5179193" y="5900943"/>
            <a:ext cx="1490979" cy="4876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全結合</a:t>
            </a:r>
            <a:endParaRPr kumimoji="1" lang="ja-JP" altLang="en-US" dirty="0"/>
          </a:p>
        </p:txBody>
      </p:sp>
      <p:cxnSp>
        <p:nvCxnSpPr>
          <p:cNvPr id="24" name="直線矢印コネクタ 23">
            <a:extLst>
              <a:ext uri="{FF2B5EF4-FFF2-40B4-BE49-F238E27FC236}">
                <a16:creationId xmlns:a16="http://schemas.microsoft.com/office/drawing/2014/main" id="{BC207E64-C27F-6266-D801-B16BA8F3E568}"/>
              </a:ext>
            </a:extLst>
          </p:cNvPr>
          <p:cNvCxnSpPr>
            <a:stCxn id="17" idx="2"/>
            <a:endCxn id="20" idx="0"/>
          </p:cNvCxnSpPr>
          <p:nvPr/>
        </p:nvCxnSpPr>
        <p:spPr>
          <a:xfrm>
            <a:off x="3830917" y="3931920"/>
            <a:ext cx="2093767" cy="86242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6" name="直線矢印コネクタ 25">
            <a:extLst>
              <a:ext uri="{FF2B5EF4-FFF2-40B4-BE49-F238E27FC236}">
                <a16:creationId xmlns:a16="http://schemas.microsoft.com/office/drawing/2014/main" id="{BB2B9CBC-8ED1-7003-768D-6A63A7356A1C}"/>
              </a:ext>
            </a:extLst>
          </p:cNvPr>
          <p:cNvCxnSpPr>
            <a:stCxn id="18" idx="2"/>
            <a:endCxn id="20" idx="0"/>
          </p:cNvCxnSpPr>
          <p:nvPr/>
        </p:nvCxnSpPr>
        <p:spPr>
          <a:xfrm>
            <a:off x="5914299" y="3939109"/>
            <a:ext cx="10385" cy="85523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 name="直線矢印コネクタ 28">
            <a:extLst>
              <a:ext uri="{FF2B5EF4-FFF2-40B4-BE49-F238E27FC236}">
                <a16:creationId xmlns:a16="http://schemas.microsoft.com/office/drawing/2014/main" id="{047DDDD3-BDA5-F4B2-E396-92AC0DBF54DD}"/>
              </a:ext>
            </a:extLst>
          </p:cNvPr>
          <p:cNvCxnSpPr>
            <a:stCxn id="19" idx="2"/>
            <a:endCxn id="20" idx="0"/>
          </p:cNvCxnSpPr>
          <p:nvPr/>
        </p:nvCxnSpPr>
        <p:spPr>
          <a:xfrm flipH="1">
            <a:off x="5924684" y="3939109"/>
            <a:ext cx="1893436" cy="85523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240208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14B52F6-6661-68DD-7E5A-3621384886A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3C48D9-DFA5-F626-DBF6-05FF9BF8A9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DA860DB-6BE8-016C-74CF-EE7A29E4AB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8954EE7-A056-794B-94BE-938AF0453E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63B4133-0159-BBAD-1940-4F536D4DB8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660DBDA1-9D9D-4E5C-EA8C-67E4E253B5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8D12CE68-9D40-9902-D3EE-64761FE23526}"/>
              </a:ext>
            </a:extLst>
          </p:cNvPr>
          <p:cNvSpPr>
            <a:spLocks noGrp="1"/>
          </p:cNvSpPr>
          <p:nvPr>
            <p:ph type="title"/>
          </p:nvPr>
        </p:nvSpPr>
        <p:spPr>
          <a:xfrm>
            <a:off x="1371599" y="294538"/>
            <a:ext cx="9895951" cy="1033669"/>
          </a:xfrm>
        </p:spPr>
        <p:txBody>
          <a:bodyPr>
            <a:normAutofit/>
          </a:bodyPr>
          <a:lstStyle/>
          <a:p>
            <a:r>
              <a:rPr lang="ja-JP" altLang="en-US" sz="4000" dirty="0">
                <a:solidFill>
                  <a:srgbClr val="FFFFFF"/>
                </a:solidFill>
              </a:rPr>
              <a:t>現状</a:t>
            </a:r>
            <a:endParaRPr kumimoji="1" lang="ja-JP" altLang="en-US" sz="4000" dirty="0">
              <a:solidFill>
                <a:srgbClr val="FFFFFF"/>
              </a:solidFill>
            </a:endParaRPr>
          </a:p>
        </p:txBody>
      </p:sp>
      <p:sp>
        <p:nvSpPr>
          <p:cNvPr id="4" name="スライド番号プレースホルダー 3">
            <a:extLst>
              <a:ext uri="{FF2B5EF4-FFF2-40B4-BE49-F238E27FC236}">
                <a16:creationId xmlns:a16="http://schemas.microsoft.com/office/drawing/2014/main" id="{ABA4F893-98B6-FB57-18F4-70D21888136D}"/>
              </a:ext>
            </a:extLst>
          </p:cNvPr>
          <p:cNvSpPr>
            <a:spLocks noGrp="1"/>
          </p:cNvSpPr>
          <p:nvPr>
            <p:ph type="sldNum" sz="quarter" idx="12"/>
          </p:nvPr>
        </p:nvSpPr>
        <p:spPr/>
        <p:txBody>
          <a:bodyPr/>
          <a:lstStyle/>
          <a:p>
            <a:fld id="{1036D729-9A6E-4C44-81F1-10EBA65189A8}" type="slidenum">
              <a:rPr kumimoji="1" lang="ja-JP" altLang="en-US" smtClean="0"/>
              <a:t>19</a:t>
            </a:fld>
            <a:endParaRPr kumimoji="1" lang="ja-JP" altLang="en-US" dirty="0"/>
          </a:p>
        </p:txBody>
      </p:sp>
      <p:pic>
        <p:nvPicPr>
          <p:cNvPr id="9" name="図 8">
            <a:extLst>
              <a:ext uri="{FF2B5EF4-FFF2-40B4-BE49-F238E27FC236}">
                <a16:creationId xmlns:a16="http://schemas.microsoft.com/office/drawing/2014/main" id="{7C5C0042-D5AF-50DE-45A5-9246B1D04E2C}"/>
              </a:ext>
            </a:extLst>
          </p:cNvPr>
          <p:cNvPicPr>
            <a:picLocks noChangeAspect="1"/>
          </p:cNvPicPr>
          <p:nvPr/>
        </p:nvPicPr>
        <p:blipFill>
          <a:blip r:embed="rId3"/>
          <a:stretch>
            <a:fillRect/>
          </a:stretch>
        </p:blipFill>
        <p:spPr>
          <a:xfrm>
            <a:off x="1936377" y="3170376"/>
            <a:ext cx="8584994" cy="3368536"/>
          </a:xfrm>
          <a:prstGeom prst="rect">
            <a:avLst/>
          </a:prstGeom>
        </p:spPr>
      </p:pic>
      <p:sp>
        <p:nvSpPr>
          <p:cNvPr id="11" name="テキスト ボックス 10">
            <a:extLst>
              <a:ext uri="{FF2B5EF4-FFF2-40B4-BE49-F238E27FC236}">
                <a16:creationId xmlns:a16="http://schemas.microsoft.com/office/drawing/2014/main" id="{71E537F9-2FC8-C468-57B0-1D0750B4FF46}"/>
              </a:ext>
            </a:extLst>
          </p:cNvPr>
          <p:cNvSpPr txBox="1"/>
          <p:nvPr/>
        </p:nvSpPr>
        <p:spPr>
          <a:xfrm>
            <a:off x="813954" y="1984489"/>
            <a:ext cx="1122423" cy="584775"/>
          </a:xfrm>
          <a:prstGeom prst="rect">
            <a:avLst/>
          </a:prstGeom>
          <a:noFill/>
        </p:spPr>
        <p:txBody>
          <a:bodyPr wrap="none" rtlCol="0">
            <a:spAutoFit/>
          </a:bodyPr>
          <a:lstStyle/>
          <a:p>
            <a:r>
              <a:rPr kumimoji="1" lang="ja-JP" altLang="en-US" sz="3200" dirty="0"/>
              <a:t>結果</a:t>
            </a:r>
            <a:r>
              <a:rPr kumimoji="1" lang="en-US" altLang="ja-JP" sz="3200" dirty="0"/>
              <a:t>:</a:t>
            </a:r>
            <a:endParaRPr kumimoji="1" lang="ja-JP" altLang="en-US" sz="3200" dirty="0"/>
          </a:p>
        </p:txBody>
      </p:sp>
      <p:sp>
        <p:nvSpPr>
          <p:cNvPr id="15" name="テキスト ボックス 14">
            <a:extLst>
              <a:ext uri="{FF2B5EF4-FFF2-40B4-BE49-F238E27FC236}">
                <a16:creationId xmlns:a16="http://schemas.microsoft.com/office/drawing/2014/main" id="{166E0A44-459D-D84E-2845-A1A921C8C90D}"/>
              </a:ext>
            </a:extLst>
          </p:cNvPr>
          <p:cNvSpPr txBox="1"/>
          <p:nvPr/>
        </p:nvSpPr>
        <p:spPr>
          <a:xfrm>
            <a:off x="2222724" y="2021838"/>
            <a:ext cx="10308306" cy="1169551"/>
          </a:xfrm>
          <a:prstGeom prst="rect">
            <a:avLst/>
          </a:prstGeom>
          <a:noFill/>
        </p:spPr>
        <p:txBody>
          <a:bodyPr wrap="square" rtlCol="0">
            <a:spAutoFit/>
          </a:bodyPr>
          <a:lstStyle/>
          <a:p>
            <a:pPr marL="342900" indent="-342900">
              <a:buFont typeface="Arial" panose="020B0604020202020204" pitchFamily="34" charset="0"/>
              <a:buChar char="•"/>
            </a:pPr>
            <a:r>
              <a:rPr kumimoji="1" lang="en-US" altLang="ja-JP" sz="2800" dirty="0"/>
              <a:t>CG</a:t>
            </a:r>
            <a:r>
              <a:rPr kumimoji="1" lang="ja-JP" altLang="en-US" sz="2800" dirty="0"/>
              <a:t>画像に対して</a:t>
            </a:r>
            <a:r>
              <a:rPr kumimoji="1" lang="ja-JP" altLang="en-US" sz="2800" b="1" dirty="0"/>
              <a:t>平均誤差</a:t>
            </a:r>
            <a:r>
              <a:rPr kumimoji="1" lang="en-US" altLang="ja-JP" sz="2800" b="1" dirty="0"/>
              <a:t>0.09°</a:t>
            </a:r>
            <a:r>
              <a:rPr kumimoji="1" lang="ja-JP" altLang="en-US" sz="2800" dirty="0"/>
              <a:t>、</a:t>
            </a:r>
            <a:r>
              <a:rPr kumimoji="1" lang="ja-JP" altLang="en-US" sz="2800" b="1" dirty="0"/>
              <a:t>最大誤差</a:t>
            </a:r>
            <a:r>
              <a:rPr lang="en-US" altLang="ja-JP" sz="2800" b="1" dirty="0"/>
              <a:t>0.45°</a:t>
            </a:r>
          </a:p>
          <a:p>
            <a:pPr marL="342900" indent="-342900">
              <a:buFont typeface="Arial" panose="020B0604020202020204" pitchFamily="34" charset="0"/>
              <a:buChar char="•"/>
            </a:pPr>
            <a:r>
              <a:rPr lang="ja-JP" altLang="en-US" sz="2800" dirty="0"/>
              <a:t>実写画像に対して</a:t>
            </a:r>
            <a:r>
              <a:rPr lang="ja-JP" altLang="en-US" sz="2800" b="1" dirty="0"/>
              <a:t>誤差</a:t>
            </a:r>
            <a:r>
              <a:rPr lang="en-US" altLang="ja-JP" sz="2800" b="1" dirty="0"/>
              <a:t>5°</a:t>
            </a:r>
            <a:r>
              <a:rPr lang="ja-JP" altLang="en-US" sz="2800" dirty="0"/>
              <a:t>→先行研究の</a:t>
            </a:r>
            <a:r>
              <a:rPr lang="en-US" altLang="ja-JP" sz="2800" dirty="0"/>
              <a:t>2°</a:t>
            </a:r>
            <a:r>
              <a:rPr lang="ja-JP" altLang="en-US" sz="2800" dirty="0"/>
              <a:t>を下回る</a:t>
            </a:r>
            <a:endParaRPr kumimoji="1" lang="ja-JP" altLang="en-US" sz="1600" dirty="0"/>
          </a:p>
          <a:p>
            <a:endParaRPr kumimoji="1" lang="ja-JP" altLang="en-US" sz="1400" b="1" dirty="0"/>
          </a:p>
        </p:txBody>
      </p:sp>
    </p:spTree>
    <p:extLst>
      <p:ext uri="{BB962C8B-B14F-4D97-AF65-F5344CB8AC3E}">
        <p14:creationId xmlns:p14="http://schemas.microsoft.com/office/powerpoint/2010/main" val="23794133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328ACAD-79F0-55B1-3950-23FB743D80A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E4A7FF9-6B17-794D-C823-444ABB8A74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17692B2-C06B-436A-1D58-0D3BCC6E67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5283FBF-D22E-C4D6-C9BD-DA641850D2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4A24CA0-7C7A-5B91-1370-74C8782075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2EB496-A2B7-75E3-7339-2D3502FB3C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1AD53185-E725-6EFF-07EF-361751530E1E}"/>
              </a:ext>
            </a:extLst>
          </p:cNvPr>
          <p:cNvSpPr>
            <a:spLocks noGrp="1"/>
          </p:cNvSpPr>
          <p:nvPr>
            <p:ph type="title"/>
          </p:nvPr>
        </p:nvSpPr>
        <p:spPr>
          <a:xfrm>
            <a:off x="1371599" y="294538"/>
            <a:ext cx="9895951" cy="1033669"/>
          </a:xfrm>
        </p:spPr>
        <p:txBody>
          <a:bodyPr>
            <a:normAutofit/>
          </a:bodyPr>
          <a:lstStyle/>
          <a:p>
            <a:r>
              <a:rPr lang="ja-JP" altLang="en-US" sz="4000" dirty="0">
                <a:solidFill>
                  <a:srgbClr val="FFFFFF"/>
                </a:solidFill>
              </a:rPr>
              <a:t>現状</a:t>
            </a:r>
            <a:endParaRPr kumimoji="1" lang="ja-JP" altLang="en-US" sz="4000" dirty="0">
              <a:solidFill>
                <a:srgbClr val="FFFFFF"/>
              </a:solidFill>
            </a:endParaRPr>
          </a:p>
        </p:txBody>
      </p:sp>
      <p:sp>
        <p:nvSpPr>
          <p:cNvPr id="4" name="スライド番号プレースホルダー 3">
            <a:extLst>
              <a:ext uri="{FF2B5EF4-FFF2-40B4-BE49-F238E27FC236}">
                <a16:creationId xmlns:a16="http://schemas.microsoft.com/office/drawing/2014/main" id="{87B86A88-C4D8-D474-5DEE-9074BD653BD1}"/>
              </a:ext>
            </a:extLst>
          </p:cNvPr>
          <p:cNvSpPr>
            <a:spLocks noGrp="1"/>
          </p:cNvSpPr>
          <p:nvPr>
            <p:ph type="sldNum" sz="quarter" idx="12"/>
          </p:nvPr>
        </p:nvSpPr>
        <p:spPr/>
        <p:txBody>
          <a:bodyPr/>
          <a:lstStyle/>
          <a:p>
            <a:fld id="{1036D729-9A6E-4C44-81F1-10EBA65189A8}" type="slidenum">
              <a:rPr kumimoji="1" lang="ja-JP" altLang="en-US" smtClean="0"/>
              <a:t>20</a:t>
            </a:fld>
            <a:endParaRPr kumimoji="1" lang="ja-JP" altLang="en-US" dirty="0"/>
          </a:p>
        </p:txBody>
      </p:sp>
      <p:pic>
        <p:nvPicPr>
          <p:cNvPr id="5" name="図 4">
            <a:extLst>
              <a:ext uri="{FF2B5EF4-FFF2-40B4-BE49-F238E27FC236}">
                <a16:creationId xmlns:a16="http://schemas.microsoft.com/office/drawing/2014/main" id="{65A4C7E3-C713-2110-B919-CE4F4008B0E8}"/>
              </a:ext>
            </a:extLst>
          </p:cNvPr>
          <p:cNvPicPr>
            <a:picLocks noChangeAspect="1"/>
          </p:cNvPicPr>
          <p:nvPr/>
        </p:nvPicPr>
        <p:blipFill>
          <a:blip r:embed="rId3"/>
          <a:stretch>
            <a:fillRect/>
          </a:stretch>
        </p:blipFill>
        <p:spPr>
          <a:xfrm>
            <a:off x="3194291" y="2831464"/>
            <a:ext cx="4921008" cy="3664580"/>
          </a:xfrm>
          <a:prstGeom prst="rect">
            <a:avLst/>
          </a:prstGeom>
        </p:spPr>
      </p:pic>
      <p:sp>
        <p:nvSpPr>
          <p:cNvPr id="7" name="テキスト ボックス 6">
            <a:extLst>
              <a:ext uri="{FF2B5EF4-FFF2-40B4-BE49-F238E27FC236}">
                <a16:creationId xmlns:a16="http://schemas.microsoft.com/office/drawing/2014/main" id="{3BED6C96-611C-7422-8828-874C0001534F}"/>
              </a:ext>
            </a:extLst>
          </p:cNvPr>
          <p:cNvSpPr txBox="1"/>
          <p:nvPr/>
        </p:nvSpPr>
        <p:spPr>
          <a:xfrm>
            <a:off x="851052" y="1975871"/>
            <a:ext cx="6892411" cy="584775"/>
          </a:xfrm>
          <a:prstGeom prst="rect">
            <a:avLst/>
          </a:prstGeom>
          <a:noFill/>
        </p:spPr>
        <p:txBody>
          <a:bodyPr wrap="square" rtlCol="0">
            <a:spAutoFit/>
          </a:bodyPr>
          <a:lstStyle/>
          <a:p>
            <a:r>
              <a:rPr kumimoji="1" lang="ja-JP" altLang="en-US" sz="3200" dirty="0"/>
              <a:t>損失の</a:t>
            </a:r>
            <a:r>
              <a:rPr lang="ja-JP" altLang="en-US" sz="3200" dirty="0"/>
              <a:t>変化</a:t>
            </a:r>
            <a:r>
              <a:rPr lang="en-US" altLang="ja-JP" sz="3200" dirty="0"/>
              <a:t>(100</a:t>
            </a:r>
            <a:r>
              <a:rPr lang="ja-JP" altLang="en-US" sz="3200" dirty="0"/>
              <a:t>～</a:t>
            </a:r>
            <a:r>
              <a:rPr lang="en-US" altLang="ja-JP" sz="3200" dirty="0"/>
              <a:t>200</a:t>
            </a:r>
            <a:r>
              <a:rPr lang="ja-JP" altLang="en-US" sz="3200" dirty="0"/>
              <a:t>エポック</a:t>
            </a:r>
            <a:r>
              <a:rPr lang="en-US" altLang="ja-JP" sz="3200" dirty="0"/>
              <a:t>)</a:t>
            </a:r>
            <a:endParaRPr kumimoji="1" lang="ja-JP" altLang="en-US" sz="3200" dirty="0"/>
          </a:p>
        </p:txBody>
      </p:sp>
      <p:sp>
        <p:nvSpPr>
          <p:cNvPr id="9" name="テキスト ボックス 8">
            <a:extLst>
              <a:ext uri="{FF2B5EF4-FFF2-40B4-BE49-F238E27FC236}">
                <a16:creationId xmlns:a16="http://schemas.microsoft.com/office/drawing/2014/main" id="{7399E46A-14DF-AEE0-85F7-336D393C878D}"/>
              </a:ext>
            </a:extLst>
          </p:cNvPr>
          <p:cNvSpPr txBox="1"/>
          <p:nvPr/>
        </p:nvSpPr>
        <p:spPr>
          <a:xfrm>
            <a:off x="3581401" y="6125517"/>
            <a:ext cx="4749166" cy="461665"/>
          </a:xfrm>
          <a:prstGeom prst="rect">
            <a:avLst/>
          </a:prstGeom>
          <a:solidFill>
            <a:schemeClr val="bg1"/>
          </a:solidFill>
        </p:spPr>
        <p:txBody>
          <a:bodyPr wrap="square" rtlCol="0">
            <a:spAutoFit/>
          </a:bodyPr>
          <a:lstStyle/>
          <a:p>
            <a:pPr marL="228600" indent="-228600">
              <a:buAutoNum type="arabicPlain" startAt="100"/>
            </a:pPr>
            <a:r>
              <a:rPr kumimoji="1" lang="en-US" altLang="ja-JP" sz="1200" dirty="0"/>
              <a:t>              120              140             160              180           200</a:t>
            </a:r>
          </a:p>
          <a:p>
            <a:pPr lvl="3"/>
            <a:r>
              <a:rPr lang="en-US" altLang="ja-JP" sz="1200" dirty="0"/>
              <a:t>	    epoch</a:t>
            </a:r>
            <a:endParaRPr kumimoji="1" lang="ja-JP" altLang="en-US" sz="1200" dirty="0"/>
          </a:p>
        </p:txBody>
      </p:sp>
    </p:spTree>
    <p:extLst>
      <p:ext uri="{BB962C8B-B14F-4D97-AF65-F5344CB8AC3E}">
        <p14:creationId xmlns:p14="http://schemas.microsoft.com/office/powerpoint/2010/main" val="36428395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541BF05-5DE9-65A0-5C63-68BC9690497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0A6B1CD-4C83-1861-101A-7E4AB27CA7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9C60CD9-3CA0-03F2-4261-03B0B1AC6C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9ECE4EC-01BD-03EC-7D4B-81E6FFB468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657EF62D-0A81-AA72-DCE9-C430E0E738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923365F-3D22-12A8-5938-155E81B351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5F704759-04B7-4BA6-DF6F-252F105DDB0A}"/>
              </a:ext>
            </a:extLst>
          </p:cNvPr>
          <p:cNvSpPr>
            <a:spLocks noGrp="1"/>
          </p:cNvSpPr>
          <p:nvPr>
            <p:ph type="title"/>
          </p:nvPr>
        </p:nvSpPr>
        <p:spPr>
          <a:xfrm>
            <a:off x="1371599" y="294538"/>
            <a:ext cx="9895951" cy="1033669"/>
          </a:xfrm>
        </p:spPr>
        <p:txBody>
          <a:bodyPr>
            <a:normAutofit/>
          </a:bodyPr>
          <a:lstStyle/>
          <a:p>
            <a:r>
              <a:rPr lang="ja-JP" altLang="en-US" sz="4000" dirty="0">
                <a:solidFill>
                  <a:srgbClr val="FFFFFF"/>
                </a:solidFill>
              </a:rPr>
              <a:t>現状</a:t>
            </a:r>
            <a:endParaRPr kumimoji="1" lang="ja-JP" altLang="en-US" sz="4000" dirty="0">
              <a:solidFill>
                <a:srgbClr val="FFFFFF"/>
              </a:solidFill>
            </a:endParaRPr>
          </a:p>
        </p:txBody>
      </p:sp>
      <p:sp>
        <p:nvSpPr>
          <p:cNvPr id="4" name="スライド番号プレースホルダー 3">
            <a:extLst>
              <a:ext uri="{FF2B5EF4-FFF2-40B4-BE49-F238E27FC236}">
                <a16:creationId xmlns:a16="http://schemas.microsoft.com/office/drawing/2014/main" id="{7F15958F-CA6F-2B4E-9920-5D4DE93A2859}"/>
              </a:ext>
            </a:extLst>
          </p:cNvPr>
          <p:cNvSpPr>
            <a:spLocks noGrp="1"/>
          </p:cNvSpPr>
          <p:nvPr>
            <p:ph type="sldNum" sz="quarter" idx="12"/>
          </p:nvPr>
        </p:nvSpPr>
        <p:spPr/>
        <p:txBody>
          <a:bodyPr/>
          <a:lstStyle/>
          <a:p>
            <a:fld id="{1036D729-9A6E-4C44-81F1-10EBA65189A8}" type="slidenum">
              <a:rPr kumimoji="1" lang="ja-JP" altLang="en-US" smtClean="0"/>
              <a:t>21</a:t>
            </a:fld>
            <a:endParaRPr kumimoji="1" lang="ja-JP" altLang="en-US"/>
          </a:p>
        </p:txBody>
      </p:sp>
      <p:sp>
        <p:nvSpPr>
          <p:cNvPr id="9" name="コンテンツ プレースホルダー 8">
            <a:extLst>
              <a:ext uri="{FF2B5EF4-FFF2-40B4-BE49-F238E27FC236}">
                <a16:creationId xmlns:a16="http://schemas.microsoft.com/office/drawing/2014/main" id="{523AE280-E936-B972-AECF-035B2ACF1AD9}"/>
              </a:ext>
            </a:extLst>
          </p:cNvPr>
          <p:cNvSpPr>
            <a:spLocks noGrp="1"/>
          </p:cNvSpPr>
          <p:nvPr>
            <p:ph idx="1"/>
          </p:nvPr>
        </p:nvSpPr>
        <p:spPr>
          <a:xfrm>
            <a:off x="1730989" y="2467631"/>
            <a:ext cx="9177170" cy="3018519"/>
          </a:xfrm>
        </p:spPr>
        <p:txBody>
          <a:bodyPr>
            <a:normAutofit/>
          </a:bodyPr>
          <a:lstStyle/>
          <a:p>
            <a:pPr marL="0" indent="0">
              <a:buNone/>
            </a:pPr>
            <a:r>
              <a:rPr lang="ja-JP" altLang="en-US" sz="3200" dirty="0"/>
              <a:t>実写画像で精度が低かった原因</a:t>
            </a:r>
            <a:r>
              <a:rPr lang="en-US" altLang="ja-JP" sz="3200" dirty="0"/>
              <a:t>:</a:t>
            </a:r>
          </a:p>
          <a:p>
            <a:pPr marL="514350" indent="-514350">
              <a:buAutoNum type="arabicPeriod"/>
            </a:pPr>
            <a:r>
              <a:rPr lang="en-US" altLang="ja-JP" dirty="0"/>
              <a:t>CG</a:t>
            </a:r>
            <a:r>
              <a:rPr lang="ja-JP" altLang="en-US" dirty="0"/>
              <a:t>画像のバリエーションが少なく、過学習を起こした。</a:t>
            </a:r>
            <a:endParaRPr lang="en-US" altLang="ja-JP" dirty="0"/>
          </a:p>
          <a:p>
            <a:pPr marL="514350" indent="-514350">
              <a:buAutoNum type="arabicPeriod"/>
            </a:pPr>
            <a:r>
              <a:rPr lang="en-US" altLang="ja-JP" dirty="0"/>
              <a:t>3D</a:t>
            </a:r>
            <a:r>
              <a:rPr lang="ja-JP" altLang="en-US" dirty="0"/>
              <a:t>モデルが正確でなかった。</a:t>
            </a:r>
            <a:endParaRPr lang="en-US" altLang="ja-JP" dirty="0"/>
          </a:p>
          <a:p>
            <a:pPr marL="514350" indent="-514350">
              <a:buAutoNum type="arabicPeriod"/>
            </a:pPr>
            <a:r>
              <a:rPr lang="ja-JP" altLang="en-US" dirty="0"/>
              <a:t>実写画像と</a:t>
            </a:r>
            <a:r>
              <a:rPr lang="en-US" altLang="ja-JP" dirty="0"/>
              <a:t>CG</a:t>
            </a:r>
            <a:r>
              <a:rPr lang="ja-JP" altLang="en-US" dirty="0"/>
              <a:t>画像の質感の違いが精度に影響した。</a:t>
            </a:r>
          </a:p>
        </p:txBody>
      </p:sp>
    </p:spTree>
    <p:extLst>
      <p:ext uri="{BB962C8B-B14F-4D97-AF65-F5344CB8AC3E}">
        <p14:creationId xmlns:p14="http://schemas.microsoft.com/office/powerpoint/2010/main" val="32472828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C4EA826-BAB4-1935-E8C7-6BBE9D3067E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443C309-3DFE-CA13-D349-FD961E80B5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92EFDE-7506-3588-D519-7BACDEE68C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D616BFB-7B44-493A-9F1F-B70601A770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8266CD9-E539-BA8D-DEC6-577706FC4B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78382B1-7A15-16F9-DCF3-7666BF80A7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0081E6A1-F246-AEF9-B122-523CBED083D0}"/>
              </a:ext>
            </a:extLst>
          </p:cNvPr>
          <p:cNvSpPr>
            <a:spLocks noGrp="1"/>
          </p:cNvSpPr>
          <p:nvPr>
            <p:ph type="title"/>
          </p:nvPr>
        </p:nvSpPr>
        <p:spPr>
          <a:xfrm>
            <a:off x="1371599" y="294538"/>
            <a:ext cx="9895951" cy="1033669"/>
          </a:xfrm>
        </p:spPr>
        <p:txBody>
          <a:bodyPr>
            <a:normAutofit/>
          </a:bodyPr>
          <a:lstStyle/>
          <a:p>
            <a:r>
              <a:rPr kumimoji="1" lang="ja-JP" altLang="en-US" sz="4000" dirty="0">
                <a:solidFill>
                  <a:srgbClr val="FFFFFF"/>
                </a:solidFill>
              </a:rPr>
              <a:t>今後の方針</a:t>
            </a:r>
          </a:p>
        </p:txBody>
      </p:sp>
      <p:sp>
        <p:nvSpPr>
          <p:cNvPr id="3" name="コンテンツ プレースホルダー 2">
            <a:extLst>
              <a:ext uri="{FF2B5EF4-FFF2-40B4-BE49-F238E27FC236}">
                <a16:creationId xmlns:a16="http://schemas.microsoft.com/office/drawing/2014/main" id="{6ED4E5D6-FFC9-344A-EE2F-C75D2B5D5FC3}"/>
              </a:ext>
            </a:extLst>
          </p:cNvPr>
          <p:cNvSpPr>
            <a:spLocks noGrp="1"/>
          </p:cNvSpPr>
          <p:nvPr>
            <p:ph idx="1"/>
          </p:nvPr>
        </p:nvSpPr>
        <p:spPr>
          <a:xfrm>
            <a:off x="1371599" y="2318197"/>
            <a:ext cx="9724031" cy="3683358"/>
          </a:xfrm>
        </p:spPr>
        <p:txBody>
          <a:bodyPr anchor="ctr">
            <a:normAutofit/>
          </a:bodyPr>
          <a:lstStyle/>
          <a:p>
            <a:pPr marL="0" indent="0">
              <a:buNone/>
            </a:pPr>
            <a:r>
              <a:rPr kumimoji="1" lang="ja-JP" altLang="en-US" sz="3200" dirty="0"/>
              <a:t>実写</a:t>
            </a:r>
            <a:r>
              <a:rPr lang="ja-JP" altLang="en-US" sz="3200" dirty="0"/>
              <a:t>画像</a:t>
            </a:r>
            <a:r>
              <a:rPr kumimoji="1" lang="ja-JP" altLang="en-US" sz="3200" dirty="0"/>
              <a:t>に対する誤差が小さくなるようにする。</a:t>
            </a:r>
            <a:endParaRPr kumimoji="1" lang="en-US" altLang="ja-JP" sz="3200" dirty="0"/>
          </a:p>
          <a:p>
            <a:pPr lvl="1"/>
            <a:r>
              <a:rPr kumimoji="1" lang="ja-JP" altLang="en-US" dirty="0"/>
              <a:t>撮影環境をランダムに変化させることで学習画像にバリエーションを持たせ、過学習を抑制する。</a:t>
            </a:r>
            <a:endParaRPr kumimoji="1" lang="en-US" altLang="ja-JP" dirty="0"/>
          </a:p>
          <a:p>
            <a:pPr lvl="1"/>
            <a:r>
              <a:rPr lang="ja-JP" altLang="en-US" dirty="0"/>
              <a:t>撮影</a:t>
            </a:r>
            <a:r>
              <a:rPr kumimoji="1" lang="ja-JP" altLang="en-US" dirty="0"/>
              <a:t>する角度の範囲を狭めて、</a:t>
            </a:r>
            <a:r>
              <a:rPr kumimoji="1" lang="en-US" altLang="ja-JP" dirty="0"/>
              <a:t>1</a:t>
            </a:r>
            <a:r>
              <a:rPr kumimoji="1" lang="ja-JP" altLang="en-US" dirty="0"/>
              <a:t>つの角度に対するデータ数を増やして、精度が向上するかを検証する。</a:t>
            </a:r>
            <a:endParaRPr kumimoji="1" lang="en-US" altLang="ja-JP" dirty="0"/>
          </a:p>
          <a:p>
            <a:pPr lvl="1"/>
            <a:r>
              <a:rPr kumimoji="1" lang="ja-JP" altLang="en-US" dirty="0"/>
              <a:t>実写画像で追加学習をする。</a:t>
            </a:r>
            <a:endParaRPr kumimoji="1" lang="en-US" altLang="ja-JP" dirty="0"/>
          </a:p>
          <a:p>
            <a:pPr lvl="1"/>
            <a:r>
              <a:rPr lang="en-US" altLang="ja-JP" dirty="0"/>
              <a:t>CG</a:t>
            </a:r>
            <a:r>
              <a:rPr lang="ja-JP" altLang="en-US" dirty="0"/>
              <a:t>を使った学習に関する先行研究を試す</a:t>
            </a:r>
            <a:endParaRPr kumimoji="1" lang="ja-JP" altLang="en-US" dirty="0"/>
          </a:p>
        </p:txBody>
      </p:sp>
      <p:sp>
        <p:nvSpPr>
          <p:cNvPr id="4" name="スライド番号プレースホルダー 3">
            <a:extLst>
              <a:ext uri="{FF2B5EF4-FFF2-40B4-BE49-F238E27FC236}">
                <a16:creationId xmlns:a16="http://schemas.microsoft.com/office/drawing/2014/main" id="{5D12D5DD-8770-BB7E-48E9-F114731CEC48}"/>
              </a:ext>
            </a:extLst>
          </p:cNvPr>
          <p:cNvSpPr>
            <a:spLocks noGrp="1"/>
          </p:cNvSpPr>
          <p:nvPr>
            <p:ph type="sldNum" sz="quarter" idx="12"/>
          </p:nvPr>
        </p:nvSpPr>
        <p:spPr/>
        <p:txBody>
          <a:bodyPr/>
          <a:lstStyle/>
          <a:p>
            <a:fld id="{1036D729-9A6E-4C44-81F1-10EBA65189A8}" type="slidenum">
              <a:rPr kumimoji="1" lang="ja-JP" altLang="en-US" smtClean="0"/>
              <a:t>22</a:t>
            </a:fld>
            <a:endParaRPr kumimoji="1" lang="ja-JP" altLang="en-US"/>
          </a:p>
        </p:txBody>
      </p:sp>
    </p:spTree>
    <p:extLst>
      <p:ext uri="{BB962C8B-B14F-4D97-AF65-F5344CB8AC3E}">
        <p14:creationId xmlns:p14="http://schemas.microsoft.com/office/powerpoint/2010/main" val="31864125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CA70DB6-1913-C4BF-873D-9C76F0EF89A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A86753A-42C4-1708-0084-68B38C1BF7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86B93DE-6A7D-E745-EAFE-DD1ADD3158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9251E5A-864B-525B-066D-E7E416AD34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72C29D6-DCBA-9E4A-54BC-7D47FBBF52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F74C5145-BEF2-DF66-134A-E496A608BE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スライド番号プレースホルダー 3">
            <a:extLst>
              <a:ext uri="{FF2B5EF4-FFF2-40B4-BE49-F238E27FC236}">
                <a16:creationId xmlns:a16="http://schemas.microsoft.com/office/drawing/2014/main" id="{0A724644-316E-A982-2923-2BD8134B52F0}"/>
              </a:ext>
            </a:extLst>
          </p:cNvPr>
          <p:cNvSpPr>
            <a:spLocks noGrp="1"/>
          </p:cNvSpPr>
          <p:nvPr>
            <p:ph type="sldNum" sz="quarter" idx="12"/>
          </p:nvPr>
        </p:nvSpPr>
        <p:spPr/>
        <p:txBody>
          <a:bodyPr/>
          <a:lstStyle/>
          <a:p>
            <a:fld id="{1036D729-9A6E-4C44-81F1-10EBA65189A8}" type="slidenum">
              <a:rPr kumimoji="1" lang="ja-JP" altLang="en-US" smtClean="0"/>
              <a:t>23</a:t>
            </a:fld>
            <a:endParaRPr kumimoji="1" lang="ja-JP" altLang="en-US"/>
          </a:p>
        </p:txBody>
      </p:sp>
      <p:sp>
        <p:nvSpPr>
          <p:cNvPr id="9" name="コンテンツ プレースホルダー 8">
            <a:extLst>
              <a:ext uri="{FF2B5EF4-FFF2-40B4-BE49-F238E27FC236}">
                <a16:creationId xmlns:a16="http://schemas.microsoft.com/office/drawing/2014/main" id="{2FF27D36-8624-5479-94E9-43DB19929915}"/>
              </a:ext>
            </a:extLst>
          </p:cNvPr>
          <p:cNvSpPr>
            <a:spLocks noGrp="1"/>
          </p:cNvSpPr>
          <p:nvPr>
            <p:ph idx="1"/>
          </p:nvPr>
        </p:nvSpPr>
        <p:spPr>
          <a:xfrm>
            <a:off x="3076460" y="3815789"/>
            <a:ext cx="6039075" cy="605604"/>
          </a:xfrm>
        </p:spPr>
        <p:txBody>
          <a:bodyPr>
            <a:normAutofit/>
          </a:bodyPr>
          <a:lstStyle/>
          <a:p>
            <a:pPr marL="0" indent="0">
              <a:buNone/>
            </a:pPr>
            <a:r>
              <a:rPr lang="ja-JP" altLang="en-US" sz="3200" dirty="0"/>
              <a:t>ご清聴ありがとうございました。</a:t>
            </a:r>
          </a:p>
        </p:txBody>
      </p:sp>
    </p:spTree>
    <p:extLst>
      <p:ext uri="{BB962C8B-B14F-4D97-AF65-F5344CB8AC3E}">
        <p14:creationId xmlns:p14="http://schemas.microsoft.com/office/powerpoint/2010/main" val="762707311"/>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TM04033927[[fn=メイン イベント]]</Template>
  <TotalTime>725</TotalTime>
  <Words>2098</Words>
  <Application>Microsoft Office PowerPoint</Application>
  <PresentationFormat>ワイド画面</PresentationFormat>
  <Paragraphs>170</Paragraphs>
  <Slides>23</Slides>
  <Notes>23</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23</vt:i4>
      </vt:variant>
    </vt:vector>
  </HeadingPairs>
  <TitlesOfParts>
    <vt:vector size="27" baseType="lpstr">
      <vt:lpstr>游ゴシック</vt:lpstr>
      <vt:lpstr>游ゴシック Light</vt:lpstr>
      <vt:lpstr>Arial</vt:lpstr>
      <vt:lpstr>Office テーマ</vt:lpstr>
      <vt:lpstr>CG画像を用いた深層学習によるチップ角度の検出</vt:lpstr>
      <vt:lpstr>背景</vt:lpstr>
      <vt:lpstr>背景</vt:lpstr>
      <vt:lpstr>背景</vt:lpstr>
      <vt:lpstr>背景</vt:lpstr>
      <vt:lpstr>背景</vt:lpstr>
      <vt:lpstr>背景</vt:lpstr>
      <vt:lpstr>背景</vt:lpstr>
      <vt:lpstr>背景</vt:lpstr>
      <vt:lpstr>背景</vt:lpstr>
      <vt:lpstr>背景</vt:lpstr>
      <vt:lpstr>研究の目的</vt:lpstr>
      <vt:lpstr>研究の概要</vt:lpstr>
      <vt:lpstr>研究の概要</vt:lpstr>
      <vt:lpstr>研究の概要</vt:lpstr>
      <vt:lpstr>研究の概要</vt:lpstr>
      <vt:lpstr>現状</vt:lpstr>
      <vt:lpstr>現状</vt:lpstr>
      <vt:lpstr>現状</vt:lpstr>
      <vt:lpstr>現状</vt:lpstr>
      <vt:lpstr>現状</vt:lpstr>
      <vt:lpstr>今後の方針</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5I22 二宮 悠樹【鈴鹿】</dc:creator>
  <cp:lastModifiedBy>5I22 二宮 悠樹【鈴鹿】</cp:lastModifiedBy>
  <cp:revision>14</cp:revision>
  <dcterms:created xsi:type="dcterms:W3CDTF">2024-10-20T06:27:54Z</dcterms:created>
  <dcterms:modified xsi:type="dcterms:W3CDTF">2024-10-29T09:20:22Z</dcterms:modified>
</cp:coreProperties>
</file>